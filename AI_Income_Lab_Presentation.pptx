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2700" cy="68580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61520" cy="127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61520" cy="127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61520" cy="127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61520" cy="127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61520" cy="127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61520" cy="127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61520" cy="127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61520" cy="12700"/>
          </a:xfrm>
          <a:prstGeom prst="rect">
            <a:avLst/>
          </a:prstGeom>
          <a:solidFill>
            <a:srgbClr val="2A2A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ourier New"/>
              </a:rP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48640"/>
            <a:ext cx="4572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Courier New"/>
              </a:rPr>
              <a:t>INCOME LAB / personal notebook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71600"/>
            <a:ext cx="6400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// Field manual   ·   Edition 01 — May 2026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1874519"/>
            <a:ext cx="2743200" cy="330200"/>
          </a:xfrm>
          <a:prstGeom prst="ellipse">
            <a:avLst/>
          </a:prstGeom>
          <a:solidFill>
            <a:srgbClr val="142800">
              <a:alpha val="90000"/>
            </a:srgbClr>
          </a:solidFill>
          <a:ln w="12700">
            <a:solidFill>
              <a:srgbClr val="C4F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892807"/>
            <a:ext cx="2560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FF3D"/>
                </a:solidFill>
                <a:latin typeface="Courier New"/>
              </a:rPr>
              <a:t>● Live transmission — AI economy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4688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200">
                <a:solidFill>
                  <a:srgbClr val="F5F5F0"/>
                </a:solidFill>
                <a:latin typeface="Georgia"/>
              </a:rPr>
              <a:t>Making money online,
powered by </a:t>
            </a:r>
            <a:r>
              <a:rPr sz="6200" i="1">
                <a:solidFill>
                  <a:srgbClr val="C4FF3D"/>
                </a:solidFill>
                <a:latin typeface="Georgia"/>
              </a:rPr>
              <a:t>artificial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49240"/>
            <a:ext cx="82296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A89E"/>
                </a:solidFill>
                <a:latin typeface="Inter Tight"/>
              </a:rPr>
              <a:t>A working notebook of the methods, platforms, and tools that actually generate income in 2026 — researched, tested, and documented for personal study. No hype. Just leverage.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560320"/>
            <a:ext cx="219456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2697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// operator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0"/>
                </a:solidFill>
                <a:latin typeface="Georgia"/>
              </a:rPr>
              <a:t>Personal
study 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8288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4FF3D"/>
                </a:solidFill>
                <a:latin typeface="Courier New"/>
              </a:rPr>
              <a:t>01 /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6280"/>
            <a:ext cx="182880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74320"/>
            <a:ext cx="8686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F5F5F0"/>
                </a:solidFill>
                <a:latin typeface="Georgia"/>
              </a:rPr>
              <a:t>The opportunity, </a:t>
            </a:r>
            <a:r>
              <a:rPr sz="4000" i="1">
                <a:solidFill>
                  <a:srgbClr val="A8A89E"/>
                </a:solidFill>
                <a:latin typeface="Georgia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A89E"/>
                </a:solidFill>
                <a:latin typeface="Inter Tight"/>
              </a:rPr>
              <a:t>Why now matters. The gap between tools and the people who know how to wield them is the largest it has ever been — and businesses are paying to close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2743200" cy="2011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41300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$ —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641600"/>
            <a:ext cx="241401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>
                <a:solidFill>
                  <a:srgbClr val="C4FF3D"/>
                </a:solidFill>
                <a:latin typeface="Georgia"/>
              </a:rPr>
              <a:t>674</a:t>
            </a:r>
            <a:r>
              <a:rPr sz="2800">
                <a:solidFill>
                  <a:srgbClr val="A8A89E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703320"/>
            <a:ext cx="2414016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89E"/>
                </a:solidFill>
                <a:latin typeface="Courier New"/>
              </a:rPr>
              <a:t>Size of the global gig economy in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2286000"/>
            <a:ext cx="2743200" cy="2011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41300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% — companies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41600"/>
            <a:ext cx="241401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>
                <a:solidFill>
                  <a:srgbClr val="C4FF3D"/>
                </a:solidFill>
                <a:latin typeface="Georgia"/>
              </a:rPr>
              <a:t>70</a:t>
            </a:r>
            <a:r>
              <a:rPr sz="2800">
                <a:solidFill>
                  <a:srgbClr val="A8A89E"/>
                </a:solidFill>
                <a:latin typeface="Georgia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03320"/>
            <a:ext cx="2414016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89E"/>
                </a:solidFill>
                <a:latin typeface="Courier New"/>
              </a:rPr>
              <a:t>Of firms increasing AI spending this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2286000"/>
            <a:ext cx="2743200" cy="2011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41300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$ — projection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641600"/>
            <a:ext cx="241401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>
                <a:solidFill>
                  <a:srgbClr val="C4FF3D"/>
                </a:solidFill>
                <a:latin typeface="Georgia"/>
              </a:rPr>
              <a:t>15.7</a:t>
            </a:r>
            <a:r>
              <a:rPr sz="2800">
                <a:solidFill>
                  <a:srgbClr val="A8A89E"/>
                </a:solidFill>
                <a:latin typeface="Georgia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3703320"/>
            <a:ext cx="2414016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89E"/>
                </a:solidFill>
                <a:latin typeface="Courier New"/>
              </a:rPr>
              <a:t>AI's projected contribution to GDP by 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24544" y="2286000"/>
            <a:ext cx="2743200" cy="2011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241300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% —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641600"/>
            <a:ext cx="241401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>
                <a:solidFill>
                  <a:srgbClr val="C4FF3D"/>
                </a:solidFill>
                <a:latin typeface="Georgia"/>
              </a:rPr>
              <a:t>300</a:t>
            </a:r>
            <a:r>
              <a:rPr sz="2800">
                <a:solidFill>
                  <a:srgbClr val="A8A89E"/>
                </a:solidFill>
                <a:latin typeface="Georgia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703320"/>
            <a:ext cx="2414016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89E"/>
                </a:solidFill>
                <a:latin typeface="Courier New"/>
              </a:rPr>
              <a:t>Increase in AI job listings since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1247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2"/>
                </a:solidFill>
                <a:latin typeface="Courier New"/>
              </a:rPr>
              <a:t>AI consulting rates: $100–$300 / hr   ·   Prompt engineering: $50–$150 / hr   ·   Most digital products on Gumroad take days, not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01168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4FF3D"/>
                </a:solidFill>
                <a:latin typeface="Courier New"/>
              </a:rPr>
              <a:t>02 /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79120"/>
            <a:ext cx="201168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37160"/>
            <a:ext cx="8961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5F5F0"/>
                </a:solidFill>
                <a:latin typeface="Georgia"/>
              </a:rPr>
              <a:t>Ten ways to earn, </a:t>
            </a:r>
            <a:r>
              <a:rPr sz="3600" i="1">
                <a:solidFill>
                  <a:srgbClr val="A8A89E"/>
                </a:solidFill>
                <a:latin typeface="Georgia"/>
              </a:rPr>
              <a:t>ranked by leverage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188720"/>
            <a:ext cx="896112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8A89E"/>
                </a:solidFill>
                <a:latin typeface="Inter Tight"/>
              </a:rPr>
              <a:t>Every method pairs a real human skill with an AI tool that multiplies output. The goal isn't to be a "prompt engineer" — it's to deliver outcomes businesses already pay for, faster.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6408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001 — content &amp; 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268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AI-powered content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0228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Ghost-writing blogs, newsletters, and landing copy for businesses. AI handles research and first drafts. You handle voice, strategy, and quality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84962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Beginner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36192" y="384048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84962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$40–$100 / 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3308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8795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ChatGPT · Surfer SEO · Grammarly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2344" y="201168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216408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002 — visual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239268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AI art &amp; print-on-demand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300228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Generate distinctive visuals with Midjourney, then sell them as prints, T-shirts, or downloadable art on Etsy, Redbubble, and Printify. Pick a narrow niche.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35224" y="384048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53512" y="384962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Beginner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22776" y="384048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41064" y="384962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$500–$3K / 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35224" y="413308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5224" y="418795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Midjourney · DALL·E · Printify · Etsy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8928" y="201168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21808" y="216408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003 — digital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239268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Templates, prompt packs &amp; eBooks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300228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Build once, sell forever. Notion templates, prompt libraries, spreadsheet trackers, resume kits. The clearest path to genuinely semi-passive income.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21808" y="384048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0096" y="384962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Beginner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84048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84962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Semi-passive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21808" y="413308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21808" y="418795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Notion · Gumroad · Canva · Etsy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25512" y="201168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08392" y="216408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004 — video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239268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Faceless YouTube channels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08392" y="300228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Scripted with AI, narrated with ElevenLabs, edited with Pictory or Descript. Best for educational, list-style, or storytelling content. Long ramp, compounds powerfully.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08392" y="384048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26680" y="384962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Intermediate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5944" y="384048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14232" y="384962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$150–$2K / mo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08392" y="413308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08392" y="418795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ChatGPT · ElevenLabs · Pictory · CapCut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12096" y="201168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94976" y="216408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005 — voice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94976" y="239268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Voiceover &amp; localization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94976" y="300228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Sell narration, dubbing, and translation for short-form video, audiobooks, and ads. High-margin work that AI completes in minutes.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94976" y="384048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13264" y="384962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Intermediate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082528" y="384048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00816" y="384962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$50–$500 / project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94976" y="413308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94976" y="418795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ElevenLabs · Murf · Descript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01168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4FF3D"/>
                </a:solidFill>
                <a:latin typeface="Courier New"/>
              </a:rPr>
              <a:t>02 / Methods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79120"/>
            <a:ext cx="201168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274320"/>
            <a:ext cx="89611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5F5F0"/>
                </a:solidFill>
                <a:latin typeface="Georgia"/>
              </a:rPr>
              <a:t>Advanced &amp; high-leverage income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540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006 —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2400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Affiliate marketing with AI SEO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3360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Build niche review sites or YouTube channels. Use AI to research keywords, draft content, and generate B-roll. Best after you have your own audience or media asset.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98094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Intermediate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36192" y="297180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98094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20–50% commission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6440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1927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Surfer SEO · Ahrefs · ChatGPT · WordPress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52344" y="114300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5224" y="129540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007 —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152400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Online courses &amp; cohorts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213360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Teach one skill exceptionally well. AI compresses curriculum design, slide creation, and marketing copy. The highest-margin product in this entire list.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35224" y="297180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3512" y="298094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Intermediate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2776" y="297180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41064" y="298094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$1K–$10K / course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35224" y="326440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35224" y="331927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Thinkific · Coursebox · Loom · Notion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38928" y="114300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1808" y="129540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008 —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152400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Custom GPTs &amp;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213360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Build narrow-purpose AI agents for small businesses — customer support bots, lead qualifiers, internal knowledge bases. Sell to a single industry to compound expertise.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21808" y="297180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0096" y="298094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Advanced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7180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98094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$75–$200 / hr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21808" y="326440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21808" y="331927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OpenAI Assistants · Voiceflow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114300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129540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009 —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8392" y="152400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Business workflow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213360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Wire AI into operations. Email triage, meeting notes, lead routing, content pipelines. Service businesses pay 4-figure retainers for systems that save them hours weekly.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08392" y="297180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298094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Advanced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95944" y="297180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14232" y="298094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$75–$200 / hr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08392" y="326440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08392" y="331927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Make · n8n · Zapier · Airtable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12096" y="1143000"/>
            <a:ext cx="2322576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4976" y="129540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010 — consulting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94976" y="1524000"/>
            <a:ext cx="1956816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AI consulting &amp; training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94976" y="2133600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Help organizations identify where AI creates real ROI. Run workshops. Audit their workflows. The highest hourly rate in the entire field — built on trust and credibility.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94976" y="2971800"/>
            <a:ext cx="914400" cy="254000"/>
          </a:xfrm>
          <a:prstGeom prst="rect">
            <a:avLst/>
          </a:prstGeom>
          <a:solidFill>
            <a:srgbClr val="1E2800"/>
          </a:solidFill>
          <a:ln w="12700">
            <a:solidFill>
              <a:srgbClr val="5A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13264" y="2980943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FF3D"/>
                </a:solidFill>
                <a:latin typeface="Courier New"/>
              </a:rPr>
              <a:t>Advanced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82528" y="2971800"/>
            <a:ext cx="1280160" cy="25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00816" y="2980943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89E"/>
                </a:solidFill>
                <a:latin typeface="Courier New"/>
              </a:rPr>
              <a:t>$100–$300 / hr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94976" y="3264408"/>
            <a:ext cx="1956816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94976" y="331927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Stack — Your expertise + Loom + slides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3840480"/>
            <a:ext cx="112471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A89E"/>
                </a:solidFill>
                <a:latin typeface="Inter Tight"/>
              </a:rPr>
              <a:t>Start at 001 or 002. Run that single method for 60 days before evaluating. Switching early is the #1 mistake.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4FF3D"/>
                </a:solidFill>
                <a:latin typeface="Courier New"/>
              </a:rPr>
              <a:t>03 / Toolkit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79120"/>
            <a:ext cx="182880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3716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5F5F0"/>
                </a:solidFill>
                <a:latin typeface="Georgia"/>
              </a:rPr>
              <a:t>The working stack, </a:t>
            </a:r>
            <a:r>
              <a:rPr sz="3600" i="1">
                <a:solidFill>
                  <a:srgbClr val="A8A89E"/>
                </a:solidFill>
                <a:latin typeface="Georgia"/>
              </a:rPr>
              <a:t>nothing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005840"/>
            <a:ext cx="89611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A89E"/>
                </a:solidFill>
                <a:latin typeface="Inter Tight"/>
              </a:rPr>
              <a:t>Most operators run on fewer than five tools. Mastery over a small set beats shallow familiarity with twenty. Start with the first four.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91516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Language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4376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2636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Daily driver for writing, research, and ideation.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73736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91516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Language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4376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2636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Long documents, multimodal input, analysis.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73736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91516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Image 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14376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Midjourney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62636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High-end visuals, brand imagery, product 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24544" y="173736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91516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Image 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14376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DALL·E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62636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Quick illustrations, mockups, social content.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3464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01244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24104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ElevenLabs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72364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Realistic narration in any language.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18688" y="283464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01244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24104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Pictory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2364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Turn articles into short-form video, fast.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71616" y="283464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301244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24104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Canva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72364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Templates, social posts, simple branding.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24544" y="283464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301244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Workspace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324104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Notion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372364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Your second brain — research, drafts, planning.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3192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10972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Automation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433832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Make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482092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Visual workflows linking AI into your apps.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18688" y="393192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410972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Storefront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33832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Gumroad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82092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Sell digital products in under an hour.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71616" y="393192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410972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Marketplace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433832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Etsy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482092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Templates, printables, and AI art with traffic.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24544" y="3931920"/>
            <a:ext cx="2743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9136" y="410972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Freelance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89136" y="4338320"/>
            <a:ext cx="2414016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Upwork &amp; Fiverr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89136" y="4820920"/>
            <a:ext cx="2414016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89E"/>
                </a:solidFill>
                <a:latin typeface="Inter Tight"/>
              </a:rPr>
              <a:t>First five clients without an audience.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01168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4FF3D"/>
                </a:solidFill>
                <a:latin typeface="Courier New"/>
              </a:rPr>
              <a:t>04 /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79120"/>
            <a:ext cx="201168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3716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5F5F0"/>
                </a:solidFill>
                <a:latin typeface="Georgia"/>
              </a:rPr>
              <a:t>A 60-day field plan, </a:t>
            </a:r>
            <a:r>
              <a:rPr sz="3200" i="1">
                <a:solidFill>
                  <a:srgbClr val="A8A89E"/>
                </a:solidFill>
                <a:latin typeface="Georgia"/>
              </a:rPr>
              <a:t>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8A89E"/>
                </a:solidFill>
                <a:latin typeface="Inter Tight"/>
              </a:rPr>
              <a:t>Pick ONE method and run this protocol for two months before evaluating. Switching methods early is the single biggest mistake new operators make.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>
                <a:solidFill>
                  <a:srgbClr val="C4FF3D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877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46072"/>
            <a:ext cx="6400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0"/>
                </a:solidFill>
                <a:latin typeface="Georgia"/>
              </a:rPr>
              <a:t>Pick a single lane and 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30272"/>
            <a:ext cx="64008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Inter Tight"/>
              </a:rPr>
              <a:t>Match your existing skill with one method. Writing? → 001 or 007. Visual? → 002 or 003. Tech? → 008 or 009.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41472"/>
            <a:ext cx="62179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List your top 3 skills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Cross-reference with the 10 methods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Pick one. Close the other tabs.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61184"/>
            <a:ext cx="114300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86584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>
                <a:solidFill>
                  <a:srgbClr val="C4FF3D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5526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513584"/>
            <a:ext cx="6400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0"/>
                </a:solidFill>
                <a:latin typeface="Georgia"/>
              </a:rPr>
              <a:t>Master two tools, deeply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097784"/>
            <a:ext cx="64008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Inter Tight"/>
              </a:rPr>
              <a:t>Deep fluency with two tools beats shallow knowledge of ten. Thirty minutes a day for 14 days. Build a personal prompt library.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08984"/>
            <a:ext cx="62179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Pick your primary LLM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Pick one secondary tool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Save every prompt that produced a good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28696"/>
            <a:ext cx="114300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54096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>
                <a:solidFill>
                  <a:srgbClr val="C4FF3D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2277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2–3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181096"/>
            <a:ext cx="6400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0"/>
                </a:solidFill>
                <a:latin typeface="Georgia"/>
              </a:rPr>
              <a:t>Ship a small first deliverable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765296"/>
            <a:ext cx="64008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Inter Tight"/>
              </a:rPr>
              <a:t>A prompt pack. A Notion template. Five sample articles. Proof to yourself and the market that you can deliver.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6496"/>
            <a:ext cx="62179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Define the smallest possible deliverable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Build it in under a week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Publish it somewhere public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96208"/>
            <a:ext cx="114300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721608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>
                <a:solidFill>
                  <a:srgbClr val="C4FF3D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5902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3–4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848608"/>
            <a:ext cx="6400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0"/>
                </a:solidFill>
                <a:latin typeface="Georgia"/>
              </a:rPr>
              <a:t>First three clients at a low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432808"/>
            <a:ext cx="64008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Inter Tight"/>
              </a:rPr>
              <a:t>Trade price for testimonials. Three real clients with written feedback unlocks your real pricing tier. Don't skip this.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144008"/>
            <a:ext cx="62179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Set up Upwork / Fiverr / LinkedIn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Send 10 personalized pitches per day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Collect a testimonial after every job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63720"/>
            <a:ext cx="114300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38912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>
                <a:solidFill>
                  <a:srgbClr val="C4FF3D"/>
                </a:solidFill>
                <a:latin typeface="Georg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257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5–6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516120"/>
            <a:ext cx="6400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0"/>
                </a:solidFill>
                <a:latin typeface="Georgia"/>
              </a:rPr>
              <a:t>Daily outreach + daily content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100320"/>
            <a:ext cx="64008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Inter Tight"/>
              </a:rPr>
              <a:t>Inbound deal flow comes from being visible. One platform, one post format, daily. Same for outreach — ten conversations a day.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811520"/>
            <a:ext cx="62179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Pick one platform: LinkedIn or X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One post per day, same format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Ten outbound conversations daily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31232"/>
            <a:ext cx="114300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056632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>
                <a:solidFill>
                  <a:srgbClr val="C4FF3D"/>
                </a:solidFill>
                <a:latin typeface="Georgia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925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6–7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5183632"/>
            <a:ext cx="6400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0"/>
                </a:solidFill>
                <a:latin typeface="Georgia"/>
              </a:rPr>
              <a:t>Sell outcomes, not hours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767832"/>
            <a:ext cx="64008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Inter Tight"/>
              </a:rPr>
              <a:t>"A blog that brings 10 qualified leads a month" is worth more than "a 1,000-word article." Reframe every offer around the business result.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6479032"/>
            <a:ext cx="62179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Rewrite your offer as an outcome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Productize at three price points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Test the new framing on five prospects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698744"/>
            <a:ext cx="114300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724144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>
                <a:solidFill>
                  <a:srgbClr val="C4FF3D"/>
                </a:solidFill>
                <a:latin typeface="Georgia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9282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2"/>
                </a:solidFill>
                <a:latin typeface="Courier New"/>
              </a:rPr>
              <a:t>Wk 7–8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5851144"/>
            <a:ext cx="6400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0"/>
                </a:solidFill>
                <a:latin typeface="Georgia"/>
              </a:rPr>
              <a:t>Layer automation into operations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6435344"/>
            <a:ext cx="64008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89E"/>
                </a:solidFill>
                <a:latin typeface="Inter Tight"/>
              </a:rPr>
              <a:t>Once delivery is repeatable, wire it together. Make or Zapier. Pre-built prompt chains. This step lets you double income without doubling time.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7146544"/>
            <a:ext cx="62179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Map your service as a flowchart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Identify the three slowest steps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4FF3D"/>
                </a:solidFill>
                <a:latin typeface="Courier New"/>
              </a:rPr>
              <a:t>→  </a:t>
            </a:r>
            <a:r>
              <a:rPr sz="1100">
                <a:solidFill>
                  <a:srgbClr val="F5F5F0"/>
                </a:solidFill>
                <a:latin typeface="Inter Tight"/>
              </a:rPr>
              <a:t>Automate or templatize each 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366256"/>
            <a:ext cx="1143000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01168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4FF3D"/>
                </a:solidFill>
                <a:latin typeface="Courier New"/>
              </a:rPr>
              <a:t>05 /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79120"/>
            <a:ext cx="2011680" cy="12700"/>
          </a:xfrm>
          <a:prstGeom prst="rect">
            <a:avLst/>
          </a:prstGeom>
          <a:solidFill>
            <a:srgbClr val="C4F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37160"/>
            <a:ext cx="8961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F5F5F0"/>
                </a:solidFill>
                <a:latin typeface="Georgia"/>
              </a:rPr>
              <a:t>What no one selling courses </a:t>
            </a:r>
            <a:r>
              <a:rPr sz="3400" i="1">
                <a:solidFill>
                  <a:srgbClr val="A8A89E"/>
                </a:solidFill>
                <a:latin typeface="Georgia"/>
              </a:rPr>
              <a:t>will tell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188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A89E"/>
                </a:solidFill>
                <a:latin typeface="Inter Tight"/>
              </a:rPr>
              <a:t>Real friction lives in places the influencers skip past. Internalize these before you spend a dollar on a "passive income" program.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8100" cy="2057400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3860" y="2011680"/>
            <a:ext cx="5539740" cy="2057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160" y="2189480"/>
            <a:ext cx="532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849"/>
                </a:solidFill>
                <a:latin typeface="Courier New"/>
              </a:rPr>
              <a:t>Caveat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60" y="2392680"/>
            <a:ext cx="532384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"Easy money" is the red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" y="2926080"/>
            <a:ext cx="532384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Anyone promising $10K/month passive without effort is selling you a course about earning $10K/month passive. Real businesses take 3 to 6 months of focused work before meaningful revenue.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38100" cy="2057400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580" y="2011680"/>
            <a:ext cx="5539740" cy="2057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880" y="2189480"/>
            <a:ext cx="532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849"/>
                </a:solidFill>
                <a:latin typeface="Courier New"/>
              </a:rPr>
              <a:t>Caveat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880" y="2392680"/>
            <a:ext cx="532384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Fact-check every AI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880" y="2926080"/>
            <a:ext cx="532384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Generative models confabulate. Numbers, quotes, and citations must be verified before they reach a client. The single fastest way to destroy a reputation is one hallucinated statistic.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38100" cy="2057400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3860" y="4206240"/>
            <a:ext cx="5539740" cy="2057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160" y="4384040"/>
            <a:ext cx="532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849"/>
                </a:solidFill>
                <a:latin typeface="Courier New"/>
              </a:rPr>
              <a:t>Caveat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60" y="4587240"/>
            <a:ext cx="532384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The market is flooded with slop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60" y="5120640"/>
            <a:ext cx="532384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Generic AI output is already a commodity. Winning means narrow niche + deep insight + production quality — not volume. Compete on taste and judgment, not throughput.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206240"/>
            <a:ext cx="38100" cy="2057400"/>
          </a:xfrm>
          <a:prstGeom prst="rect">
            <a:avLst/>
          </a:prstGeom>
          <a:solidFill>
            <a:srgbClr val="FF7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580" y="4206240"/>
            <a:ext cx="5539740" cy="2057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  <a:effectLst>
            <a:outerShdw blurRad="228600" dist="50800" dir="8100000" algn="ctr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8880" y="4384040"/>
            <a:ext cx="532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849"/>
                </a:solidFill>
                <a:latin typeface="Courier New"/>
              </a:rPr>
              <a:t>Caveat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880" y="4587240"/>
            <a:ext cx="532384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Georgia"/>
              </a:rPr>
              <a:t>Read the licensing terms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880" y="5120640"/>
            <a:ext cx="5323840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A89E"/>
                </a:solidFill>
                <a:latin typeface="Inter Tight"/>
              </a:rPr>
              <a:t>Commercial-use rights on AI-generated content shift frequently across tools and jurisdictions. Verify your right to sell before you list a single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2700" cy="6858000"/>
          </a:xfrm>
          <a:prstGeom prst="rect">
            <a:avLst/>
          </a:prstGeom>
          <a:solidFill>
            <a:srgbClr val="2A2A2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371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>
                <a:solidFill>
                  <a:srgbClr val="F5F5F0"/>
                </a:solidFill>
                <a:latin typeface="Georgia"/>
              </a:rPr>
              <a:t>Start small. Ship daily. </a:t>
            </a:r>
            <a:r>
              <a:rPr sz="5200" i="1">
                <a:solidFill>
                  <a:srgbClr val="C4FF3D"/>
                </a:solidFill>
                <a:latin typeface="Georgia"/>
              </a:rPr>
              <a:t>Compound monthly.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82296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A89E"/>
                </a:solidFill>
                <a:latin typeface="Inter Tight"/>
              </a:rPr>
              <a:t>This notebook is a living document built to help think clearly about how to use AI to create real income. Updated as the landscape shifts.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10698480" cy="127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01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3035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02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3035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03 Toolkit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3035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04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53035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2"/>
                </a:solidFill>
                <a:latin typeface="Courier New"/>
              </a:rPr>
              <a:t>05 Caveats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92240"/>
            <a:ext cx="10698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2"/>
                </a:solidFill>
                <a:latin typeface="Courier New"/>
              </a:rPr>
              <a:t>// AI Income Lab — Personal study site   ·   Built May 2026 · v0.2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