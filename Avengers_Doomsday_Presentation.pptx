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6152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4114800"/>
            <a:ext cx="12161520" cy="2743200"/>
          </a:xfrm>
          <a:prstGeom prst="rect">
            <a:avLst/>
          </a:prstGeom>
          <a:gradFill>
            <a:gsLst>
              <a:gs pos="0">
                <a:srgbClr val="C87941">
                  <a:alpha val="5000"/>
                </a:srgbClr>
              </a:gs>
              <a:gs pos="15000">
                <a:srgbClr val="301800">
                  <a:alpha val="40000"/>
                </a:srgbClr>
              </a:gs>
              <a:gs pos="100000">
                <a:srgbClr val="000000"/>
              </a:gs>
            </a:gsLst>
            <a:lin ang="54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33087"/>
            <a:ext cx="12161520" cy="25400"/>
          </a:xfrm>
          <a:prstGeom prst="rect">
            <a:avLst/>
          </a:prstGeom>
          <a:solidFill>
            <a:srgbClr val="C87941">
              <a:alpha val="86274"/>
            </a:srgbClr>
          </a:solidFill>
          <a:ln>
            <a:noFill/>
          </a:ln>
          <a:effectLst>
            <a:glow rad="152400">
              <a:srgbClr val="C87941">
                <a:alpha val="8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rot="1800000">
            <a:off x="7315200" y="-914400"/>
            <a:ext cx="2743200" cy="9144000"/>
          </a:xfrm>
          <a:prstGeom prst="rect">
            <a:avLst/>
          </a:prstGeom>
          <a:solidFill>
            <a:srgbClr val="C87941">
              <a:alpha val="1176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rot="-1680000">
            <a:off x="1828800" y="-914400"/>
            <a:ext cx="1828800" cy="8229600"/>
          </a:xfrm>
          <a:prstGeom prst="rect">
            <a:avLst/>
          </a:prstGeom>
          <a:solidFill>
            <a:srgbClr val="C87941">
              <a:alpha val="1176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914400"/>
            <a:ext cx="3657600" cy="4572000"/>
          </a:xfrm>
          <a:prstGeom prst="rect">
            <a:avLst/>
          </a:prstGeom>
          <a:solidFill>
            <a:srgbClr val="111111">
              <a:alpha val="54901"/>
            </a:srgbClr>
          </a:solidFill>
          <a:ln w="12700">
            <a:solidFill>
              <a:srgbClr val="C87941">
                <a:alpha val="49803"/>
              </a:srgbClr>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0" y="1097280"/>
            <a:ext cx="3474720" cy="4389120"/>
          </a:xfrm>
          <a:prstGeom prst="rect">
            <a:avLst/>
          </a:prstGeom>
          <a:solidFill>
            <a:srgbClr val="111111">
              <a:alpha val="54901"/>
            </a:srgbClr>
          </a:solidFill>
          <a:ln w="12700">
            <a:solidFill>
              <a:srgbClr val="C87941">
                <a:alpha val="49803"/>
              </a:srgbClr>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4069080" y="914400"/>
            <a:ext cx="4023360" cy="2560320"/>
          </a:xfrm>
          <a:prstGeom prst="ellipse">
            <a:avLst/>
          </a:prstGeom>
          <a:solidFill>
            <a:srgbClr val="FF7820">
              <a:alpha val="3529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520440" y="3337560"/>
            <a:ext cx="5120640" cy="1005840"/>
          </a:xfrm>
          <a:prstGeom prst="ellipse">
            <a:avLst/>
          </a:prstGeom>
          <a:solidFill>
            <a:srgbClr val="C87941">
              <a:alpha val="5098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937760" y="914400"/>
            <a:ext cx="2286000" cy="2011680"/>
          </a:xfrm>
          <a:prstGeom prst="rect">
            <a:avLst/>
          </a:prstGeom>
          <a:noFill/>
        </p:spPr>
        <p:txBody>
          <a:bodyPr wrap="none">
            <a:spAutoFit/>
          </a:bodyPr>
          <a:lstStyle/>
          <a:p>
            <a:pPr algn="ctr"/>
            <a:r>
              <a:rPr sz="9600">
                <a:solidFill>
                  <a:srgbClr val="E8923A"/>
                </a:solidFill>
                <a:latin typeface="Impact"/>
              </a:rPr>
              <a:t>Ⓐ</a:t>
              <a:effectLst>
                <a:glow rad="279400">
                  <a:srgbClr val="FF7820">
                    <a:alpha val="90000"/>
                  </a:srgbClr>
                </a:glow>
              </a:effectLst>
            </a:r>
          </a:p>
        </p:txBody>
      </p:sp>
      <p:sp>
        <p:nvSpPr>
          <p:cNvPr id="11" name="TextBox 10"/>
          <p:cNvSpPr txBox="1"/>
          <p:nvPr/>
        </p:nvSpPr>
        <p:spPr>
          <a:xfrm>
            <a:off x="1371600" y="3200400"/>
            <a:ext cx="9418320" cy="1188720"/>
          </a:xfrm>
          <a:prstGeom prst="rect">
            <a:avLst/>
          </a:prstGeom>
          <a:noFill/>
        </p:spPr>
        <p:txBody>
          <a:bodyPr wrap="square">
            <a:spAutoFit/>
          </a:bodyPr>
          <a:lstStyle/>
          <a:p>
            <a:pPr algn="ctr"/>
            <a:r>
              <a:rPr sz="5600" b="1">
                <a:solidFill>
                  <a:srgbClr val="FFFFFF"/>
                </a:solidFill>
                <a:latin typeface="Impact"/>
              </a:rPr>
              <a:t>AVENGERS: DOOMSDAY</a:t>
              <a:effectLst>
                <a:glow rad="127000">
                  <a:srgbClr val="E8923A">
                    <a:alpha val="85000"/>
                  </a:srgbClr>
                </a:glow>
              </a:effectLst>
            </a:r>
          </a:p>
        </p:txBody>
      </p:sp>
      <p:sp>
        <p:nvSpPr>
          <p:cNvPr id="12" name="TextBox 11"/>
          <p:cNvSpPr txBox="1"/>
          <p:nvPr/>
        </p:nvSpPr>
        <p:spPr>
          <a:xfrm>
            <a:off x="1828800" y="4297680"/>
            <a:ext cx="8503920" cy="640080"/>
          </a:xfrm>
          <a:prstGeom prst="rect">
            <a:avLst/>
          </a:prstGeom>
          <a:noFill/>
        </p:spPr>
        <p:txBody>
          <a:bodyPr wrap="none">
            <a:spAutoFit/>
          </a:bodyPr>
          <a:lstStyle/>
          <a:p>
            <a:pPr algn="ctr"/>
            <a:r>
              <a:rPr sz="2000" i="1">
                <a:solidFill>
                  <a:srgbClr val="F5E6D0"/>
                </a:solidFill>
                <a:latin typeface="Trebuchet MS"/>
              </a:rPr>
              <a:t>"The Beginning of the End of the Multiverse Saga"</a:t>
            </a:r>
          </a:p>
        </p:txBody>
      </p:sp>
      <p:sp>
        <p:nvSpPr>
          <p:cNvPr id="13" name="TextBox 12"/>
          <p:cNvSpPr txBox="1"/>
          <p:nvPr/>
        </p:nvSpPr>
        <p:spPr>
          <a:xfrm>
            <a:off x="2743200" y="5943600"/>
            <a:ext cx="6675120" cy="457200"/>
          </a:xfrm>
          <a:prstGeom prst="rect">
            <a:avLst/>
          </a:prstGeom>
          <a:noFill/>
        </p:spPr>
        <p:txBody>
          <a:bodyPr wrap="square">
            <a:spAutoFit/>
          </a:bodyPr>
          <a:lstStyle/>
          <a:p>
            <a:pPr algn="ctr"/>
            <a:r>
              <a:rPr sz="1400" b="0" i="0">
                <a:solidFill>
                  <a:srgbClr val="C87941"/>
                </a:solidFill>
                <a:latin typeface="Calibri"/>
              </a:rPr>
              <a:t>Marvel Studios  ·  Phase 6  ·  December 18,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4114800"/>
            <a:ext cx="12161520" cy="2743200"/>
          </a:xfrm>
          <a:prstGeom prst="rect">
            <a:avLst/>
          </a:prstGeom>
          <a:gradFill>
            <a:gsLst>
              <a:gs pos="0">
                <a:srgbClr val="C87941">
                  <a:alpha val="5000"/>
                </a:srgbClr>
              </a:gs>
              <a:gs pos="15000">
                <a:srgbClr val="301800">
                  <a:alpha val="40000"/>
                </a:srgbClr>
              </a:gs>
              <a:gs pos="100000">
                <a:srgbClr val="000000"/>
              </a:gs>
            </a:gsLst>
            <a:lin ang="54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33087"/>
            <a:ext cx="12161520" cy="25400"/>
          </a:xfrm>
          <a:prstGeom prst="rect">
            <a:avLst/>
          </a:prstGeom>
          <a:solidFill>
            <a:srgbClr val="C87941">
              <a:alpha val="86274"/>
            </a:srgbClr>
          </a:solidFill>
          <a:ln>
            <a:noFill/>
          </a:ln>
          <a:effectLst>
            <a:glow rad="152400">
              <a:srgbClr val="C87941">
                <a:alpha val="8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rot="1800000">
            <a:off x="7315200" y="-914400"/>
            <a:ext cx="2743200" cy="9144000"/>
          </a:xfrm>
          <a:prstGeom prst="rect">
            <a:avLst/>
          </a:prstGeom>
          <a:solidFill>
            <a:srgbClr val="C87941">
              <a:alpha val="1176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rot="-1680000">
            <a:off x="1828800" y="-914400"/>
            <a:ext cx="1828800" cy="8229600"/>
          </a:xfrm>
          <a:prstGeom prst="rect">
            <a:avLst/>
          </a:prstGeom>
          <a:solidFill>
            <a:srgbClr val="C87941">
              <a:alpha val="1176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914400"/>
            <a:ext cx="3657600" cy="4572000"/>
          </a:xfrm>
          <a:prstGeom prst="rect">
            <a:avLst/>
          </a:prstGeom>
          <a:solidFill>
            <a:srgbClr val="111111">
              <a:alpha val="54901"/>
            </a:srgbClr>
          </a:solidFill>
          <a:ln w="12700">
            <a:solidFill>
              <a:srgbClr val="C87941">
                <a:alpha val="49803"/>
              </a:srgbClr>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0" y="1097280"/>
            <a:ext cx="3474720" cy="4389120"/>
          </a:xfrm>
          <a:prstGeom prst="rect">
            <a:avLst/>
          </a:prstGeom>
          <a:solidFill>
            <a:srgbClr val="111111">
              <a:alpha val="54901"/>
            </a:srgbClr>
          </a:solidFill>
          <a:ln w="12700">
            <a:solidFill>
              <a:srgbClr val="C87941">
                <a:alpha val="49803"/>
              </a:srgbClr>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731520"/>
            <a:ext cx="7132320" cy="5029200"/>
          </a:xfrm>
          <a:prstGeom prst="rect">
            <a:avLst/>
          </a:prstGeom>
          <a:solidFill>
            <a:srgbClr val="111111">
              <a:alpha val="84705"/>
            </a:srgbClr>
          </a:solidFill>
          <a:ln w="25400">
            <a:solidFill>
              <a:srgbClr val="C87941"/>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822960"/>
            <a:ext cx="6583680" cy="822960"/>
          </a:xfrm>
          <a:prstGeom prst="rect">
            <a:avLst/>
          </a:prstGeom>
          <a:noFill/>
        </p:spPr>
        <p:txBody>
          <a:bodyPr wrap="square">
            <a:spAutoFit/>
          </a:bodyPr>
          <a:lstStyle/>
          <a:p>
            <a:pPr algn="ctr"/>
            <a:r>
              <a:rPr sz="3600" b="1">
                <a:solidFill>
                  <a:srgbClr val="FFFFFF"/>
                </a:solidFill>
                <a:latin typeface="Impact"/>
              </a:rPr>
              <a:t>WHAT IS THIS FILM?</a:t>
              <a:effectLst>
                <a:glow rad="127000">
                  <a:srgbClr val="E8923A">
                    <a:alpha val="85000"/>
                  </a:srgbClr>
                </a:glow>
              </a:effectLst>
            </a:r>
          </a:p>
        </p:txBody>
      </p:sp>
      <p:sp>
        <p:nvSpPr>
          <p:cNvPr id="10" name="Rectangle 9"/>
          <p:cNvSpPr/>
          <p:nvPr/>
        </p:nvSpPr>
        <p:spPr>
          <a:xfrm>
            <a:off x="822960" y="1691640"/>
            <a:ext cx="6583680" cy="12700"/>
          </a:xfrm>
          <a:prstGeom prst="rect">
            <a:avLst/>
          </a:prstGeom>
          <a:solidFill>
            <a:srgbClr val="C87941">
              <a:alpha val="8627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920240"/>
            <a:ext cx="6400800" cy="3200400"/>
          </a:xfrm>
          <a:prstGeom prst="rect">
            <a:avLst/>
          </a:prstGeom>
          <a:noFill/>
        </p:spPr>
        <p:txBody>
          <a:bodyPr wrap="square">
            <a:spAutoFit/>
          </a:bodyPr>
          <a:lstStyle/>
          <a:p>
            <a:pPr>
              <a:spcBef>
                <a:spcPts val="500"/>
              </a:spcBef>
            </a:pPr>
            <a:r>
              <a:rPr sz="1600" b="1">
                <a:solidFill>
                  <a:srgbClr val="E8923A"/>
                </a:solidFill>
                <a:latin typeface="Calibri"/>
              </a:rPr>
              <a:t>◆ </a:t>
            </a:r>
            <a:r>
              <a:rPr sz="1600">
                <a:solidFill>
                  <a:srgbClr val="CCCCCC"/>
                </a:solidFill>
                <a:latin typeface="Calibri"/>
              </a:rPr>
              <a:t>The 39th film in the Marvel Cinematic Universe</a:t>
            </a:r>
          </a:p>
          <a:p>
            <a:pPr>
              <a:spcBef>
                <a:spcPts val="500"/>
              </a:spcBef>
            </a:pPr>
            <a:r>
              <a:rPr sz="1600" b="1">
                <a:solidFill>
                  <a:srgbClr val="E8923A"/>
                </a:solidFill>
                <a:latin typeface="Calibri"/>
              </a:rPr>
              <a:t>◆ </a:t>
            </a:r>
            <a:r>
              <a:rPr sz="1600">
                <a:solidFill>
                  <a:srgbClr val="CCCCCC"/>
                </a:solidFill>
                <a:latin typeface="Calibri"/>
              </a:rPr>
              <a:t>Phase 6 — the penultimate chapter of the Multiverse Saga</a:t>
            </a:r>
          </a:p>
          <a:p>
            <a:pPr>
              <a:spcBef>
                <a:spcPts val="500"/>
              </a:spcBef>
            </a:pPr>
            <a:r>
              <a:rPr sz="1600" b="1">
                <a:solidFill>
                  <a:srgbClr val="E8923A"/>
                </a:solidFill>
                <a:latin typeface="Calibri"/>
              </a:rPr>
              <a:t>◆ </a:t>
            </a:r>
            <a:r>
              <a:rPr sz="1600">
                <a:solidFill>
                  <a:srgbClr val="CCCCCC"/>
                </a:solidFill>
                <a:latin typeface="Calibri"/>
              </a:rPr>
              <a:t>Robert Downey Jr. returns — not as Tony Stark, but as Doctor Doom</a:t>
            </a:r>
          </a:p>
          <a:p>
            <a:pPr>
              <a:spcBef>
                <a:spcPts val="500"/>
              </a:spcBef>
            </a:pPr>
            <a:r>
              <a:rPr sz="1600" b="1">
                <a:solidFill>
                  <a:srgbClr val="E8923A"/>
                </a:solidFill>
                <a:latin typeface="Calibri"/>
              </a:rPr>
              <a:t>◆ </a:t>
            </a:r>
            <a:r>
              <a:rPr sz="1600">
                <a:solidFill>
                  <a:srgbClr val="CCCCCC"/>
                </a:solidFill>
                <a:latin typeface="Calibri"/>
              </a:rPr>
              <a:t>Directed by the Russo Brothers — returning after Avengers: Endgame</a:t>
            </a:r>
          </a:p>
        </p:txBody>
      </p:sp>
      <p:sp>
        <p:nvSpPr>
          <p:cNvPr id="12" name="Rectangle 11"/>
          <p:cNvSpPr/>
          <p:nvPr/>
        </p:nvSpPr>
        <p:spPr>
          <a:xfrm>
            <a:off x="548640" y="5760720"/>
            <a:ext cx="10972800" cy="640080"/>
          </a:xfrm>
          <a:prstGeom prst="rect">
            <a:avLst/>
          </a:prstGeom>
          <a:solidFill>
            <a:srgbClr val="111111">
              <a:alpha val="84705"/>
            </a:srgbClr>
          </a:solidFill>
          <a:ln w="25400">
            <a:solidFill>
              <a:srgbClr val="C87941"/>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5806440"/>
            <a:ext cx="10607040" cy="502920"/>
          </a:xfrm>
          <a:prstGeom prst="rect">
            <a:avLst/>
          </a:prstGeom>
          <a:noFill/>
        </p:spPr>
        <p:txBody>
          <a:bodyPr wrap="square">
            <a:spAutoFit/>
          </a:bodyPr>
          <a:lstStyle/>
          <a:p>
            <a:pPr algn="ctr"/>
            <a:r>
              <a:rPr sz="1500" b="1" i="0">
                <a:solidFill>
                  <a:srgbClr val="E8923A"/>
                </a:solidFill>
                <a:latin typeface="Calibri"/>
              </a:rPr>
              <a:t>39th MCU Film   ·   Phase 6   ·   Sequel: Secret Wars 2027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4114800"/>
            <a:ext cx="12161520" cy="2743200"/>
          </a:xfrm>
          <a:prstGeom prst="rect">
            <a:avLst/>
          </a:prstGeom>
          <a:gradFill>
            <a:gsLst>
              <a:gs pos="0">
                <a:srgbClr val="CC0000">
                  <a:alpha val="5000"/>
                </a:srgbClr>
              </a:gs>
              <a:gs pos="15000">
                <a:srgbClr val="301800">
                  <a:alpha val="40000"/>
                </a:srgbClr>
              </a:gs>
              <a:gs pos="100000">
                <a:srgbClr val="000000"/>
              </a:gs>
            </a:gsLst>
            <a:lin ang="54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33087"/>
            <a:ext cx="12161520" cy="25400"/>
          </a:xfrm>
          <a:prstGeom prst="rect">
            <a:avLst/>
          </a:prstGeom>
          <a:solidFill>
            <a:srgbClr val="CC0000">
              <a:alpha val="86274"/>
            </a:srgbClr>
          </a:solidFill>
          <a:ln>
            <a:noFill/>
          </a:ln>
          <a:effectLst>
            <a:glow rad="152400">
              <a:srgbClr val="CC0000">
                <a:alpha val="8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rot="1800000">
            <a:off x="7315200" y="-914400"/>
            <a:ext cx="2743200" cy="9144000"/>
          </a:xfrm>
          <a:prstGeom prst="rect">
            <a:avLst/>
          </a:prstGeom>
          <a:solidFill>
            <a:srgbClr val="CC0000">
              <a:alpha val="1176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rot="-1680000">
            <a:off x="1828800" y="-914400"/>
            <a:ext cx="1828800" cy="8229600"/>
          </a:xfrm>
          <a:prstGeom prst="rect">
            <a:avLst/>
          </a:prstGeom>
          <a:solidFill>
            <a:srgbClr val="CC0000">
              <a:alpha val="1176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914400"/>
            <a:ext cx="3657600" cy="4572000"/>
          </a:xfrm>
          <a:prstGeom prst="rect">
            <a:avLst/>
          </a:prstGeom>
          <a:solidFill>
            <a:srgbClr val="111111">
              <a:alpha val="54901"/>
            </a:srgbClr>
          </a:solidFill>
          <a:ln w="12700">
            <a:solidFill>
              <a:srgbClr val="CC0000">
                <a:alpha val="49803"/>
              </a:srgbClr>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0" y="1097280"/>
            <a:ext cx="3474720" cy="4389120"/>
          </a:xfrm>
          <a:prstGeom prst="rect">
            <a:avLst/>
          </a:prstGeom>
          <a:solidFill>
            <a:srgbClr val="111111">
              <a:alpha val="54901"/>
            </a:srgbClr>
          </a:solidFill>
          <a:ln w="12700">
            <a:solidFill>
              <a:srgbClr val="CC0000">
                <a:alpha val="49803"/>
              </a:srgbClr>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794760" y="1737360"/>
            <a:ext cx="4572000" cy="2926080"/>
          </a:xfrm>
          <a:prstGeom prst="ellipse">
            <a:avLst/>
          </a:prstGeom>
          <a:solidFill>
            <a:srgbClr val="CC0000">
              <a:alpha val="4313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371600" y="640080"/>
            <a:ext cx="8961120" cy="5120640"/>
          </a:xfrm>
          <a:prstGeom prst="rect">
            <a:avLst/>
          </a:prstGeom>
          <a:solidFill>
            <a:srgbClr val="111111">
              <a:alpha val="84705"/>
            </a:srgbClr>
          </a:solidFill>
          <a:ln w="25400">
            <a:solidFill>
              <a:srgbClr val="CC0000"/>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45920" y="731520"/>
            <a:ext cx="8412480" cy="822960"/>
          </a:xfrm>
          <a:prstGeom prst="rect">
            <a:avLst/>
          </a:prstGeom>
          <a:noFill/>
        </p:spPr>
        <p:txBody>
          <a:bodyPr wrap="square">
            <a:spAutoFit/>
          </a:bodyPr>
          <a:lstStyle/>
          <a:p>
            <a:pPr algn="ctr"/>
            <a:r>
              <a:rPr sz="3600" b="1">
                <a:solidFill>
                  <a:srgbClr val="FFFFFF"/>
                </a:solidFill>
                <a:latin typeface="Impact"/>
              </a:rPr>
              <a:t>THE VILLAIN: DOCTOR DOOM</a:t>
              <a:effectLst>
                <a:glow rad="127000">
                  <a:srgbClr val="CC0000">
                    <a:alpha val="85000"/>
                  </a:srgbClr>
                </a:glow>
              </a:effectLst>
            </a:r>
          </a:p>
        </p:txBody>
      </p:sp>
      <p:sp>
        <p:nvSpPr>
          <p:cNvPr id="11" name="TextBox 10"/>
          <p:cNvSpPr txBox="1"/>
          <p:nvPr/>
        </p:nvSpPr>
        <p:spPr>
          <a:xfrm>
            <a:off x="1645920" y="1600200"/>
            <a:ext cx="8412480" cy="731520"/>
          </a:xfrm>
          <a:prstGeom prst="rect">
            <a:avLst/>
          </a:prstGeom>
          <a:noFill/>
        </p:spPr>
        <p:txBody>
          <a:bodyPr wrap="square">
            <a:spAutoFit/>
          </a:bodyPr>
          <a:lstStyle/>
          <a:p>
            <a:pPr algn="ctr"/>
            <a:r>
              <a:rPr sz="4400" b="1">
                <a:solidFill>
                  <a:srgbClr val="E8923A"/>
                </a:solidFill>
                <a:latin typeface="Impact"/>
              </a:rPr>
              <a:t>VICTOR VON DOOM</a:t>
              <a:effectLst>
                <a:glow rad="127000">
                  <a:srgbClr val="E8923A">
                    <a:alpha val="85000"/>
                  </a:srgbClr>
                </a:glow>
              </a:effectLst>
            </a:r>
          </a:p>
        </p:txBody>
      </p:sp>
      <p:sp>
        <p:nvSpPr>
          <p:cNvPr id="12" name="Rectangle 11"/>
          <p:cNvSpPr/>
          <p:nvPr/>
        </p:nvSpPr>
        <p:spPr>
          <a:xfrm>
            <a:off x="1645920" y="2377440"/>
            <a:ext cx="8412480" cy="12700"/>
          </a:xfrm>
          <a:prstGeom prst="rect">
            <a:avLst/>
          </a:prstGeom>
          <a:solidFill>
            <a:srgbClr val="CC0000">
              <a:alpha val="8627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737360" y="2468880"/>
            <a:ext cx="8229600" cy="1645920"/>
          </a:xfrm>
          <a:prstGeom prst="rect">
            <a:avLst/>
          </a:prstGeom>
          <a:noFill/>
        </p:spPr>
        <p:txBody>
          <a:bodyPr wrap="square">
            <a:spAutoFit/>
          </a:bodyPr>
          <a:lstStyle/>
          <a:p>
            <a:pPr algn="l"/>
            <a:r>
              <a:rPr sz="1500" b="0" i="0">
                <a:solidFill>
                  <a:srgbClr val="CCCCCC"/>
                </a:solidFill>
                <a:latin typeface="Calibri"/>
              </a:rPr>
              <a:t>Doctor Doom — ruler of Latveria and master of both science and sorcery — emerges as the MCU's most formidable villain yet. His command over the multiverse threatens every reality simultaneously.</a:t>
            </a:r>
          </a:p>
        </p:txBody>
      </p:sp>
      <p:sp>
        <p:nvSpPr>
          <p:cNvPr id="14" name="Rectangle 13"/>
          <p:cNvSpPr/>
          <p:nvPr/>
        </p:nvSpPr>
        <p:spPr>
          <a:xfrm>
            <a:off x="1645920" y="4297680"/>
            <a:ext cx="2834640" cy="1234440"/>
          </a:xfrm>
          <a:prstGeom prst="rect">
            <a:avLst/>
          </a:prstGeom>
          <a:solidFill>
            <a:srgbClr val="111111">
              <a:alpha val="84705"/>
            </a:srgbClr>
          </a:solidFill>
          <a:ln w="25400">
            <a:solidFill>
              <a:srgbClr val="CC0000"/>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737360" y="4407408"/>
            <a:ext cx="2651760" cy="1005840"/>
          </a:xfrm>
          <a:prstGeom prst="rect">
            <a:avLst/>
          </a:prstGeom>
          <a:noFill/>
        </p:spPr>
        <p:txBody>
          <a:bodyPr wrap="square">
            <a:spAutoFit/>
          </a:bodyPr>
          <a:lstStyle/>
          <a:p>
            <a:pPr algn="ctr"/>
            <a:r>
              <a:rPr sz="1300">
                <a:solidFill>
                  <a:srgbClr val="CCCCCC"/>
                </a:solidFill>
                <a:latin typeface="Calibri"/>
              </a:rPr>
              <a:t>RDJ's Return
Robert Downey Jr. returns in a shocking new role</a:t>
            </a:r>
          </a:p>
        </p:txBody>
      </p:sp>
      <p:sp>
        <p:nvSpPr>
          <p:cNvPr id="16" name="Rectangle 15"/>
          <p:cNvSpPr/>
          <p:nvPr/>
        </p:nvSpPr>
        <p:spPr>
          <a:xfrm>
            <a:off x="4663440" y="4297680"/>
            <a:ext cx="2834640" cy="1234440"/>
          </a:xfrm>
          <a:prstGeom prst="rect">
            <a:avLst/>
          </a:prstGeom>
          <a:solidFill>
            <a:srgbClr val="111111">
              <a:alpha val="84705"/>
            </a:srgbClr>
          </a:solidFill>
          <a:ln w="25400">
            <a:solidFill>
              <a:srgbClr val="CC0000"/>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54880" y="4407408"/>
            <a:ext cx="2651760" cy="1005840"/>
          </a:xfrm>
          <a:prstGeom prst="rect">
            <a:avLst/>
          </a:prstGeom>
          <a:noFill/>
        </p:spPr>
        <p:txBody>
          <a:bodyPr wrap="square">
            <a:spAutoFit/>
          </a:bodyPr>
          <a:lstStyle/>
          <a:p>
            <a:pPr algn="ctr"/>
            <a:r>
              <a:rPr sz="1300">
                <a:solidFill>
                  <a:srgbClr val="CCCCCC"/>
                </a:solidFill>
                <a:latin typeface="Calibri"/>
              </a:rPr>
              <a:t>Reality-Bending Threat
Doom controls the fabric of the multiverse</a:t>
            </a:r>
          </a:p>
        </p:txBody>
      </p:sp>
      <p:sp>
        <p:nvSpPr>
          <p:cNvPr id="18" name="Rectangle 17"/>
          <p:cNvSpPr/>
          <p:nvPr/>
        </p:nvSpPr>
        <p:spPr>
          <a:xfrm>
            <a:off x="7680960" y="4297680"/>
            <a:ext cx="2834640" cy="1234440"/>
          </a:xfrm>
          <a:prstGeom prst="rect">
            <a:avLst/>
          </a:prstGeom>
          <a:solidFill>
            <a:srgbClr val="111111">
              <a:alpha val="84705"/>
            </a:srgbClr>
          </a:solidFill>
          <a:ln w="25400">
            <a:solidFill>
              <a:srgbClr val="CC0000"/>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0" y="4407408"/>
            <a:ext cx="2651760" cy="1005840"/>
          </a:xfrm>
          <a:prstGeom prst="rect">
            <a:avLst/>
          </a:prstGeom>
          <a:noFill/>
        </p:spPr>
        <p:txBody>
          <a:bodyPr wrap="square">
            <a:spAutoFit/>
          </a:bodyPr>
          <a:lstStyle/>
          <a:p>
            <a:pPr algn="ctr"/>
            <a:r>
              <a:rPr sz="1300">
                <a:solidFill>
                  <a:srgbClr val="CCCCCC"/>
                </a:solidFill>
                <a:latin typeface="Calibri"/>
              </a:rPr>
              <a:t>Replaced Kang
Doom replaces Kang as the saga's prime villain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4114800"/>
            <a:ext cx="12161520" cy="2743200"/>
          </a:xfrm>
          <a:prstGeom prst="rect">
            <a:avLst/>
          </a:prstGeom>
          <a:gradFill>
            <a:gsLst>
              <a:gs pos="0">
                <a:srgbClr val="C87941">
                  <a:alpha val="5000"/>
                </a:srgbClr>
              </a:gs>
              <a:gs pos="15000">
                <a:srgbClr val="301800">
                  <a:alpha val="40000"/>
                </a:srgbClr>
              </a:gs>
              <a:gs pos="100000">
                <a:srgbClr val="000000"/>
              </a:gs>
            </a:gsLst>
            <a:lin ang="54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33087"/>
            <a:ext cx="12161520" cy="25400"/>
          </a:xfrm>
          <a:prstGeom prst="rect">
            <a:avLst/>
          </a:prstGeom>
          <a:solidFill>
            <a:srgbClr val="C87941">
              <a:alpha val="86274"/>
            </a:srgbClr>
          </a:solidFill>
          <a:ln>
            <a:noFill/>
          </a:ln>
          <a:effectLst>
            <a:glow rad="152400">
              <a:srgbClr val="C87941">
                <a:alpha val="8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rot="1800000">
            <a:off x="7315200" y="-914400"/>
            <a:ext cx="2743200" cy="9144000"/>
          </a:xfrm>
          <a:prstGeom prst="rect">
            <a:avLst/>
          </a:prstGeom>
          <a:solidFill>
            <a:srgbClr val="C87941">
              <a:alpha val="1176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rot="-1680000">
            <a:off x="1828800" y="-914400"/>
            <a:ext cx="1828800" cy="8229600"/>
          </a:xfrm>
          <a:prstGeom prst="rect">
            <a:avLst/>
          </a:prstGeom>
          <a:solidFill>
            <a:srgbClr val="C87941">
              <a:alpha val="1176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914400"/>
            <a:ext cx="3657600" cy="4572000"/>
          </a:xfrm>
          <a:prstGeom prst="rect">
            <a:avLst/>
          </a:prstGeom>
          <a:solidFill>
            <a:srgbClr val="111111">
              <a:alpha val="54901"/>
            </a:srgbClr>
          </a:solidFill>
          <a:ln w="12700">
            <a:solidFill>
              <a:srgbClr val="C87941">
                <a:alpha val="49803"/>
              </a:srgbClr>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0" y="1097280"/>
            <a:ext cx="3474720" cy="4389120"/>
          </a:xfrm>
          <a:prstGeom prst="rect">
            <a:avLst/>
          </a:prstGeom>
          <a:solidFill>
            <a:srgbClr val="111111">
              <a:alpha val="54901"/>
            </a:srgbClr>
          </a:solidFill>
          <a:ln w="12700">
            <a:solidFill>
              <a:srgbClr val="C87941">
                <a:alpha val="49803"/>
              </a:srgbClr>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731520"/>
            <a:ext cx="5029200" cy="5120640"/>
          </a:xfrm>
          <a:prstGeom prst="rect">
            <a:avLst/>
          </a:prstGeom>
          <a:solidFill>
            <a:srgbClr val="111111">
              <a:alpha val="84705"/>
            </a:srgbClr>
          </a:solidFill>
          <a:ln w="25400">
            <a:solidFill>
              <a:srgbClr val="C87941"/>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822960"/>
            <a:ext cx="4572000" cy="1188720"/>
          </a:xfrm>
          <a:prstGeom prst="rect">
            <a:avLst/>
          </a:prstGeom>
          <a:noFill/>
        </p:spPr>
        <p:txBody>
          <a:bodyPr wrap="square">
            <a:spAutoFit/>
          </a:bodyPr>
          <a:lstStyle/>
          <a:p>
            <a:pPr algn="ctr"/>
            <a:r>
              <a:rPr sz="3000" b="1">
                <a:solidFill>
                  <a:srgbClr val="FFFFFF"/>
                </a:solidFill>
                <a:latin typeface="Impact"/>
              </a:rPr>
              <a:t>RDJ: FROM IRON MAN
TO IRON DOOM</a:t>
              <a:effectLst>
                <a:glow rad="127000">
                  <a:srgbClr val="E8923A">
                    <a:alpha val="85000"/>
                  </a:srgbClr>
                </a:glow>
              </a:effectLst>
            </a:r>
          </a:p>
        </p:txBody>
      </p:sp>
      <p:sp>
        <p:nvSpPr>
          <p:cNvPr id="10" name="Rectangle 9"/>
          <p:cNvSpPr/>
          <p:nvPr/>
        </p:nvSpPr>
        <p:spPr>
          <a:xfrm>
            <a:off x="640080" y="2103120"/>
            <a:ext cx="4572000" cy="12700"/>
          </a:xfrm>
          <a:prstGeom prst="rect">
            <a:avLst/>
          </a:prstGeom>
          <a:solidFill>
            <a:srgbClr val="C87941">
              <a:alpha val="8627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194560"/>
            <a:ext cx="4572000" cy="2743200"/>
          </a:xfrm>
          <a:prstGeom prst="rect">
            <a:avLst/>
          </a:prstGeom>
          <a:noFill/>
        </p:spPr>
        <p:txBody>
          <a:bodyPr wrap="square">
            <a:spAutoFit/>
          </a:bodyPr>
          <a:lstStyle/>
          <a:p>
            <a:pPr algn="l"/>
            <a:r>
              <a:rPr sz="1400" b="0" i="0">
                <a:solidFill>
                  <a:srgbClr val="CCCCCC"/>
                </a:solidFill>
                <a:latin typeface="Calibri"/>
              </a:rPr>
              <a:t>Robert Downey Jr. portrayed Tony Stark / Iron Man across 10 films from 2008 to 2019. His sacrifice in Avengers: Endgame defined a generation of cinema.
Now, in a multiverse-shattering twist, RDJ returns — not as the hero we knew, but as Victor Von Doom: the most powerful villain in Marvel history.</a:t>
            </a:r>
          </a:p>
        </p:txBody>
      </p:sp>
      <p:sp>
        <p:nvSpPr>
          <p:cNvPr id="12" name="Rectangle 11"/>
          <p:cNvSpPr/>
          <p:nvPr/>
        </p:nvSpPr>
        <p:spPr>
          <a:xfrm>
            <a:off x="5852160" y="731520"/>
            <a:ext cx="5760720" cy="5120640"/>
          </a:xfrm>
          <a:prstGeom prst="rect">
            <a:avLst/>
          </a:prstGeom>
          <a:solidFill>
            <a:srgbClr val="111111">
              <a:alpha val="84705"/>
            </a:srgbClr>
          </a:solidFill>
          <a:ln w="25400">
            <a:solidFill>
              <a:srgbClr val="C87941"/>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35040" y="1005840"/>
            <a:ext cx="5394960" cy="2286000"/>
          </a:xfrm>
          <a:prstGeom prst="rect">
            <a:avLst/>
          </a:prstGeom>
          <a:noFill/>
        </p:spPr>
        <p:txBody>
          <a:bodyPr wrap="none">
            <a:spAutoFit/>
          </a:bodyPr>
          <a:lstStyle/>
          <a:p>
            <a:pPr algn="ctr"/>
            <a:r>
              <a:rPr sz="3000" i="1">
                <a:solidFill>
                  <a:srgbClr val="E8923A"/>
                </a:solidFill>
                <a:latin typeface="Impact"/>
              </a:rPr>
              <a:t>"He saved us once.
Now he threatens
everything."</a:t>
              <a:effectLst>
                <a:glow rad="101600">
                  <a:srgbClr val="E8923A">
                    <a:alpha val="80000"/>
                  </a:srgbClr>
                </a:glow>
              </a:effectLst>
            </a:r>
          </a:p>
        </p:txBody>
      </p:sp>
      <p:sp>
        <p:nvSpPr>
          <p:cNvPr id="14" name="Oval 13"/>
          <p:cNvSpPr/>
          <p:nvPr/>
        </p:nvSpPr>
        <p:spPr>
          <a:xfrm>
            <a:off x="6126480" y="4754880"/>
            <a:ext cx="365760" cy="365760"/>
          </a:xfrm>
          <a:prstGeom prst="ellipse">
            <a:avLst/>
          </a:prstGeom>
          <a:solidFill>
            <a:srgbClr val="E8923A"/>
          </a:solidFill>
          <a:ln>
            <a:noFill/>
          </a:ln>
          <a:effectLst>
            <a:glow rad="101600">
              <a:srgbClr val="E8923A">
                <a:alpha val="9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92240" y="4901184"/>
            <a:ext cx="1371600" cy="73152"/>
          </a:xfrm>
          <a:prstGeom prst="rect">
            <a:avLst/>
          </a:prstGeom>
          <a:solidFill>
            <a:srgbClr val="C87941">
              <a:alpha val="78431"/>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852160" y="5166360"/>
            <a:ext cx="914400" cy="274320"/>
          </a:xfrm>
          <a:prstGeom prst="rect">
            <a:avLst/>
          </a:prstGeom>
          <a:noFill/>
        </p:spPr>
        <p:txBody>
          <a:bodyPr wrap="square">
            <a:spAutoFit/>
          </a:bodyPr>
          <a:lstStyle/>
          <a:p>
            <a:pPr algn="ctr"/>
            <a:r>
              <a:rPr sz="1100" b="0" i="0">
                <a:solidFill>
                  <a:srgbClr val="E8923A"/>
                </a:solidFill>
                <a:latin typeface="Calibri"/>
              </a:rPr>
              <a:t>2008</a:t>
            </a:r>
          </a:p>
        </p:txBody>
      </p:sp>
      <p:sp>
        <p:nvSpPr>
          <p:cNvPr id="17" name="TextBox 16"/>
          <p:cNvSpPr txBox="1"/>
          <p:nvPr/>
        </p:nvSpPr>
        <p:spPr>
          <a:xfrm>
            <a:off x="5760720" y="5440680"/>
            <a:ext cx="1097280" cy="274320"/>
          </a:xfrm>
          <a:prstGeom prst="rect">
            <a:avLst/>
          </a:prstGeom>
          <a:noFill/>
        </p:spPr>
        <p:txBody>
          <a:bodyPr wrap="square">
            <a:spAutoFit/>
          </a:bodyPr>
          <a:lstStyle/>
          <a:p>
            <a:pPr algn="ctr"/>
            <a:r>
              <a:rPr sz="1000" b="0" i="0">
                <a:solidFill>
                  <a:srgbClr val="CCCCCC"/>
                </a:solidFill>
                <a:latin typeface="Calibri"/>
              </a:rPr>
              <a:t>Iron Man</a:t>
            </a:r>
          </a:p>
        </p:txBody>
      </p:sp>
      <p:sp>
        <p:nvSpPr>
          <p:cNvPr id="18" name="Oval 17"/>
          <p:cNvSpPr/>
          <p:nvPr/>
        </p:nvSpPr>
        <p:spPr>
          <a:xfrm>
            <a:off x="7863840" y="4754880"/>
            <a:ext cx="365760" cy="365760"/>
          </a:xfrm>
          <a:prstGeom prst="ellipse">
            <a:avLst/>
          </a:prstGeom>
          <a:solidFill>
            <a:srgbClr val="E8923A"/>
          </a:solidFill>
          <a:ln>
            <a:noFill/>
          </a:ln>
          <a:effectLst>
            <a:glow rad="101600">
              <a:srgbClr val="E8923A">
                <a:alpha val="9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29600" y="4901184"/>
            <a:ext cx="1371600" cy="73152"/>
          </a:xfrm>
          <a:prstGeom prst="rect">
            <a:avLst/>
          </a:prstGeom>
          <a:solidFill>
            <a:srgbClr val="C87941">
              <a:alpha val="78431"/>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89520" y="5166360"/>
            <a:ext cx="914400" cy="274320"/>
          </a:xfrm>
          <a:prstGeom prst="rect">
            <a:avLst/>
          </a:prstGeom>
          <a:noFill/>
        </p:spPr>
        <p:txBody>
          <a:bodyPr wrap="square">
            <a:spAutoFit/>
          </a:bodyPr>
          <a:lstStyle/>
          <a:p>
            <a:pPr algn="ctr"/>
            <a:r>
              <a:rPr sz="1100" b="0" i="0">
                <a:solidFill>
                  <a:srgbClr val="E8923A"/>
                </a:solidFill>
                <a:latin typeface="Calibri"/>
              </a:rPr>
              <a:t>2019</a:t>
            </a:r>
          </a:p>
        </p:txBody>
      </p:sp>
      <p:sp>
        <p:nvSpPr>
          <p:cNvPr id="21" name="TextBox 20"/>
          <p:cNvSpPr txBox="1"/>
          <p:nvPr/>
        </p:nvSpPr>
        <p:spPr>
          <a:xfrm>
            <a:off x="7498080" y="5440680"/>
            <a:ext cx="1097280" cy="274320"/>
          </a:xfrm>
          <a:prstGeom prst="rect">
            <a:avLst/>
          </a:prstGeom>
          <a:noFill/>
        </p:spPr>
        <p:txBody>
          <a:bodyPr wrap="square">
            <a:spAutoFit/>
          </a:bodyPr>
          <a:lstStyle/>
          <a:p>
            <a:pPr algn="ctr"/>
            <a:r>
              <a:rPr sz="1000" b="0" i="0">
                <a:solidFill>
                  <a:srgbClr val="CCCCCC"/>
                </a:solidFill>
                <a:latin typeface="Calibri"/>
              </a:rPr>
              <a:t>Endgame</a:t>
            </a:r>
          </a:p>
        </p:txBody>
      </p:sp>
      <p:sp>
        <p:nvSpPr>
          <p:cNvPr id="22" name="Oval 21"/>
          <p:cNvSpPr/>
          <p:nvPr/>
        </p:nvSpPr>
        <p:spPr>
          <a:xfrm>
            <a:off x="9601200" y="4754880"/>
            <a:ext cx="365760" cy="365760"/>
          </a:xfrm>
          <a:prstGeom prst="ellipse">
            <a:avLst/>
          </a:prstGeom>
          <a:solidFill>
            <a:srgbClr val="E8923A"/>
          </a:solidFill>
          <a:ln>
            <a:noFill/>
          </a:ln>
          <a:effectLst>
            <a:glow rad="101600">
              <a:srgbClr val="E8923A">
                <a:alpha val="9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0" y="5166360"/>
            <a:ext cx="914400" cy="274320"/>
          </a:xfrm>
          <a:prstGeom prst="rect">
            <a:avLst/>
          </a:prstGeom>
          <a:noFill/>
        </p:spPr>
        <p:txBody>
          <a:bodyPr wrap="square">
            <a:spAutoFit/>
          </a:bodyPr>
          <a:lstStyle/>
          <a:p>
            <a:pPr algn="ctr"/>
            <a:r>
              <a:rPr sz="1100" b="0" i="0">
                <a:solidFill>
                  <a:srgbClr val="E8923A"/>
                </a:solidFill>
                <a:latin typeface="Calibri"/>
              </a:rPr>
              <a:t>2026</a:t>
            </a:r>
          </a:p>
        </p:txBody>
      </p:sp>
      <p:sp>
        <p:nvSpPr>
          <p:cNvPr id="24" name="TextBox 23"/>
          <p:cNvSpPr txBox="1"/>
          <p:nvPr/>
        </p:nvSpPr>
        <p:spPr>
          <a:xfrm>
            <a:off x="9235440" y="5440680"/>
            <a:ext cx="1097280" cy="274320"/>
          </a:xfrm>
          <a:prstGeom prst="rect">
            <a:avLst/>
          </a:prstGeom>
          <a:noFill/>
        </p:spPr>
        <p:txBody>
          <a:bodyPr wrap="square">
            <a:spAutoFit/>
          </a:bodyPr>
          <a:lstStyle/>
          <a:p>
            <a:pPr algn="ctr"/>
            <a:r>
              <a:rPr sz="1000" b="0" i="0">
                <a:solidFill>
                  <a:srgbClr val="CCCCCC"/>
                </a:solidFill>
                <a:latin typeface="Calibri"/>
              </a:rPr>
              <a:t>Doctor Doom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4114800"/>
            <a:ext cx="12161520" cy="2743200"/>
          </a:xfrm>
          <a:prstGeom prst="rect">
            <a:avLst/>
          </a:prstGeom>
          <a:gradFill>
            <a:gsLst>
              <a:gs pos="0">
                <a:srgbClr val="C87941">
                  <a:alpha val="5000"/>
                </a:srgbClr>
              </a:gs>
              <a:gs pos="15000">
                <a:srgbClr val="301800">
                  <a:alpha val="40000"/>
                </a:srgbClr>
              </a:gs>
              <a:gs pos="100000">
                <a:srgbClr val="000000"/>
              </a:gs>
            </a:gsLst>
            <a:lin ang="54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33087"/>
            <a:ext cx="12161520" cy="25400"/>
          </a:xfrm>
          <a:prstGeom prst="rect">
            <a:avLst/>
          </a:prstGeom>
          <a:solidFill>
            <a:srgbClr val="C87941">
              <a:alpha val="86274"/>
            </a:srgbClr>
          </a:solidFill>
          <a:ln>
            <a:noFill/>
          </a:ln>
          <a:effectLst>
            <a:glow rad="152400">
              <a:srgbClr val="C87941">
                <a:alpha val="8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rot="1800000">
            <a:off x="7315200" y="-914400"/>
            <a:ext cx="2743200" cy="9144000"/>
          </a:xfrm>
          <a:prstGeom prst="rect">
            <a:avLst/>
          </a:prstGeom>
          <a:solidFill>
            <a:srgbClr val="C87941">
              <a:alpha val="1176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rot="-1680000">
            <a:off x="1828800" y="-914400"/>
            <a:ext cx="1828800" cy="8229600"/>
          </a:xfrm>
          <a:prstGeom prst="rect">
            <a:avLst/>
          </a:prstGeom>
          <a:solidFill>
            <a:srgbClr val="C87941">
              <a:alpha val="1176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914400"/>
            <a:ext cx="3657600" cy="4572000"/>
          </a:xfrm>
          <a:prstGeom prst="rect">
            <a:avLst/>
          </a:prstGeom>
          <a:solidFill>
            <a:srgbClr val="111111">
              <a:alpha val="54901"/>
            </a:srgbClr>
          </a:solidFill>
          <a:ln w="12700">
            <a:solidFill>
              <a:srgbClr val="C87941">
                <a:alpha val="49803"/>
              </a:srgbClr>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0" y="1097280"/>
            <a:ext cx="3474720" cy="4389120"/>
          </a:xfrm>
          <a:prstGeom prst="rect">
            <a:avLst/>
          </a:prstGeom>
          <a:solidFill>
            <a:srgbClr val="111111">
              <a:alpha val="54901"/>
            </a:srgbClr>
          </a:solidFill>
          <a:ln w="12700">
            <a:solidFill>
              <a:srgbClr val="C87941">
                <a:alpha val="49803"/>
              </a:srgbClr>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731520"/>
            <a:ext cx="5486400" cy="5303520"/>
          </a:xfrm>
          <a:prstGeom prst="rect">
            <a:avLst/>
          </a:prstGeom>
          <a:solidFill>
            <a:srgbClr val="111111">
              <a:alpha val="84705"/>
            </a:srgbClr>
          </a:solidFill>
          <a:ln w="25400">
            <a:solidFill>
              <a:srgbClr val="C87941"/>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309360" y="731520"/>
            <a:ext cx="5394960" cy="5303520"/>
          </a:xfrm>
          <a:prstGeom prst="rect">
            <a:avLst/>
          </a:prstGeom>
          <a:solidFill>
            <a:srgbClr val="111111">
              <a:alpha val="84705"/>
            </a:srgbClr>
          </a:solidFill>
          <a:ln w="25400">
            <a:solidFill>
              <a:srgbClr val="C87941"/>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822960"/>
            <a:ext cx="5120640" cy="777240"/>
          </a:xfrm>
          <a:prstGeom prst="rect">
            <a:avLst/>
          </a:prstGeom>
          <a:noFill/>
        </p:spPr>
        <p:txBody>
          <a:bodyPr wrap="square">
            <a:spAutoFit/>
          </a:bodyPr>
          <a:lstStyle/>
          <a:p>
            <a:pPr algn="ctr"/>
            <a:r>
              <a:rPr sz="2800" b="1">
                <a:solidFill>
                  <a:srgbClr val="FFFFFF"/>
                </a:solidFill>
                <a:latin typeface="Impact"/>
              </a:rPr>
              <a:t>THE RUSSO BROTHERS</a:t>
              <a:effectLst>
                <a:glow rad="127000">
                  <a:srgbClr val="E8923A">
                    <a:alpha val="85000"/>
                  </a:srgbClr>
                </a:glow>
              </a:effectLst>
            </a:r>
          </a:p>
        </p:txBody>
      </p:sp>
      <p:sp>
        <p:nvSpPr>
          <p:cNvPr id="11" name="Rectangle 10"/>
          <p:cNvSpPr/>
          <p:nvPr/>
        </p:nvSpPr>
        <p:spPr>
          <a:xfrm>
            <a:off x="640080" y="1664208"/>
            <a:ext cx="5120640" cy="12700"/>
          </a:xfrm>
          <a:prstGeom prst="rect">
            <a:avLst/>
          </a:prstGeom>
          <a:solidFill>
            <a:srgbClr val="C87941">
              <a:alpha val="8627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828800"/>
            <a:ext cx="5120640" cy="2286000"/>
          </a:xfrm>
          <a:prstGeom prst="rect">
            <a:avLst/>
          </a:prstGeom>
          <a:noFill/>
        </p:spPr>
        <p:txBody>
          <a:bodyPr wrap="square">
            <a:spAutoFit/>
          </a:bodyPr>
          <a:lstStyle/>
          <a:p>
            <a:pPr algn="l"/>
            <a:r>
              <a:rPr sz="1400" b="0" i="0">
                <a:solidFill>
                  <a:srgbClr val="CCCCCC"/>
                </a:solidFill>
                <a:latin typeface="Calibri"/>
              </a:rPr>
              <a:t>Anthony and Joe Russo are the directors behind the two highest-grossing superhero films of all time. After a 7-year hiatus from the MCU, they return to close the Multiverse Saga.</a:t>
            </a:r>
          </a:p>
        </p:txBody>
      </p:sp>
      <p:sp>
        <p:nvSpPr>
          <p:cNvPr id="13" name="Rectangle 12"/>
          <p:cNvSpPr/>
          <p:nvPr/>
        </p:nvSpPr>
        <p:spPr>
          <a:xfrm>
            <a:off x="6126480" y="914400"/>
            <a:ext cx="45720" cy="12700"/>
          </a:xfrm>
          <a:prstGeom prst="rect">
            <a:avLst/>
          </a:prstGeom>
          <a:solidFill>
            <a:srgbClr val="C87941">
              <a:alpha val="8627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0" y="914400"/>
            <a:ext cx="5120640" cy="1005840"/>
          </a:xfrm>
          <a:prstGeom prst="rect">
            <a:avLst/>
          </a:prstGeom>
          <a:solidFill>
            <a:srgbClr val="111111">
              <a:alpha val="84705"/>
            </a:srgbClr>
          </a:solidFill>
          <a:ln w="25400">
            <a:solidFill>
              <a:srgbClr val="E8923A"/>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051560"/>
            <a:ext cx="5120640" cy="822960"/>
          </a:xfrm>
          <a:prstGeom prst="rect">
            <a:avLst/>
          </a:prstGeom>
          <a:noFill/>
        </p:spPr>
        <p:txBody>
          <a:bodyPr wrap="none">
            <a:spAutoFit/>
          </a:bodyPr>
          <a:lstStyle/>
          <a:p>
            <a:pPr algn="ctr"/>
            <a:r>
              <a:rPr sz="3600">
                <a:solidFill>
                  <a:srgbClr val="E8923A"/>
                </a:solidFill>
                <a:latin typeface="Impact"/>
              </a:rPr>
              <a:t>4</a:t>
              <a:effectLst>
                <a:glow rad="101600">
                  <a:srgbClr val="E8923A">
                    <a:alpha val="80000"/>
                  </a:srgbClr>
                </a:glow>
              </a:effectLst>
            </a:r>
          </a:p>
        </p:txBody>
      </p:sp>
      <p:sp>
        <p:nvSpPr>
          <p:cNvPr id="16" name="TextBox 15"/>
          <p:cNvSpPr txBox="1"/>
          <p:nvPr/>
        </p:nvSpPr>
        <p:spPr>
          <a:xfrm>
            <a:off x="6400800" y="1783080"/>
            <a:ext cx="5120640" cy="502920"/>
          </a:xfrm>
          <a:prstGeom prst="rect">
            <a:avLst/>
          </a:prstGeom>
          <a:noFill/>
        </p:spPr>
        <p:txBody>
          <a:bodyPr wrap="none">
            <a:spAutoFit/>
          </a:bodyPr>
          <a:lstStyle/>
          <a:p>
            <a:pPr algn="ctr"/>
            <a:r>
              <a:rPr sz="1200">
                <a:solidFill>
                  <a:srgbClr val="FFFFFF"/>
                </a:solidFill>
                <a:latin typeface="Calibri"/>
              </a:rPr>
              <a:t>MCU Directorial Credits</a:t>
            </a:r>
          </a:p>
        </p:txBody>
      </p:sp>
      <p:sp>
        <p:nvSpPr>
          <p:cNvPr id="17" name="Rectangle 16"/>
          <p:cNvSpPr/>
          <p:nvPr/>
        </p:nvSpPr>
        <p:spPr>
          <a:xfrm>
            <a:off x="6400800" y="2084832"/>
            <a:ext cx="5120640" cy="1005840"/>
          </a:xfrm>
          <a:prstGeom prst="rect">
            <a:avLst/>
          </a:prstGeom>
          <a:solidFill>
            <a:srgbClr val="111111">
              <a:alpha val="84705"/>
            </a:srgbClr>
          </a:solidFill>
          <a:ln w="25400">
            <a:solidFill>
              <a:srgbClr val="E8923A"/>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2221992"/>
            <a:ext cx="5120640" cy="822960"/>
          </a:xfrm>
          <a:prstGeom prst="rect">
            <a:avLst/>
          </a:prstGeom>
          <a:noFill/>
        </p:spPr>
        <p:txBody>
          <a:bodyPr wrap="none">
            <a:spAutoFit/>
          </a:bodyPr>
          <a:lstStyle/>
          <a:p>
            <a:pPr algn="ctr"/>
            <a:r>
              <a:rPr sz="3600">
                <a:solidFill>
                  <a:srgbClr val="E8923A"/>
                </a:solidFill>
                <a:latin typeface="Impact"/>
              </a:rPr>
              <a:t>$2.79B</a:t>
              <a:effectLst>
                <a:glow rad="101600">
                  <a:srgbClr val="E8923A">
                    <a:alpha val="80000"/>
                  </a:srgbClr>
                </a:glow>
              </a:effectLst>
            </a:r>
          </a:p>
        </p:txBody>
      </p:sp>
      <p:sp>
        <p:nvSpPr>
          <p:cNvPr id="19" name="TextBox 18"/>
          <p:cNvSpPr txBox="1"/>
          <p:nvPr/>
        </p:nvSpPr>
        <p:spPr>
          <a:xfrm>
            <a:off x="6400800" y="2953512"/>
            <a:ext cx="5120640" cy="502920"/>
          </a:xfrm>
          <a:prstGeom prst="rect">
            <a:avLst/>
          </a:prstGeom>
          <a:noFill/>
        </p:spPr>
        <p:txBody>
          <a:bodyPr wrap="none">
            <a:spAutoFit/>
          </a:bodyPr>
          <a:lstStyle/>
          <a:p>
            <a:pPr algn="ctr"/>
            <a:r>
              <a:rPr sz="1200">
                <a:solidFill>
                  <a:srgbClr val="FFFFFF"/>
                </a:solidFill>
                <a:latin typeface="Calibri"/>
              </a:rPr>
              <a:t>Endgame Worldwide Gross</a:t>
            </a:r>
          </a:p>
        </p:txBody>
      </p:sp>
      <p:sp>
        <p:nvSpPr>
          <p:cNvPr id="20" name="Rectangle 19"/>
          <p:cNvSpPr/>
          <p:nvPr/>
        </p:nvSpPr>
        <p:spPr>
          <a:xfrm>
            <a:off x="6400800" y="3255264"/>
            <a:ext cx="5120640" cy="1005840"/>
          </a:xfrm>
          <a:prstGeom prst="rect">
            <a:avLst/>
          </a:prstGeom>
          <a:solidFill>
            <a:srgbClr val="111111">
              <a:alpha val="84705"/>
            </a:srgbClr>
          </a:solidFill>
          <a:ln w="25400">
            <a:solidFill>
              <a:srgbClr val="E8923A"/>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0" y="3392424"/>
            <a:ext cx="5120640" cy="822960"/>
          </a:xfrm>
          <a:prstGeom prst="rect">
            <a:avLst/>
          </a:prstGeom>
          <a:noFill/>
        </p:spPr>
        <p:txBody>
          <a:bodyPr wrap="none">
            <a:spAutoFit/>
          </a:bodyPr>
          <a:lstStyle/>
          <a:p>
            <a:pPr algn="ctr"/>
            <a:r>
              <a:rPr sz="3600">
                <a:solidFill>
                  <a:srgbClr val="E8923A"/>
                </a:solidFill>
                <a:latin typeface="Impact"/>
              </a:rPr>
              <a:t>#1</a:t>
              <a:effectLst>
                <a:glow rad="101600">
                  <a:srgbClr val="E8923A">
                    <a:alpha val="80000"/>
                  </a:srgbClr>
                </a:glow>
              </a:effectLst>
            </a:r>
          </a:p>
        </p:txBody>
      </p:sp>
      <p:sp>
        <p:nvSpPr>
          <p:cNvPr id="22" name="TextBox 21"/>
          <p:cNvSpPr txBox="1"/>
          <p:nvPr/>
        </p:nvSpPr>
        <p:spPr>
          <a:xfrm>
            <a:off x="6400800" y="4123944"/>
            <a:ext cx="5120640" cy="502920"/>
          </a:xfrm>
          <a:prstGeom prst="rect">
            <a:avLst/>
          </a:prstGeom>
          <a:noFill/>
        </p:spPr>
        <p:txBody>
          <a:bodyPr wrap="none">
            <a:spAutoFit/>
          </a:bodyPr>
          <a:lstStyle/>
          <a:p>
            <a:pPr algn="ctr"/>
            <a:r>
              <a:rPr sz="1200">
                <a:solidFill>
                  <a:srgbClr val="FFFFFF"/>
                </a:solidFill>
                <a:latin typeface="Calibri"/>
              </a:rPr>
              <a:t>Highest-Grossing Superhero Film Ever</a:t>
            </a:r>
          </a:p>
        </p:txBody>
      </p:sp>
      <p:sp>
        <p:nvSpPr>
          <p:cNvPr id="23" name="Rectangle 22"/>
          <p:cNvSpPr/>
          <p:nvPr/>
        </p:nvSpPr>
        <p:spPr>
          <a:xfrm>
            <a:off x="6400800" y="4425696"/>
            <a:ext cx="5120640" cy="1005840"/>
          </a:xfrm>
          <a:prstGeom prst="rect">
            <a:avLst/>
          </a:prstGeom>
          <a:solidFill>
            <a:srgbClr val="111111">
              <a:alpha val="84705"/>
            </a:srgbClr>
          </a:solidFill>
          <a:ln w="25400">
            <a:solidFill>
              <a:srgbClr val="E8923A"/>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0" y="4562856"/>
            <a:ext cx="5120640" cy="822960"/>
          </a:xfrm>
          <a:prstGeom prst="rect">
            <a:avLst/>
          </a:prstGeom>
          <a:noFill/>
        </p:spPr>
        <p:txBody>
          <a:bodyPr wrap="none">
            <a:spAutoFit/>
          </a:bodyPr>
          <a:lstStyle/>
          <a:p>
            <a:pPr algn="ctr"/>
            <a:r>
              <a:rPr sz="3600">
                <a:solidFill>
                  <a:srgbClr val="E8923A"/>
                </a:solidFill>
                <a:latin typeface="Impact"/>
              </a:rPr>
              <a:t>2027</a:t>
              <a:effectLst>
                <a:glow rad="101600">
                  <a:srgbClr val="E8923A">
                    <a:alpha val="80000"/>
                  </a:srgbClr>
                </a:glow>
              </a:effectLst>
            </a:r>
          </a:p>
        </p:txBody>
      </p:sp>
      <p:sp>
        <p:nvSpPr>
          <p:cNvPr id="25" name="TextBox 24"/>
          <p:cNvSpPr txBox="1"/>
          <p:nvPr/>
        </p:nvSpPr>
        <p:spPr>
          <a:xfrm>
            <a:off x="6400800" y="5294376"/>
            <a:ext cx="5120640" cy="502920"/>
          </a:xfrm>
          <a:prstGeom prst="rect">
            <a:avLst/>
          </a:prstGeom>
          <a:noFill/>
        </p:spPr>
        <p:txBody>
          <a:bodyPr wrap="none">
            <a:spAutoFit/>
          </a:bodyPr>
          <a:lstStyle/>
          <a:p>
            <a:pPr algn="ctr"/>
            <a:r>
              <a:rPr sz="1200">
                <a:solidFill>
                  <a:srgbClr val="FFFFFF"/>
                </a:solidFill>
                <a:latin typeface="Calibri"/>
              </a:rPr>
              <a:t>Also Directing Secret Wars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4114800"/>
            <a:ext cx="12161520" cy="2743200"/>
          </a:xfrm>
          <a:prstGeom prst="rect">
            <a:avLst/>
          </a:prstGeom>
          <a:gradFill>
            <a:gsLst>
              <a:gs pos="0">
                <a:srgbClr val="C87941">
                  <a:alpha val="5000"/>
                </a:srgbClr>
              </a:gs>
              <a:gs pos="15000">
                <a:srgbClr val="301800">
                  <a:alpha val="40000"/>
                </a:srgbClr>
              </a:gs>
              <a:gs pos="100000">
                <a:srgbClr val="000000"/>
              </a:gs>
            </a:gsLst>
            <a:lin ang="54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33087"/>
            <a:ext cx="12161520" cy="25400"/>
          </a:xfrm>
          <a:prstGeom prst="rect">
            <a:avLst/>
          </a:prstGeom>
          <a:solidFill>
            <a:srgbClr val="C87941">
              <a:alpha val="86274"/>
            </a:srgbClr>
          </a:solidFill>
          <a:ln>
            <a:noFill/>
          </a:ln>
          <a:effectLst>
            <a:glow rad="152400">
              <a:srgbClr val="C87941">
                <a:alpha val="8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rot="1800000">
            <a:off x="7315200" y="-914400"/>
            <a:ext cx="2743200" cy="9144000"/>
          </a:xfrm>
          <a:prstGeom prst="rect">
            <a:avLst/>
          </a:prstGeom>
          <a:solidFill>
            <a:srgbClr val="C87941">
              <a:alpha val="1176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rot="-1680000">
            <a:off x="1828800" y="-914400"/>
            <a:ext cx="1828800" cy="8229600"/>
          </a:xfrm>
          <a:prstGeom prst="rect">
            <a:avLst/>
          </a:prstGeom>
          <a:solidFill>
            <a:srgbClr val="C87941">
              <a:alpha val="1176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914400"/>
            <a:ext cx="3657600" cy="4572000"/>
          </a:xfrm>
          <a:prstGeom prst="rect">
            <a:avLst/>
          </a:prstGeom>
          <a:solidFill>
            <a:srgbClr val="111111">
              <a:alpha val="54901"/>
            </a:srgbClr>
          </a:solidFill>
          <a:ln w="12700">
            <a:solidFill>
              <a:srgbClr val="C87941">
                <a:alpha val="49803"/>
              </a:srgbClr>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0" y="1097280"/>
            <a:ext cx="3474720" cy="4389120"/>
          </a:xfrm>
          <a:prstGeom prst="rect">
            <a:avLst/>
          </a:prstGeom>
          <a:solidFill>
            <a:srgbClr val="111111">
              <a:alpha val="54901"/>
            </a:srgbClr>
          </a:solidFill>
          <a:ln w="12700">
            <a:solidFill>
              <a:srgbClr val="C87941">
                <a:alpha val="49803"/>
              </a:srgbClr>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
            <a:ext cx="10332720" cy="685800"/>
          </a:xfrm>
          <a:prstGeom prst="rect">
            <a:avLst/>
          </a:prstGeom>
          <a:noFill/>
        </p:spPr>
        <p:txBody>
          <a:bodyPr wrap="square">
            <a:spAutoFit/>
          </a:bodyPr>
          <a:lstStyle/>
          <a:p>
            <a:pPr algn="ctr"/>
            <a:r>
              <a:rPr sz="4400" b="1">
                <a:solidFill>
                  <a:srgbClr val="FFFFFF"/>
                </a:solidFill>
                <a:latin typeface="Impact"/>
              </a:rPr>
              <a:t>THE HEROES</a:t>
              <a:effectLst>
                <a:glow rad="127000">
                  <a:srgbClr val="E8923A">
                    <a:alpha val="85000"/>
                  </a:srgbClr>
                </a:glow>
              </a:effectLst>
            </a:r>
          </a:p>
        </p:txBody>
      </p:sp>
      <p:sp>
        <p:nvSpPr>
          <p:cNvPr id="9" name="Rectangle 8"/>
          <p:cNvSpPr/>
          <p:nvPr/>
        </p:nvSpPr>
        <p:spPr>
          <a:xfrm>
            <a:off x="502920" y="1005840"/>
            <a:ext cx="3657600" cy="1783080"/>
          </a:xfrm>
          <a:prstGeom prst="rect">
            <a:avLst/>
          </a:prstGeom>
          <a:solidFill>
            <a:srgbClr val="111111">
              <a:alpha val="84705"/>
            </a:srgbClr>
          </a:solidFill>
          <a:ln w="25400">
            <a:solidFill>
              <a:srgbClr val="E8923A"/>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2057400"/>
            <a:ext cx="3474720" cy="384048"/>
          </a:xfrm>
          <a:prstGeom prst="rect">
            <a:avLst/>
          </a:prstGeom>
          <a:noFill/>
        </p:spPr>
        <p:txBody>
          <a:bodyPr wrap="none">
            <a:spAutoFit/>
          </a:bodyPr>
          <a:lstStyle/>
          <a:p>
            <a:pPr algn="ctr"/>
            <a:r>
              <a:rPr sz="1300" b="1">
                <a:solidFill>
                  <a:srgbClr val="FFFFFF"/>
                </a:solidFill>
                <a:latin typeface="Calibri"/>
              </a:rPr>
              <a:t>Captain America</a:t>
            </a:r>
          </a:p>
        </p:txBody>
      </p:sp>
      <p:sp>
        <p:nvSpPr>
          <p:cNvPr id="11" name="TextBox 10"/>
          <p:cNvSpPr txBox="1"/>
          <p:nvPr/>
        </p:nvSpPr>
        <p:spPr>
          <a:xfrm>
            <a:off x="594360" y="2404872"/>
            <a:ext cx="3474720" cy="365760"/>
          </a:xfrm>
          <a:prstGeom prst="rect">
            <a:avLst/>
          </a:prstGeom>
          <a:noFill/>
        </p:spPr>
        <p:txBody>
          <a:bodyPr wrap="none">
            <a:spAutoFit/>
          </a:bodyPr>
          <a:lstStyle/>
          <a:p>
            <a:pPr algn="ctr"/>
            <a:r>
              <a:rPr sz="1100" i="1">
                <a:solidFill>
                  <a:srgbClr val="E8923A"/>
                </a:solidFill>
                <a:latin typeface="Trebuchet MS"/>
              </a:rPr>
              <a:t>Anthony Mackie</a:t>
            </a:r>
          </a:p>
        </p:txBody>
      </p:sp>
      <p:sp>
        <p:nvSpPr>
          <p:cNvPr id="12" name="Rectangle 11"/>
          <p:cNvSpPr/>
          <p:nvPr/>
        </p:nvSpPr>
        <p:spPr>
          <a:xfrm>
            <a:off x="4297680" y="1005840"/>
            <a:ext cx="3657600" cy="1783080"/>
          </a:xfrm>
          <a:prstGeom prst="rect">
            <a:avLst/>
          </a:prstGeom>
          <a:solidFill>
            <a:srgbClr val="111111">
              <a:alpha val="84705"/>
            </a:srgbClr>
          </a:solidFill>
          <a:ln w="25400">
            <a:solidFill>
              <a:srgbClr val="E8923A"/>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89120" y="2057400"/>
            <a:ext cx="3474720" cy="384048"/>
          </a:xfrm>
          <a:prstGeom prst="rect">
            <a:avLst/>
          </a:prstGeom>
          <a:noFill/>
        </p:spPr>
        <p:txBody>
          <a:bodyPr wrap="none">
            <a:spAutoFit/>
          </a:bodyPr>
          <a:lstStyle/>
          <a:p>
            <a:pPr algn="ctr"/>
            <a:r>
              <a:rPr sz="1300" b="1">
                <a:solidFill>
                  <a:srgbClr val="FFFFFF"/>
                </a:solidFill>
                <a:latin typeface="Calibri"/>
              </a:rPr>
              <a:t>Thor</a:t>
            </a:r>
          </a:p>
        </p:txBody>
      </p:sp>
      <p:sp>
        <p:nvSpPr>
          <p:cNvPr id="14" name="TextBox 13"/>
          <p:cNvSpPr txBox="1"/>
          <p:nvPr/>
        </p:nvSpPr>
        <p:spPr>
          <a:xfrm>
            <a:off x="4389120" y="2404872"/>
            <a:ext cx="3474720" cy="365760"/>
          </a:xfrm>
          <a:prstGeom prst="rect">
            <a:avLst/>
          </a:prstGeom>
          <a:noFill/>
        </p:spPr>
        <p:txBody>
          <a:bodyPr wrap="none">
            <a:spAutoFit/>
          </a:bodyPr>
          <a:lstStyle/>
          <a:p>
            <a:pPr algn="ctr"/>
            <a:r>
              <a:rPr sz="1100" i="1">
                <a:solidFill>
                  <a:srgbClr val="E8923A"/>
                </a:solidFill>
                <a:latin typeface="Trebuchet MS"/>
              </a:rPr>
              <a:t>Chris Hemsworth</a:t>
            </a:r>
          </a:p>
        </p:txBody>
      </p:sp>
      <p:sp>
        <p:nvSpPr>
          <p:cNvPr id="15" name="Rectangle 14"/>
          <p:cNvSpPr/>
          <p:nvPr/>
        </p:nvSpPr>
        <p:spPr>
          <a:xfrm>
            <a:off x="8092440" y="1005840"/>
            <a:ext cx="3657600" cy="1783080"/>
          </a:xfrm>
          <a:prstGeom prst="rect">
            <a:avLst/>
          </a:prstGeom>
          <a:solidFill>
            <a:srgbClr val="111111">
              <a:alpha val="84705"/>
            </a:srgbClr>
          </a:solidFill>
          <a:ln w="25400">
            <a:solidFill>
              <a:srgbClr val="E8923A"/>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83880" y="2057400"/>
            <a:ext cx="3474720" cy="384048"/>
          </a:xfrm>
          <a:prstGeom prst="rect">
            <a:avLst/>
          </a:prstGeom>
          <a:noFill/>
        </p:spPr>
        <p:txBody>
          <a:bodyPr wrap="none">
            <a:spAutoFit/>
          </a:bodyPr>
          <a:lstStyle/>
          <a:p>
            <a:pPr algn="ctr"/>
            <a:r>
              <a:rPr sz="1300" b="1">
                <a:solidFill>
                  <a:srgbClr val="FFFFFF"/>
                </a:solidFill>
                <a:latin typeface="Calibri"/>
              </a:rPr>
              <a:t>Spider-Man</a:t>
            </a:r>
          </a:p>
        </p:txBody>
      </p:sp>
      <p:sp>
        <p:nvSpPr>
          <p:cNvPr id="17" name="TextBox 16"/>
          <p:cNvSpPr txBox="1"/>
          <p:nvPr/>
        </p:nvSpPr>
        <p:spPr>
          <a:xfrm>
            <a:off x="8183880" y="2404872"/>
            <a:ext cx="3474720" cy="365760"/>
          </a:xfrm>
          <a:prstGeom prst="rect">
            <a:avLst/>
          </a:prstGeom>
          <a:noFill/>
        </p:spPr>
        <p:txBody>
          <a:bodyPr wrap="none">
            <a:spAutoFit/>
          </a:bodyPr>
          <a:lstStyle/>
          <a:p>
            <a:pPr algn="ctr"/>
            <a:r>
              <a:rPr sz="1100" i="1">
                <a:solidFill>
                  <a:srgbClr val="E8923A"/>
                </a:solidFill>
                <a:latin typeface="Trebuchet MS"/>
              </a:rPr>
              <a:t>Tom Holland</a:t>
            </a:r>
          </a:p>
        </p:txBody>
      </p:sp>
      <p:sp>
        <p:nvSpPr>
          <p:cNvPr id="18" name="Rectangle 17"/>
          <p:cNvSpPr/>
          <p:nvPr/>
        </p:nvSpPr>
        <p:spPr>
          <a:xfrm>
            <a:off x="502920" y="2898648"/>
            <a:ext cx="3657600" cy="1783080"/>
          </a:xfrm>
          <a:prstGeom prst="rect">
            <a:avLst/>
          </a:prstGeom>
          <a:solidFill>
            <a:srgbClr val="111111">
              <a:alpha val="84705"/>
            </a:srgbClr>
          </a:solidFill>
          <a:ln w="25400">
            <a:solidFill>
              <a:srgbClr val="E8923A"/>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3950208"/>
            <a:ext cx="3474720" cy="384048"/>
          </a:xfrm>
          <a:prstGeom prst="rect">
            <a:avLst/>
          </a:prstGeom>
          <a:noFill/>
        </p:spPr>
        <p:txBody>
          <a:bodyPr wrap="none">
            <a:spAutoFit/>
          </a:bodyPr>
          <a:lstStyle/>
          <a:p>
            <a:pPr algn="ctr"/>
            <a:r>
              <a:rPr sz="1300" b="1">
                <a:solidFill>
                  <a:srgbClr val="FFFFFF"/>
                </a:solidFill>
                <a:latin typeface="Calibri"/>
              </a:rPr>
              <a:t>Shuri</a:t>
            </a:r>
          </a:p>
        </p:txBody>
      </p:sp>
      <p:sp>
        <p:nvSpPr>
          <p:cNvPr id="20" name="TextBox 19"/>
          <p:cNvSpPr txBox="1"/>
          <p:nvPr/>
        </p:nvSpPr>
        <p:spPr>
          <a:xfrm>
            <a:off x="594360" y="4297680"/>
            <a:ext cx="3474720" cy="365760"/>
          </a:xfrm>
          <a:prstGeom prst="rect">
            <a:avLst/>
          </a:prstGeom>
          <a:noFill/>
        </p:spPr>
        <p:txBody>
          <a:bodyPr wrap="none">
            <a:spAutoFit/>
          </a:bodyPr>
          <a:lstStyle/>
          <a:p>
            <a:pPr algn="ctr"/>
            <a:r>
              <a:rPr sz="1100" i="1">
                <a:solidFill>
                  <a:srgbClr val="E8923A"/>
                </a:solidFill>
                <a:latin typeface="Trebuchet MS"/>
              </a:rPr>
              <a:t>Letitia Wright</a:t>
            </a:r>
          </a:p>
        </p:txBody>
      </p:sp>
      <p:sp>
        <p:nvSpPr>
          <p:cNvPr id="21" name="Rectangle 20"/>
          <p:cNvSpPr/>
          <p:nvPr/>
        </p:nvSpPr>
        <p:spPr>
          <a:xfrm>
            <a:off x="4297680" y="2898648"/>
            <a:ext cx="3657600" cy="1783080"/>
          </a:xfrm>
          <a:prstGeom prst="rect">
            <a:avLst/>
          </a:prstGeom>
          <a:solidFill>
            <a:srgbClr val="111111">
              <a:alpha val="84705"/>
            </a:srgbClr>
          </a:solidFill>
          <a:ln w="25400">
            <a:solidFill>
              <a:srgbClr val="E8923A"/>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89120" y="3950208"/>
            <a:ext cx="3474720" cy="384048"/>
          </a:xfrm>
          <a:prstGeom prst="rect">
            <a:avLst/>
          </a:prstGeom>
          <a:noFill/>
        </p:spPr>
        <p:txBody>
          <a:bodyPr wrap="none">
            <a:spAutoFit/>
          </a:bodyPr>
          <a:lstStyle/>
          <a:p>
            <a:pPr algn="ctr"/>
            <a:r>
              <a:rPr sz="1300" b="1">
                <a:solidFill>
                  <a:srgbClr val="FFFFFF"/>
                </a:solidFill>
                <a:latin typeface="Calibri"/>
              </a:rPr>
              <a:t>Loki</a:t>
            </a:r>
          </a:p>
        </p:txBody>
      </p:sp>
      <p:sp>
        <p:nvSpPr>
          <p:cNvPr id="23" name="TextBox 22"/>
          <p:cNvSpPr txBox="1"/>
          <p:nvPr/>
        </p:nvSpPr>
        <p:spPr>
          <a:xfrm>
            <a:off x="4389120" y="4297680"/>
            <a:ext cx="3474720" cy="365760"/>
          </a:xfrm>
          <a:prstGeom prst="rect">
            <a:avLst/>
          </a:prstGeom>
          <a:noFill/>
        </p:spPr>
        <p:txBody>
          <a:bodyPr wrap="none">
            <a:spAutoFit/>
          </a:bodyPr>
          <a:lstStyle/>
          <a:p>
            <a:pPr algn="ctr"/>
            <a:r>
              <a:rPr sz="1100" i="1">
                <a:solidFill>
                  <a:srgbClr val="E8923A"/>
                </a:solidFill>
                <a:latin typeface="Trebuchet MS"/>
              </a:rPr>
              <a:t>Tom Hiddleston</a:t>
            </a:r>
          </a:p>
        </p:txBody>
      </p:sp>
      <p:sp>
        <p:nvSpPr>
          <p:cNvPr id="24" name="Rectangle 23"/>
          <p:cNvSpPr/>
          <p:nvPr/>
        </p:nvSpPr>
        <p:spPr>
          <a:xfrm>
            <a:off x="8092440" y="2898648"/>
            <a:ext cx="3657600" cy="1783080"/>
          </a:xfrm>
          <a:prstGeom prst="rect">
            <a:avLst/>
          </a:prstGeom>
          <a:solidFill>
            <a:srgbClr val="111111">
              <a:alpha val="84705"/>
            </a:srgbClr>
          </a:solidFill>
          <a:ln w="25400">
            <a:solidFill>
              <a:srgbClr val="E8923A"/>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83880" y="3950208"/>
            <a:ext cx="3474720" cy="384048"/>
          </a:xfrm>
          <a:prstGeom prst="rect">
            <a:avLst/>
          </a:prstGeom>
          <a:noFill/>
        </p:spPr>
        <p:txBody>
          <a:bodyPr wrap="none">
            <a:spAutoFit/>
          </a:bodyPr>
          <a:lstStyle/>
          <a:p>
            <a:pPr algn="ctr"/>
            <a:r>
              <a:rPr sz="1300" b="1">
                <a:solidFill>
                  <a:srgbClr val="FFFFFF"/>
                </a:solidFill>
                <a:latin typeface="Calibri"/>
              </a:rPr>
              <a:t>Ant-Man</a:t>
            </a:r>
          </a:p>
        </p:txBody>
      </p:sp>
      <p:sp>
        <p:nvSpPr>
          <p:cNvPr id="26" name="TextBox 25"/>
          <p:cNvSpPr txBox="1"/>
          <p:nvPr/>
        </p:nvSpPr>
        <p:spPr>
          <a:xfrm>
            <a:off x="8183880" y="4297680"/>
            <a:ext cx="3474720" cy="365760"/>
          </a:xfrm>
          <a:prstGeom prst="rect">
            <a:avLst/>
          </a:prstGeom>
          <a:noFill/>
        </p:spPr>
        <p:txBody>
          <a:bodyPr wrap="none">
            <a:spAutoFit/>
          </a:bodyPr>
          <a:lstStyle/>
          <a:p>
            <a:pPr algn="ctr"/>
            <a:r>
              <a:rPr sz="1100" i="1">
                <a:solidFill>
                  <a:srgbClr val="E8923A"/>
                </a:solidFill>
                <a:latin typeface="Trebuchet MS"/>
              </a:rPr>
              <a:t>Paul Rudd</a:t>
            </a:r>
          </a:p>
        </p:txBody>
      </p:sp>
      <p:sp>
        <p:nvSpPr>
          <p:cNvPr id="27" name="Rectangle 26"/>
          <p:cNvSpPr/>
          <p:nvPr/>
        </p:nvSpPr>
        <p:spPr>
          <a:xfrm>
            <a:off x="502920" y="4791456"/>
            <a:ext cx="3657600" cy="1783080"/>
          </a:xfrm>
          <a:prstGeom prst="rect">
            <a:avLst/>
          </a:prstGeom>
          <a:solidFill>
            <a:srgbClr val="111111">
              <a:alpha val="84705"/>
            </a:srgbClr>
          </a:solidFill>
          <a:ln w="25400">
            <a:solidFill>
              <a:srgbClr val="E8923A"/>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4360" y="5843016"/>
            <a:ext cx="3474720" cy="384048"/>
          </a:xfrm>
          <a:prstGeom prst="rect">
            <a:avLst/>
          </a:prstGeom>
          <a:noFill/>
        </p:spPr>
        <p:txBody>
          <a:bodyPr wrap="none">
            <a:spAutoFit/>
          </a:bodyPr>
          <a:lstStyle/>
          <a:p>
            <a:pPr algn="ctr"/>
            <a:r>
              <a:rPr sz="1300" b="1">
                <a:solidFill>
                  <a:srgbClr val="FFFFFF"/>
                </a:solidFill>
                <a:latin typeface="Calibri"/>
              </a:rPr>
              <a:t>Yelena Belova</a:t>
            </a:r>
          </a:p>
        </p:txBody>
      </p:sp>
      <p:sp>
        <p:nvSpPr>
          <p:cNvPr id="29" name="TextBox 28"/>
          <p:cNvSpPr txBox="1"/>
          <p:nvPr/>
        </p:nvSpPr>
        <p:spPr>
          <a:xfrm>
            <a:off x="594360" y="6190488"/>
            <a:ext cx="3474720" cy="365760"/>
          </a:xfrm>
          <a:prstGeom prst="rect">
            <a:avLst/>
          </a:prstGeom>
          <a:noFill/>
        </p:spPr>
        <p:txBody>
          <a:bodyPr wrap="none">
            <a:spAutoFit/>
          </a:bodyPr>
          <a:lstStyle/>
          <a:p>
            <a:pPr algn="ctr"/>
            <a:r>
              <a:rPr sz="1100" i="1">
                <a:solidFill>
                  <a:srgbClr val="E8923A"/>
                </a:solidFill>
                <a:latin typeface="Trebuchet MS"/>
              </a:rPr>
              <a:t>Florence Pugh</a:t>
            </a:r>
          </a:p>
        </p:txBody>
      </p:sp>
      <p:sp>
        <p:nvSpPr>
          <p:cNvPr id="30" name="Rectangle 29"/>
          <p:cNvSpPr/>
          <p:nvPr/>
        </p:nvSpPr>
        <p:spPr>
          <a:xfrm>
            <a:off x="4297680" y="4791456"/>
            <a:ext cx="3657600" cy="1783080"/>
          </a:xfrm>
          <a:prstGeom prst="rect">
            <a:avLst/>
          </a:prstGeom>
          <a:solidFill>
            <a:srgbClr val="111111">
              <a:alpha val="84705"/>
            </a:srgbClr>
          </a:solidFill>
          <a:ln w="25400">
            <a:solidFill>
              <a:srgbClr val="E8923A"/>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89120" y="5843016"/>
            <a:ext cx="3474720" cy="384048"/>
          </a:xfrm>
          <a:prstGeom prst="rect">
            <a:avLst/>
          </a:prstGeom>
          <a:noFill/>
        </p:spPr>
        <p:txBody>
          <a:bodyPr wrap="none">
            <a:spAutoFit/>
          </a:bodyPr>
          <a:lstStyle/>
          <a:p>
            <a:pPr algn="ctr"/>
            <a:r>
              <a:rPr sz="1300" b="1">
                <a:solidFill>
                  <a:srgbClr val="FFFFFF"/>
                </a:solidFill>
                <a:latin typeface="Calibri"/>
              </a:rPr>
              <a:t>Sentry</a:t>
            </a:r>
          </a:p>
        </p:txBody>
      </p:sp>
      <p:sp>
        <p:nvSpPr>
          <p:cNvPr id="32" name="TextBox 31"/>
          <p:cNvSpPr txBox="1"/>
          <p:nvPr/>
        </p:nvSpPr>
        <p:spPr>
          <a:xfrm>
            <a:off x="4389120" y="6190488"/>
            <a:ext cx="3474720" cy="365760"/>
          </a:xfrm>
          <a:prstGeom prst="rect">
            <a:avLst/>
          </a:prstGeom>
          <a:noFill/>
        </p:spPr>
        <p:txBody>
          <a:bodyPr wrap="none">
            <a:spAutoFit/>
          </a:bodyPr>
          <a:lstStyle/>
          <a:p>
            <a:pPr algn="ctr"/>
            <a:r>
              <a:rPr sz="1100" i="1">
                <a:solidFill>
                  <a:srgbClr val="E8923A"/>
                </a:solidFill>
                <a:latin typeface="Trebuchet MS"/>
              </a:rPr>
              <a:t>Lewis Pullman</a:t>
            </a:r>
          </a:p>
        </p:txBody>
      </p:sp>
      <p:sp>
        <p:nvSpPr>
          <p:cNvPr id="33" name="Rectangle 32"/>
          <p:cNvSpPr/>
          <p:nvPr/>
        </p:nvSpPr>
        <p:spPr>
          <a:xfrm>
            <a:off x="8092440" y="4791456"/>
            <a:ext cx="3657600" cy="1783080"/>
          </a:xfrm>
          <a:prstGeom prst="rect">
            <a:avLst/>
          </a:prstGeom>
          <a:solidFill>
            <a:srgbClr val="111111">
              <a:alpha val="84705"/>
            </a:srgbClr>
          </a:solidFill>
          <a:ln w="25400">
            <a:solidFill>
              <a:srgbClr val="E8923A"/>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83880" y="5843016"/>
            <a:ext cx="3474720" cy="384048"/>
          </a:xfrm>
          <a:prstGeom prst="rect">
            <a:avLst/>
          </a:prstGeom>
          <a:noFill/>
        </p:spPr>
        <p:txBody>
          <a:bodyPr wrap="none">
            <a:spAutoFit/>
          </a:bodyPr>
          <a:lstStyle/>
          <a:p>
            <a:pPr algn="ctr"/>
            <a:r>
              <a:rPr sz="1300" b="1">
                <a:solidFill>
                  <a:srgbClr val="FFFFFF"/>
                </a:solidFill>
                <a:latin typeface="Calibri"/>
              </a:rPr>
              <a:t>Namor</a:t>
            </a:r>
          </a:p>
        </p:txBody>
      </p:sp>
      <p:sp>
        <p:nvSpPr>
          <p:cNvPr id="35" name="TextBox 34"/>
          <p:cNvSpPr txBox="1"/>
          <p:nvPr/>
        </p:nvSpPr>
        <p:spPr>
          <a:xfrm>
            <a:off x="8183880" y="6190488"/>
            <a:ext cx="3474720" cy="365760"/>
          </a:xfrm>
          <a:prstGeom prst="rect">
            <a:avLst/>
          </a:prstGeom>
          <a:noFill/>
        </p:spPr>
        <p:txBody>
          <a:bodyPr wrap="none">
            <a:spAutoFit/>
          </a:bodyPr>
          <a:lstStyle/>
          <a:p>
            <a:pPr algn="ctr"/>
            <a:r>
              <a:rPr sz="1100" i="1">
                <a:solidFill>
                  <a:srgbClr val="E8923A"/>
                </a:solidFill>
                <a:latin typeface="Trebuchet MS"/>
              </a:rPr>
              <a:t>Tenoch Huerta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4114800"/>
            <a:ext cx="12161520" cy="2743200"/>
          </a:xfrm>
          <a:prstGeom prst="rect">
            <a:avLst/>
          </a:prstGeom>
          <a:gradFill>
            <a:gsLst>
              <a:gs pos="0">
                <a:srgbClr val="FFD700">
                  <a:alpha val="5000"/>
                </a:srgbClr>
              </a:gs>
              <a:gs pos="15000">
                <a:srgbClr val="301800">
                  <a:alpha val="40000"/>
                </a:srgbClr>
              </a:gs>
              <a:gs pos="100000">
                <a:srgbClr val="000000"/>
              </a:gs>
            </a:gsLst>
            <a:lin ang="54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33087"/>
            <a:ext cx="12161520" cy="25400"/>
          </a:xfrm>
          <a:prstGeom prst="rect">
            <a:avLst/>
          </a:prstGeom>
          <a:solidFill>
            <a:srgbClr val="FFD700">
              <a:alpha val="86274"/>
            </a:srgbClr>
          </a:solidFill>
          <a:ln>
            <a:noFill/>
          </a:ln>
          <a:effectLst>
            <a:glow rad="152400">
              <a:srgbClr val="FFD700">
                <a:alpha val="8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rot="1800000">
            <a:off x="7315200" y="-914400"/>
            <a:ext cx="2743200" cy="9144000"/>
          </a:xfrm>
          <a:prstGeom prst="rect">
            <a:avLst/>
          </a:prstGeom>
          <a:solidFill>
            <a:srgbClr val="FFD700">
              <a:alpha val="1176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rot="-1680000">
            <a:off x="1828800" y="-914400"/>
            <a:ext cx="1828800" cy="8229600"/>
          </a:xfrm>
          <a:prstGeom prst="rect">
            <a:avLst/>
          </a:prstGeom>
          <a:solidFill>
            <a:srgbClr val="FFD700">
              <a:alpha val="1176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914400"/>
            <a:ext cx="3657600" cy="4572000"/>
          </a:xfrm>
          <a:prstGeom prst="rect">
            <a:avLst/>
          </a:prstGeom>
          <a:solidFill>
            <a:srgbClr val="111111">
              <a:alpha val="54901"/>
            </a:srgbClr>
          </a:solidFill>
          <a:ln w="12700">
            <a:solidFill>
              <a:srgbClr val="FFD700">
                <a:alpha val="49803"/>
              </a:srgbClr>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0" y="1097280"/>
            <a:ext cx="3474720" cy="4389120"/>
          </a:xfrm>
          <a:prstGeom prst="rect">
            <a:avLst/>
          </a:prstGeom>
          <a:solidFill>
            <a:srgbClr val="111111">
              <a:alpha val="54901"/>
            </a:srgbClr>
          </a:solidFill>
          <a:ln w="12700">
            <a:solidFill>
              <a:srgbClr val="FFD700">
                <a:alpha val="49803"/>
              </a:srgbClr>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2880360" y="1097280"/>
            <a:ext cx="6400800" cy="3291840"/>
          </a:xfrm>
          <a:prstGeom prst="ellipse">
            <a:avLst/>
          </a:prstGeom>
          <a:solidFill>
            <a:srgbClr val="FFD700">
              <a:alpha val="33333"/>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82880"/>
            <a:ext cx="10332720" cy="777240"/>
          </a:xfrm>
          <a:prstGeom prst="rect">
            <a:avLst/>
          </a:prstGeom>
          <a:noFill/>
        </p:spPr>
        <p:txBody>
          <a:bodyPr wrap="square">
            <a:spAutoFit/>
          </a:bodyPr>
          <a:lstStyle/>
          <a:p>
            <a:pPr algn="ctr"/>
            <a:r>
              <a:rPr sz="4600" b="1">
                <a:solidFill>
                  <a:srgbClr val="FFD700"/>
                </a:solidFill>
                <a:latin typeface="Impact"/>
              </a:rPr>
              <a:t>THE FANTASTIC FOUR</a:t>
              <a:effectLst>
                <a:glow rad="127000">
                  <a:srgbClr val="E8923A">
                    <a:alpha val="85000"/>
                  </a:srgbClr>
                </a:glow>
              </a:effectLst>
            </a:r>
          </a:p>
        </p:txBody>
      </p:sp>
      <p:sp>
        <p:nvSpPr>
          <p:cNvPr id="10" name="Rectangle 9"/>
          <p:cNvSpPr/>
          <p:nvPr/>
        </p:nvSpPr>
        <p:spPr>
          <a:xfrm>
            <a:off x="1371600" y="1005840"/>
            <a:ext cx="8869680" cy="3200400"/>
          </a:xfrm>
          <a:prstGeom prst="rect">
            <a:avLst/>
          </a:prstGeom>
          <a:solidFill>
            <a:srgbClr val="111111">
              <a:alpha val="84705"/>
            </a:srgbClr>
          </a:solidFill>
          <a:ln w="25400">
            <a:solidFill>
              <a:srgbClr val="FFD700"/>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645920" y="1280160"/>
            <a:ext cx="8321040" cy="2651760"/>
          </a:xfrm>
          <a:prstGeom prst="rect">
            <a:avLst/>
          </a:prstGeom>
          <a:noFill/>
        </p:spPr>
        <p:txBody>
          <a:bodyPr wrap="square">
            <a:spAutoFit/>
          </a:bodyPr>
          <a:lstStyle/>
          <a:p>
            <a:pPr algn="ctr"/>
            <a:r>
              <a:rPr sz="1600" b="0" i="0">
                <a:solidFill>
                  <a:srgbClr val="F5E6D0"/>
                </a:solidFill>
                <a:latin typeface="Calibri"/>
              </a:rPr>
              <a:t>Reed Richards · Sue Storm · Human Torch · The Thing
The First Family of Marvel finally joins the MCU, arriving at the critical moment when Doctor Doom — once Reed's closest rival — threatens all of existence.</a:t>
            </a:r>
          </a:p>
        </p:txBody>
      </p:sp>
      <p:sp>
        <p:nvSpPr>
          <p:cNvPr id="12" name="Rectangle 11"/>
          <p:cNvSpPr/>
          <p:nvPr/>
        </p:nvSpPr>
        <p:spPr>
          <a:xfrm>
            <a:off x="320040" y="4434840"/>
            <a:ext cx="2788920" cy="1371600"/>
          </a:xfrm>
          <a:prstGeom prst="rect">
            <a:avLst/>
          </a:prstGeom>
          <a:solidFill>
            <a:srgbClr val="111111">
              <a:alpha val="84705"/>
            </a:srgbClr>
          </a:solidFill>
          <a:ln w="25400">
            <a:solidFill>
              <a:srgbClr val="FFD700"/>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1480" y="5074920"/>
            <a:ext cx="2606040" cy="384048"/>
          </a:xfrm>
          <a:prstGeom prst="rect">
            <a:avLst/>
          </a:prstGeom>
          <a:noFill/>
        </p:spPr>
        <p:txBody>
          <a:bodyPr wrap="none">
            <a:spAutoFit/>
          </a:bodyPr>
          <a:lstStyle/>
          <a:p>
            <a:pPr algn="ctr"/>
            <a:r>
              <a:rPr sz="1300" b="1">
                <a:solidFill>
                  <a:srgbClr val="FFFFFF"/>
                </a:solidFill>
                <a:latin typeface="Calibri"/>
              </a:rPr>
              <a:t>Reed Richards</a:t>
            </a:r>
          </a:p>
        </p:txBody>
      </p:sp>
      <p:sp>
        <p:nvSpPr>
          <p:cNvPr id="14" name="TextBox 13"/>
          <p:cNvSpPr txBox="1"/>
          <p:nvPr/>
        </p:nvSpPr>
        <p:spPr>
          <a:xfrm>
            <a:off x="411480" y="5422392"/>
            <a:ext cx="2606040" cy="365760"/>
          </a:xfrm>
          <a:prstGeom prst="rect">
            <a:avLst/>
          </a:prstGeom>
          <a:noFill/>
        </p:spPr>
        <p:txBody>
          <a:bodyPr wrap="none">
            <a:spAutoFit/>
          </a:bodyPr>
          <a:lstStyle/>
          <a:p>
            <a:pPr algn="ctr"/>
            <a:r>
              <a:rPr sz="1100" i="1">
                <a:solidFill>
                  <a:srgbClr val="E8923A"/>
                </a:solidFill>
                <a:latin typeface="Trebuchet MS"/>
              </a:rPr>
              <a:t>Pedro Pascal</a:t>
            </a:r>
          </a:p>
        </p:txBody>
      </p:sp>
      <p:sp>
        <p:nvSpPr>
          <p:cNvPr id="15" name="Rectangle 14"/>
          <p:cNvSpPr/>
          <p:nvPr/>
        </p:nvSpPr>
        <p:spPr>
          <a:xfrm>
            <a:off x="3218688" y="4434840"/>
            <a:ext cx="2788920" cy="1371600"/>
          </a:xfrm>
          <a:prstGeom prst="rect">
            <a:avLst/>
          </a:prstGeom>
          <a:solidFill>
            <a:srgbClr val="111111">
              <a:alpha val="84705"/>
            </a:srgbClr>
          </a:solidFill>
          <a:ln w="25400">
            <a:solidFill>
              <a:srgbClr val="FFD700"/>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10128" y="5074920"/>
            <a:ext cx="2606040" cy="384048"/>
          </a:xfrm>
          <a:prstGeom prst="rect">
            <a:avLst/>
          </a:prstGeom>
          <a:noFill/>
        </p:spPr>
        <p:txBody>
          <a:bodyPr wrap="none">
            <a:spAutoFit/>
          </a:bodyPr>
          <a:lstStyle/>
          <a:p>
            <a:pPr algn="ctr"/>
            <a:r>
              <a:rPr sz="1300" b="1">
                <a:solidFill>
                  <a:srgbClr val="FFFFFF"/>
                </a:solidFill>
                <a:latin typeface="Calibri"/>
              </a:rPr>
              <a:t>Sue Storm</a:t>
            </a:r>
          </a:p>
        </p:txBody>
      </p:sp>
      <p:sp>
        <p:nvSpPr>
          <p:cNvPr id="17" name="TextBox 16"/>
          <p:cNvSpPr txBox="1"/>
          <p:nvPr/>
        </p:nvSpPr>
        <p:spPr>
          <a:xfrm>
            <a:off x="3310128" y="5422392"/>
            <a:ext cx="2606040" cy="365760"/>
          </a:xfrm>
          <a:prstGeom prst="rect">
            <a:avLst/>
          </a:prstGeom>
          <a:noFill/>
        </p:spPr>
        <p:txBody>
          <a:bodyPr wrap="none">
            <a:spAutoFit/>
          </a:bodyPr>
          <a:lstStyle/>
          <a:p>
            <a:pPr algn="ctr"/>
            <a:r>
              <a:rPr sz="1100" i="1">
                <a:solidFill>
                  <a:srgbClr val="E8923A"/>
                </a:solidFill>
                <a:latin typeface="Trebuchet MS"/>
              </a:rPr>
              <a:t>Vanessa Kirby</a:t>
            </a:r>
          </a:p>
        </p:txBody>
      </p:sp>
      <p:sp>
        <p:nvSpPr>
          <p:cNvPr id="18" name="Rectangle 17"/>
          <p:cNvSpPr/>
          <p:nvPr/>
        </p:nvSpPr>
        <p:spPr>
          <a:xfrm>
            <a:off x="6117336" y="4434840"/>
            <a:ext cx="2788920" cy="1371600"/>
          </a:xfrm>
          <a:prstGeom prst="rect">
            <a:avLst/>
          </a:prstGeom>
          <a:solidFill>
            <a:srgbClr val="111111">
              <a:alpha val="84705"/>
            </a:srgbClr>
          </a:solidFill>
          <a:ln w="25400">
            <a:solidFill>
              <a:srgbClr val="FFD700"/>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08776" y="5074920"/>
            <a:ext cx="2606040" cy="384048"/>
          </a:xfrm>
          <a:prstGeom prst="rect">
            <a:avLst/>
          </a:prstGeom>
          <a:noFill/>
        </p:spPr>
        <p:txBody>
          <a:bodyPr wrap="none">
            <a:spAutoFit/>
          </a:bodyPr>
          <a:lstStyle/>
          <a:p>
            <a:pPr algn="ctr"/>
            <a:r>
              <a:rPr sz="1300" b="1">
                <a:solidFill>
                  <a:srgbClr val="FFFFFF"/>
                </a:solidFill>
                <a:latin typeface="Calibri"/>
              </a:rPr>
              <a:t>Human Torch</a:t>
            </a:r>
          </a:p>
        </p:txBody>
      </p:sp>
      <p:sp>
        <p:nvSpPr>
          <p:cNvPr id="20" name="TextBox 19"/>
          <p:cNvSpPr txBox="1"/>
          <p:nvPr/>
        </p:nvSpPr>
        <p:spPr>
          <a:xfrm>
            <a:off x="6208776" y="5422392"/>
            <a:ext cx="2606040" cy="365760"/>
          </a:xfrm>
          <a:prstGeom prst="rect">
            <a:avLst/>
          </a:prstGeom>
          <a:noFill/>
        </p:spPr>
        <p:txBody>
          <a:bodyPr wrap="none">
            <a:spAutoFit/>
          </a:bodyPr>
          <a:lstStyle/>
          <a:p>
            <a:pPr algn="ctr"/>
            <a:r>
              <a:rPr sz="1100" i="1">
                <a:solidFill>
                  <a:srgbClr val="E8923A"/>
                </a:solidFill>
                <a:latin typeface="Trebuchet MS"/>
              </a:rPr>
              <a:t>Joseph Quinn</a:t>
            </a:r>
          </a:p>
        </p:txBody>
      </p:sp>
      <p:sp>
        <p:nvSpPr>
          <p:cNvPr id="21" name="Rectangle 20"/>
          <p:cNvSpPr/>
          <p:nvPr/>
        </p:nvSpPr>
        <p:spPr>
          <a:xfrm>
            <a:off x="9015984" y="4434840"/>
            <a:ext cx="2788920" cy="1371600"/>
          </a:xfrm>
          <a:prstGeom prst="rect">
            <a:avLst/>
          </a:prstGeom>
          <a:solidFill>
            <a:srgbClr val="111111">
              <a:alpha val="84705"/>
            </a:srgbClr>
          </a:solidFill>
          <a:ln w="25400">
            <a:solidFill>
              <a:srgbClr val="FFD700"/>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07424" y="5074920"/>
            <a:ext cx="2606040" cy="384048"/>
          </a:xfrm>
          <a:prstGeom prst="rect">
            <a:avLst/>
          </a:prstGeom>
          <a:noFill/>
        </p:spPr>
        <p:txBody>
          <a:bodyPr wrap="none">
            <a:spAutoFit/>
          </a:bodyPr>
          <a:lstStyle/>
          <a:p>
            <a:pPr algn="ctr"/>
            <a:r>
              <a:rPr sz="1300" b="1">
                <a:solidFill>
                  <a:srgbClr val="FFFFFF"/>
                </a:solidFill>
                <a:latin typeface="Calibri"/>
              </a:rPr>
              <a:t>The Thing</a:t>
            </a:r>
          </a:p>
        </p:txBody>
      </p:sp>
      <p:sp>
        <p:nvSpPr>
          <p:cNvPr id="23" name="TextBox 22"/>
          <p:cNvSpPr txBox="1"/>
          <p:nvPr/>
        </p:nvSpPr>
        <p:spPr>
          <a:xfrm>
            <a:off x="9107424" y="5422392"/>
            <a:ext cx="2606040" cy="365760"/>
          </a:xfrm>
          <a:prstGeom prst="rect">
            <a:avLst/>
          </a:prstGeom>
          <a:noFill/>
        </p:spPr>
        <p:txBody>
          <a:bodyPr wrap="none">
            <a:spAutoFit/>
          </a:bodyPr>
          <a:lstStyle/>
          <a:p>
            <a:pPr algn="ctr"/>
            <a:r>
              <a:rPr sz="1100" i="1">
                <a:solidFill>
                  <a:srgbClr val="E8923A"/>
                </a:solidFill>
                <a:latin typeface="Trebuchet MS"/>
              </a:rPr>
              <a:t>Ebon Moss-Bachrach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4114800"/>
            <a:ext cx="12161520" cy="2743200"/>
          </a:xfrm>
          <a:prstGeom prst="rect">
            <a:avLst/>
          </a:prstGeom>
          <a:gradFill>
            <a:gsLst>
              <a:gs pos="0">
                <a:srgbClr val="7B1FA2">
                  <a:alpha val="5000"/>
                </a:srgbClr>
              </a:gs>
              <a:gs pos="15000">
                <a:srgbClr val="301800">
                  <a:alpha val="40000"/>
                </a:srgbClr>
              </a:gs>
              <a:gs pos="100000">
                <a:srgbClr val="000000"/>
              </a:gs>
            </a:gsLst>
            <a:lin ang="54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33087"/>
            <a:ext cx="12161520" cy="25400"/>
          </a:xfrm>
          <a:prstGeom prst="rect">
            <a:avLst/>
          </a:prstGeom>
          <a:solidFill>
            <a:srgbClr val="7B1FA2">
              <a:alpha val="86274"/>
            </a:srgbClr>
          </a:solidFill>
          <a:ln>
            <a:noFill/>
          </a:ln>
          <a:effectLst>
            <a:glow rad="152400">
              <a:srgbClr val="7B1FA2">
                <a:alpha val="8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rot="1800000">
            <a:off x="7315200" y="-914400"/>
            <a:ext cx="2743200" cy="9144000"/>
          </a:xfrm>
          <a:prstGeom prst="rect">
            <a:avLst/>
          </a:prstGeom>
          <a:solidFill>
            <a:srgbClr val="7B1FA2">
              <a:alpha val="1176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rot="-1680000">
            <a:off x="1828800" y="-914400"/>
            <a:ext cx="1828800" cy="8229600"/>
          </a:xfrm>
          <a:prstGeom prst="rect">
            <a:avLst/>
          </a:prstGeom>
          <a:solidFill>
            <a:srgbClr val="7B1FA2">
              <a:alpha val="1176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914400"/>
            <a:ext cx="3657600" cy="4572000"/>
          </a:xfrm>
          <a:prstGeom prst="rect">
            <a:avLst/>
          </a:prstGeom>
          <a:solidFill>
            <a:srgbClr val="111111">
              <a:alpha val="54901"/>
            </a:srgbClr>
          </a:solidFill>
          <a:ln w="12700">
            <a:solidFill>
              <a:srgbClr val="7B1FA2">
                <a:alpha val="49803"/>
              </a:srgbClr>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0" y="1097280"/>
            <a:ext cx="3474720" cy="4389120"/>
          </a:xfrm>
          <a:prstGeom prst="rect">
            <a:avLst/>
          </a:prstGeom>
          <a:solidFill>
            <a:srgbClr val="111111">
              <a:alpha val="54901"/>
            </a:srgbClr>
          </a:solidFill>
          <a:ln w="12700">
            <a:solidFill>
              <a:srgbClr val="7B1FA2">
                <a:alpha val="49803"/>
              </a:srgbClr>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520440" y="1463040"/>
            <a:ext cx="5120640" cy="2926080"/>
          </a:xfrm>
          <a:prstGeom prst="ellipse">
            <a:avLst/>
          </a:prstGeom>
          <a:solidFill>
            <a:srgbClr val="7B1FA2">
              <a:alpha val="3921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82880"/>
            <a:ext cx="10332720" cy="777240"/>
          </a:xfrm>
          <a:prstGeom prst="rect">
            <a:avLst/>
          </a:prstGeom>
          <a:noFill/>
        </p:spPr>
        <p:txBody>
          <a:bodyPr wrap="square">
            <a:spAutoFit/>
          </a:bodyPr>
          <a:lstStyle/>
          <a:p>
            <a:pPr algn="ctr"/>
            <a:r>
              <a:rPr sz="4600" b="1">
                <a:solidFill>
                  <a:srgbClr val="7B1FA2"/>
                </a:solidFill>
                <a:latin typeface="Impact"/>
              </a:rPr>
              <a:t>THE X-MEN ARRIVE</a:t>
              <a:effectLst>
                <a:glow rad="127000">
                  <a:srgbClr val="E8923A">
                    <a:alpha val="85000"/>
                  </a:srgbClr>
                </a:glow>
              </a:effectLst>
            </a:r>
          </a:p>
        </p:txBody>
      </p:sp>
      <p:sp>
        <p:nvSpPr>
          <p:cNvPr id="10" name="Rectangle 9"/>
          <p:cNvSpPr/>
          <p:nvPr/>
        </p:nvSpPr>
        <p:spPr>
          <a:xfrm>
            <a:off x="4114800" y="1005840"/>
            <a:ext cx="3931920" cy="2011680"/>
          </a:xfrm>
          <a:prstGeom prst="rect">
            <a:avLst/>
          </a:prstGeom>
          <a:solidFill>
            <a:srgbClr val="111111">
              <a:alpha val="84705"/>
            </a:srgbClr>
          </a:solidFill>
          <a:ln w="25400">
            <a:solidFill>
              <a:srgbClr val="7B1FA2"/>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97680" y="1188720"/>
            <a:ext cx="3566160" cy="1645920"/>
          </a:xfrm>
          <a:prstGeom prst="rect">
            <a:avLst/>
          </a:prstGeom>
          <a:noFill/>
        </p:spPr>
        <p:txBody>
          <a:bodyPr wrap="none">
            <a:spAutoFit/>
          </a:bodyPr>
          <a:lstStyle/>
          <a:p>
            <a:pPr algn="ctr"/>
            <a:r>
              <a:rPr sz="7200">
                <a:solidFill>
                  <a:srgbClr val="7B1FA2"/>
                </a:solidFill>
                <a:latin typeface="Impact"/>
              </a:rPr>
              <a:t>Ⓧ</a:t>
              <a:effectLst>
                <a:glow rad="228600">
                  <a:srgbClr val="7B1FA2">
                    <a:alpha val="90000"/>
                  </a:srgbClr>
                </a:glow>
              </a:effectLst>
            </a:r>
          </a:p>
        </p:txBody>
      </p:sp>
      <p:sp>
        <p:nvSpPr>
          <p:cNvPr id="12" name="Rectangle 11"/>
          <p:cNvSpPr/>
          <p:nvPr/>
        </p:nvSpPr>
        <p:spPr>
          <a:xfrm>
            <a:off x="1097280" y="3291840"/>
            <a:ext cx="4114800" cy="1737360"/>
          </a:xfrm>
          <a:prstGeom prst="rect">
            <a:avLst/>
          </a:prstGeom>
          <a:solidFill>
            <a:srgbClr val="111111">
              <a:alpha val="84705"/>
            </a:srgbClr>
          </a:solidFill>
          <a:ln w="25400">
            <a:solidFill>
              <a:srgbClr val="7B1FA2"/>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88720" y="4297680"/>
            <a:ext cx="3931920" cy="384048"/>
          </a:xfrm>
          <a:prstGeom prst="rect">
            <a:avLst/>
          </a:prstGeom>
          <a:noFill/>
        </p:spPr>
        <p:txBody>
          <a:bodyPr wrap="none">
            <a:spAutoFit/>
          </a:bodyPr>
          <a:lstStyle/>
          <a:p>
            <a:pPr algn="ctr"/>
            <a:r>
              <a:rPr sz="1300" b="1">
                <a:solidFill>
                  <a:srgbClr val="FFFFFF"/>
                </a:solidFill>
                <a:latin typeface="Calibri"/>
              </a:rPr>
              <a:t>Professor X</a:t>
            </a:r>
          </a:p>
        </p:txBody>
      </p:sp>
      <p:sp>
        <p:nvSpPr>
          <p:cNvPr id="14" name="TextBox 13"/>
          <p:cNvSpPr txBox="1"/>
          <p:nvPr/>
        </p:nvSpPr>
        <p:spPr>
          <a:xfrm>
            <a:off x="1188720" y="4645152"/>
            <a:ext cx="3931920" cy="365760"/>
          </a:xfrm>
          <a:prstGeom prst="rect">
            <a:avLst/>
          </a:prstGeom>
          <a:noFill/>
        </p:spPr>
        <p:txBody>
          <a:bodyPr wrap="none">
            <a:spAutoFit/>
          </a:bodyPr>
          <a:lstStyle/>
          <a:p>
            <a:pPr algn="ctr"/>
            <a:r>
              <a:rPr sz="1100" i="1">
                <a:solidFill>
                  <a:srgbClr val="E8923A"/>
                </a:solidFill>
                <a:latin typeface="Trebuchet MS"/>
              </a:rPr>
              <a:t>Patrick Stewart</a:t>
            </a:r>
          </a:p>
        </p:txBody>
      </p:sp>
      <p:sp>
        <p:nvSpPr>
          <p:cNvPr id="15" name="Rectangle 14"/>
          <p:cNvSpPr/>
          <p:nvPr/>
        </p:nvSpPr>
        <p:spPr>
          <a:xfrm>
            <a:off x="7040880" y="3291840"/>
            <a:ext cx="4114800" cy="1737360"/>
          </a:xfrm>
          <a:prstGeom prst="rect">
            <a:avLst/>
          </a:prstGeom>
          <a:solidFill>
            <a:srgbClr val="111111">
              <a:alpha val="84705"/>
            </a:srgbClr>
          </a:solidFill>
          <a:ln w="25400">
            <a:solidFill>
              <a:srgbClr val="7B1FA2"/>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0" y="4297680"/>
            <a:ext cx="3931920" cy="384048"/>
          </a:xfrm>
          <a:prstGeom prst="rect">
            <a:avLst/>
          </a:prstGeom>
          <a:noFill/>
        </p:spPr>
        <p:txBody>
          <a:bodyPr wrap="none">
            <a:spAutoFit/>
          </a:bodyPr>
          <a:lstStyle/>
          <a:p>
            <a:pPr algn="ctr"/>
            <a:r>
              <a:rPr sz="1300" b="1">
                <a:solidFill>
                  <a:srgbClr val="FFFFFF"/>
                </a:solidFill>
                <a:latin typeface="Calibri"/>
              </a:rPr>
              <a:t>Beast</a:t>
            </a:r>
          </a:p>
        </p:txBody>
      </p:sp>
      <p:sp>
        <p:nvSpPr>
          <p:cNvPr id="17" name="TextBox 16"/>
          <p:cNvSpPr txBox="1"/>
          <p:nvPr/>
        </p:nvSpPr>
        <p:spPr>
          <a:xfrm>
            <a:off x="7132320" y="4645152"/>
            <a:ext cx="3931920" cy="365760"/>
          </a:xfrm>
          <a:prstGeom prst="rect">
            <a:avLst/>
          </a:prstGeom>
          <a:noFill/>
        </p:spPr>
        <p:txBody>
          <a:bodyPr wrap="none">
            <a:spAutoFit/>
          </a:bodyPr>
          <a:lstStyle/>
          <a:p>
            <a:pPr algn="ctr"/>
            <a:r>
              <a:rPr sz="1100" i="1">
                <a:solidFill>
                  <a:srgbClr val="E8923A"/>
                </a:solidFill>
                <a:latin typeface="Trebuchet MS"/>
              </a:rPr>
              <a:t>Kelsey Grammer</a:t>
            </a:r>
          </a:p>
        </p:txBody>
      </p:sp>
      <p:sp>
        <p:nvSpPr>
          <p:cNvPr id="18" name="TextBox 17"/>
          <p:cNvSpPr txBox="1"/>
          <p:nvPr/>
        </p:nvSpPr>
        <p:spPr>
          <a:xfrm>
            <a:off x="1371600" y="5166360"/>
            <a:ext cx="9418320" cy="822960"/>
          </a:xfrm>
          <a:prstGeom prst="rect">
            <a:avLst/>
          </a:prstGeom>
          <a:noFill/>
        </p:spPr>
        <p:txBody>
          <a:bodyPr wrap="none">
            <a:spAutoFit/>
          </a:bodyPr>
          <a:lstStyle/>
          <a:p>
            <a:pPr algn="ctr"/>
            <a:r>
              <a:rPr sz="2200" i="1">
                <a:solidFill>
                  <a:srgbClr val="7B1FA2"/>
                </a:solidFill>
                <a:latin typeface="Trebuchet MS"/>
              </a:rPr>
              <a:t>"The Multiverse makes everything possible."</a:t>
              <a:effectLst>
                <a:glow rad="101600">
                  <a:srgbClr val="7B1FA2">
                    <a:alpha val="80000"/>
                  </a:srgbClr>
                </a:glow>
              </a:effectLs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4114800"/>
            <a:ext cx="12161520" cy="2743200"/>
          </a:xfrm>
          <a:prstGeom prst="rect">
            <a:avLst/>
          </a:prstGeom>
          <a:gradFill>
            <a:gsLst>
              <a:gs pos="0">
                <a:srgbClr val="C87941">
                  <a:alpha val="5000"/>
                </a:srgbClr>
              </a:gs>
              <a:gs pos="15000">
                <a:srgbClr val="301800">
                  <a:alpha val="40000"/>
                </a:srgbClr>
              </a:gs>
              <a:gs pos="100000">
                <a:srgbClr val="000000"/>
              </a:gs>
            </a:gsLst>
            <a:lin ang="54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33087"/>
            <a:ext cx="12161520" cy="25400"/>
          </a:xfrm>
          <a:prstGeom prst="rect">
            <a:avLst/>
          </a:prstGeom>
          <a:solidFill>
            <a:srgbClr val="C87941">
              <a:alpha val="86274"/>
            </a:srgbClr>
          </a:solidFill>
          <a:ln>
            <a:noFill/>
          </a:ln>
          <a:effectLst>
            <a:glow rad="152400">
              <a:srgbClr val="C87941">
                <a:alpha val="8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rot="1800000">
            <a:off x="7315200" y="-914400"/>
            <a:ext cx="2743200" cy="9144000"/>
          </a:xfrm>
          <a:prstGeom prst="rect">
            <a:avLst/>
          </a:prstGeom>
          <a:solidFill>
            <a:srgbClr val="C87941">
              <a:alpha val="1176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rot="-1680000">
            <a:off x="1828800" y="-914400"/>
            <a:ext cx="1828800" cy="8229600"/>
          </a:xfrm>
          <a:prstGeom prst="rect">
            <a:avLst/>
          </a:prstGeom>
          <a:solidFill>
            <a:srgbClr val="C87941">
              <a:alpha val="1176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914400"/>
            <a:ext cx="3657600" cy="4572000"/>
          </a:xfrm>
          <a:prstGeom prst="rect">
            <a:avLst/>
          </a:prstGeom>
          <a:solidFill>
            <a:srgbClr val="111111">
              <a:alpha val="54901"/>
            </a:srgbClr>
          </a:solidFill>
          <a:ln w="12700">
            <a:solidFill>
              <a:srgbClr val="C87941">
                <a:alpha val="49803"/>
              </a:srgbClr>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0" y="1097280"/>
            <a:ext cx="3474720" cy="4389120"/>
          </a:xfrm>
          <a:prstGeom prst="rect">
            <a:avLst/>
          </a:prstGeom>
          <a:solidFill>
            <a:srgbClr val="111111">
              <a:alpha val="54901"/>
            </a:srgbClr>
          </a:solidFill>
          <a:ln w="12700">
            <a:solidFill>
              <a:srgbClr val="C87941">
                <a:alpha val="49803"/>
              </a:srgbClr>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640080"/>
            <a:ext cx="11064240" cy="5212080"/>
          </a:xfrm>
          <a:prstGeom prst="rect">
            <a:avLst/>
          </a:prstGeom>
          <a:solidFill>
            <a:srgbClr val="111111">
              <a:alpha val="84705"/>
            </a:srgbClr>
          </a:solidFill>
          <a:ln w="25400">
            <a:solidFill>
              <a:srgbClr val="C87941"/>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731520"/>
            <a:ext cx="10515600" cy="777240"/>
          </a:xfrm>
          <a:prstGeom prst="rect">
            <a:avLst/>
          </a:prstGeom>
          <a:noFill/>
        </p:spPr>
        <p:txBody>
          <a:bodyPr wrap="square">
            <a:spAutoFit/>
          </a:bodyPr>
          <a:lstStyle/>
          <a:p>
            <a:pPr algn="ctr"/>
            <a:r>
              <a:rPr sz="4000" b="1">
                <a:solidFill>
                  <a:srgbClr val="FFFFFF"/>
                </a:solidFill>
                <a:latin typeface="Impact"/>
              </a:rPr>
              <a:t>THE PLOT</a:t>
              <a:effectLst>
                <a:glow rad="127000">
                  <a:srgbClr val="E8923A">
                    <a:alpha val="85000"/>
                  </a:srgbClr>
                </a:glow>
              </a:effectLst>
            </a:r>
          </a:p>
        </p:txBody>
      </p:sp>
      <p:sp>
        <p:nvSpPr>
          <p:cNvPr id="10" name="Rectangle 9"/>
          <p:cNvSpPr/>
          <p:nvPr/>
        </p:nvSpPr>
        <p:spPr>
          <a:xfrm>
            <a:off x="822960" y="1600200"/>
            <a:ext cx="10515600" cy="12700"/>
          </a:xfrm>
          <a:prstGeom prst="rect">
            <a:avLst/>
          </a:prstGeom>
          <a:solidFill>
            <a:srgbClr val="C87941">
              <a:alpha val="8627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737360"/>
            <a:ext cx="10149840" cy="3017520"/>
          </a:xfrm>
          <a:prstGeom prst="rect">
            <a:avLst/>
          </a:prstGeom>
          <a:noFill/>
        </p:spPr>
        <p:txBody>
          <a:bodyPr wrap="square">
            <a:spAutoFit/>
          </a:bodyPr>
          <a:lstStyle/>
          <a:p>
            <a:pPr algn="l"/>
            <a:r>
              <a:rPr sz="1600" b="0" i="0">
                <a:solidFill>
                  <a:srgbClr val="F5E6D0"/>
                </a:solidFill>
                <a:latin typeface="Calibri"/>
              </a:rPr>
              <a:t>When the boundaries between parallel universes begin to collapse, Victor Von Doom — the brilliant yet ruthless ruler of Latveria — seizes control of the fractures, weaponising the multiverse itself.
Earth's Mightiest Heroes, aided by the newly arrived Fantastic Four and long-lost mutants, must unite across realities to prevent Doom from rewriting existence in his own image.
Spanning three universes and bringing together characters from the entire 18-year MCU saga, Avengers: Doomsday is the largest convergence event in cinema history — a clash that will permanently reshape the Marvel Multiverse and set the stage for Secret Wars in 2027.</a:t>
            </a:r>
          </a:p>
        </p:txBody>
      </p:sp>
      <p:sp>
        <p:nvSpPr>
          <p:cNvPr id="12" name="Rectangle 11"/>
          <p:cNvSpPr/>
          <p:nvPr/>
        </p:nvSpPr>
        <p:spPr>
          <a:xfrm>
            <a:off x="1097280" y="5394960"/>
            <a:ext cx="3200400" cy="1051560"/>
          </a:xfrm>
          <a:prstGeom prst="rect">
            <a:avLst/>
          </a:prstGeom>
          <a:solidFill>
            <a:srgbClr val="111111">
              <a:alpha val="84705"/>
            </a:srgbClr>
          </a:solidFill>
          <a:ln w="25400">
            <a:solidFill>
              <a:srgbClr val="E8923A"/>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5532120"/>
            <a:ext cx="3200400" cy="822960"/>
          </a:xfrm>
          <a:prstGeom prst="rect">
            <a:avLst/>
          </a:prstGeom>
          <a:noFill/>
        </p:spPr>
        <p:txBody>
          <a:bodyPr wrap="none">
            <a:spAutoFit/>
          </a:bodyPr>
          <a:lstStyle/>
          <a:p>
            <a:pPr algn="ctr"/>
            <a:r>
              <a:rPr sz="4000">
                <a:solidFill>
                  <a:srgbClr val="E8923A"/>
                </a:solidFill>
                <a:latin typeface="Impact"/>
              </a:rPr>
              <a:t>3</a:t>
              <a:effectLst>
                <a:glow rad="101600">
                  <a:srgbClr val="E8923A">
                    <a:alpha val="80000"/>
                  </a:srgbClr>
                </a:glow>
              </a:effectLst>
            </a:r>
          </a:p>
        </p:txBody>
      </p:sp>
      <p:sp>
        <p:nvSpPr>
          <p:cNvPr id="14" name="TextBox 13"/>
          <p:cNvSpPr txBox="1"/>
          <p:nvPr/>
        </p:nvSpPr>
        <p:spPr>
          <a:xfrm>
            <a:off x="1097280" y="6263640"/>
            <a:ext cx="3200400" cy="502920"/>
          </a:xfrm>
          <a:prstGeom prst="rect">
            <a:avLst/>
          </a:prstGeom>
          <a:noFill/>
        </p:spPr>
        <p:txBody>
          <a:bodyPr wrap="none">
            <a:spAutoFit/>
          </a:bodyPr>
          <a:lstStyle/>
          <a:p>
            <a:pPr algn="ctr"/>
            <a:r>
              <a:rPr sz="1300">
                <a:solidFill>
                  <a:srgbClr val="FFFFFF"/>
                </a:solidFill>
                <a:latin typeface="Calibri"/>
              </a:rPr>
              <a:t>Universes</a:t>
            </a:r>
          </a:p>
        </p:txBody>
      </p:sp>
      <p:sp>
        <p:nvSpPr>
          <p:cNvPr id="15" name="Rectangle 14"/>
          <p:cNvSpPr/>
          <p:nvPr/>
        </p:nvSpPr>
        <p:spPr>
          <a:xfrm>
            <a:off x="4663440" y="5394960"/>
            <a:ext cx="3200400" cy="1051560"/>
          </a:xfrm>
          <a:prstGeom prst="rect">
            <a:avLst/>
          </a:prstGeom>
          <a:solidFill>
            <a:srgbClr val="111111">
              <a:alpha val="84705"/>
            </a:srgbClr>
          </a:solidFill>
          <a:ln w="25400">
            <a:solidFill>
              <a:srgbClr val="E8923A"/>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63440" y="5532120"/>
            <a:ext cx="3200400" cy="822960"/>
          </a:xfrm>
          <a:prstGeom prst="rect">
            <a:avLst/>
          </a:prstGeom>
          <a:noFill/>
        </p:spPr>
        <p:txBody>
          <a:bodyPr wrap="none">
            <a:spAutoFit/>
          </a:bodyPr>
          <a:lstStyle/>
          <a:p>
            <a:pPr algn="ctr"/>
            <a:r>
              <a:rPr sz="4000">
                <a:solidFill>
                  <a:srgbClr val="E8923A"/>
                </a:solidFill>
                <a:latin typeface="Impact"/>
              </a:rPr>
              <a:t>39</a:t>
              <a:effectLst>
                <a:glow rad="101600">
                  <a:srgbClr val="E8923A">
                    <a:alpha val="80000"/>
                  </a:srgbClr>
                </a:glow>
              </a:effectLst>
            </a:r>
          </a:p>
        </p:txBody>
      </p:sp>
      <p:sp>
        <p:nvSpPr>
          <p:cNvPr id="17" name="TextBox 16"/>
          <p:cNvSpPr txBox="1"/>
          <p:nvPr/>
        </p:nvSpPr>
        <p:spPr>
          <a:xfrm>
            <a:off x="4663440" y="6263640"/>
            <a:ext cx="3200400" cy="502920"/>
          </a:xfrm>
          <a:prstGeom prst="rect">
            <a:avLst/>
          </a:prstGeom>
          <a:noFill/>
        </p:spPr>
        <p:txBody>
          <a:bodyPr wrap="none">
            <a:spAutoFit/>
          </a:bodyPr>
          <a:lstStyle/>
          <a:p>
            <a:pPr algn="ctr"/>
            <a:r>
              <a:rPr sz="1300">
                <a:solidFill>
                  <a:srgbClr val="FFFFFF"/>
                </a:solidFill>
                <a:latin typeface="Calibri"/>
              </a:rPr>
              <a:t>Films Leading Here</a:t>
            </a:r>
          </a:p>
        </p:txBody>
      </p:sp>
      <p:sp>
        <p:nvSpPr>
          <p:cNvPr id="18" name="Rectangle 17"/>
          <p:cNvSpPr/>
          <p:nvPr/>
        </p:nvSpPr>
        <p:spPr>
          <a:xfrm>
            <a:off x="8229600" y="5394960"/>
            <a:ext cx="3200400" cy="1051560"/>
          </a:xfrm>
          <a:prstGeom prst="rect">
            <a:avLst/>
          </a:prstGeom>
          <a:solidFill>
            <a:srgbClr val="111111">
              <a:alpha val="84705"/>
            </a:srgbClr>
          </a:solidFill>
          <a:ln w="25400">
            <a:solidFill>
              <a:srgbClr val="E8923A"/>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0" y="5532120"/>
            <a:ext cx="3200400" cy="822960"/>
          </a:xfrm>
          <a:prstGeom prst="rect">
            <a:avLst/>
          </a:prstGeom>
          <a:noFill/>
        </p:spPr>
        <p:txBody>
          <a:bodyPr wrap="none">
            <a:spAutoFit/>
          </a:bodyPr>
          <a:lstStyle/>
          <a:p>
            <a:pPr algn="ctr"/>
            <a:r>
              <a:rPr sz="4000">
                <a:solidFill>
                  <a:srgbClr val="E8923A"/>
                </a:solidFill>
                <a:latin typeface="Impact"/>
              </a:rPr>
              <a:t>1</a:t>
              <a:effectLst>
                <a:glow rad="101600">
                  <a:srgbClr val="E8923A">
                    <a:alpha val="80000"/>
                  </a:srgbClr>
                </a:glow>
              </a:effectLst>
            </a:r>
          </a:p>
        </p:txBody>
      </p:sp>
      <p:sp>
        <p:nvSpPr>
          <p:cNvPr id="20" name="TextBox 19"/>
          <p:cNvSpPr txBox="1"/>
          <p:nvPr/>
        </p:nvSpPr>
        <p:spPr>
          <a:xfrm>
            <a:off x="8229600" y="6263640"/>
            <a:ext cx="3200400" cy="502920"/>
          </a:xfrm>
          <a:prstGeom prst="rect">
            <a:avLst/>
          </a:prstGeom>
          <a:noFill/>
        </p:spPr>
        <p:txBody>
          <a:bodyPr wrap="none">
            <a:spAutoFit/>
          </a:bodyPr>
          <a:lstStyle/>
          <a:p>
            <a:pPr algn="ctr"/>
            <a:r>
              <a:rPr sz="1300">
                <a:solidFill>
                  <a:srgbClr val="FFFFFF"/>
                </a:solidFill>
                <a:latin typeface="Calibri"/>
              </a:rPr>
              <a:t>Villain to Rule Them All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4114800"/>
            <a:ext cx="12161520" cy="2743200"/>
          </a:xfrm>
          <a:prstGeom prst="rect">
            <a:avLst/>
          </a:prstGeom>
          <a:gradFill>
            <a:gsLst>
              <a:gs pos="0">
                <a:srgbClr val="C87941">
                  <a:alpha val="5000"/>
                </a:srgbClr>
              </a:gs>
              <a:gs pos="15000">
                <a:srgbClr val="301800">
                  <a:alpha val="40000"/>
                </a:srgbClr>
              </a:gs>
              <a:gs pos="100000">
                <a:srgbClr val="000000"/>
              </a:gs>
            </a:gsLst>
            <a:lin ang="54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33087"/>
            <a:ext cx="12161520" cy="25400"/>
          </a:xfrm>
          <a:prstGeom prst="rect">
            <a:avLst/>
          </a:prstGeom>
          <a:solidFill>
            <a:srgbClr val="C87941">
              <a:alpha val="86274"/>
            </a:srgbClr>
          </a:solidFill>
          <a:ln>
            <a:noFill/>
          </a:ln>
          <a:effectLst>
            <a:glow rad="152400">
              <a:srgbClr val="C87941">
                <a:alpha val="8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rot="1800000">
            <a:off x="7315200" y="-914400"/>
            <a:ext cx="2743200" cy="9144000"/>
          </a:xfrm>
          <a:prstGeom prst="rect">
            <a:avLst/>
          </a:prstGeom>
          <a:solidFill>
            <a:srgbClr val="C87941">
              <a:alpha val="1176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rot="-1680000">
            <a:off x="1828800" y="-914400"/>
            <a:ext cx="1828800" cy="8229600"/>
          </a:xfrm>
          <a:prstGeom prst="rect">
            <a:avLst/>
          </a:prstGeom>
          <a:solidFill>
            <a:srgbClr val="C87941">
              <a:alpha val="1176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914400"/>
            <a:ext cx="3657600" cy="4572000"/>
          </a:xfrm>
          <a:prstGeom prst="rect">
            <a:avLst/>
          </a:prstGeom>
          <a:solidFill>
            <a:srgbClr val="111111">
              <a:alpha val="54901"/>
            </a:srgbClr>
          </a:solidFill>
          <a:ln w="12700">
            <a:solidFill>
              <a:srgbClr val="C87941">
                <a:alpha val="49803"/>
              </a:srgbClr>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0" y="1097280"/>
            <a:ext cx="3474720" cy="4389120"/>
          </a:xfrm>
          <a:prstGeom prst="rect">
            <a:avLst/>
          </a:prstGeom>
          <a:solidFill>
            <a:srgbClr val="111111">
              <a:alpha val="54901"/>
            </a:srgbClr>
          </a:solidFill>
          <a:ln w="12700">
            <a:solidFill>
              <a:srgbClr val="C87941">
                <a:alpha val="49803"/>
              </a:srgbClr>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
            <a:ext cx="10332720" cy="749808"/>
          </a:xfrm>
          <a:prstGeom prst="rect">
            <a:avLst/>
          </a:prstGeom>
          <a:noFill/>
        </p:spPr>
        <p:txBody>
          <a:bodyPr wrap="square">
            <a:spAutoFit/>
          </a:bodyPr>
          <a:lstStyle/>
          <a:p>
            <a:pPr algn="ctr"/>
            <a:r>
              <a:rPr sz="4400" b="1">
                <a:solidFill>
                  <a:srgbClr val="FFFFFF"/>
                </a:solidFill>
                <a:latin typeface="Impact"/>
              </a:rPr>
              <a:t>THE THUNDERBOLTS</a:t>
              <a:effectLst>
                <a:glow rad="127000">
                  <a:srgbClr val="E8923A">
                    <a:alpha val="85000"/>
                  </a:srgbClr>
                </a:glow>
              </a:effectLst>
            </a:r>
          </a:p>
        </p:txBody>
      </p:sp>
      <p:sp>
        <p:nvSpPr>
          <p:cNvPr id="9" name="TextBox 8"/>
          <p:cNvSpPr txBox="1"/>
          <p:nvPr/>
        </p:nvSpPr>
        <p:spPr>
          <a:xfrm>
            <a:off x="1828800" y="932688"/>
            <a:ext cx="8503920" cy="457200"/>
          </a:xfrm>
          <a:prstGeom prst="rect">
            <a:avLst/>
          </a:prstGeom>
          <a:noFill/>
        </p:spPr>
        <p:txBody>
          <a:bodyPr wrap="none">
            <a:spAutoFit/>
          </a:bodyPr>
          <a:lstStyle/>
          <a:p>
            <a:pPr algn="ctr"/>
            <a:r>
              <a:rPr sz="1800" i="1">
                <a:solidFill>
                  <a:srgbClr val="F5E6D0"/>
                </a:solidFill>
                <a:latin typeface="Trebuchet MS"/>
              </a:rPr>
              <a:t>"The Government's Secret Weapon"</a:t>
            </a:r>
          </a:p>
        </p:txBody>
      </p:sp>
      <p:sp>
        <p:nvSpPr>
          <p:cNvPr id="10" name="Rectangle 9"/>
          <p:cNvSpPr/>
          <p:nvPr/>
        </p:nvSpPr>
        <p:spPr>
          <a:xfrm>
            <a:off x="457200" y="1508760"/>
            <a:ext cx="3611880" cy="2148840"/>
          </a:xfrm>
          <a:prstGeom prst="rect">
            <a:avLst/>
          </a:prstGeom>
          <a:solidFill>
            <a:srgbClr val="111111">
              <a:alpha val="84705"/>
            </a:srgbClr>
          </a:solidFill>
          <a:ln w="25400">
            <a:solidFill>
              <a:srgbClr val="E8923A"/>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926080"/>
            <a:ext cx="3429000" cy="384048"/>
          </a:xfrm>
          <a:prstGeom prst="rect">
            <a:avLst/>
          </a:prstGeom>
          <a:noFill/>
        </p:spPr>
        <p:txBody>
          <a:bodyPr wrap="none">
            <a:spAutoFit/>
          </a:bodyPr>
          <a:lstStyle/>
          <a:p>
            <a:pPr algn="ctr"/>
            <a:r>
              <a:rPr sz="1300" b="1">
                <a:solidFill>
                  <a:srgbClr val="FFFFFF"/>
                </a:solidFill>
                <a:latin typeface="Calibri"/>
              </a:rPr>
              <a:t>Yelena Belova</a:t>
            </a:r>
          </a:p>
        </p:txBody>
      </p:sp>
      <p:sp>
        <p:nvSpPr>
          <p:cNvPr id="12" name="TextBox 11"/>
          <p:cNvSpPr txBox="1"/>
          <p:nvPr/>
        </p:nvSpPr>
        <p:spPr>
          <a:xfrm>
            <a:off x="548640" y="3273552"/>
            <a:ext cx="3429000" cy="365760"/>
          </a:xfrm>
          <a:prstGeom prst="rect">
            <a:avLst/>
          </a:prstGeom>
          <a:noFill/>
        </p:spPr>
        <p:txBody>
          <a:bodyPr wrap="none">
            <a:spAutoFit/>
          </a:bodyPr>
          <a:lstStyle/>
          <a:p>
            <a:pPr algn="ctr"/>
            <a:r>
              <a:rPr sz="1100" i="1">
                <a:solidFill>
                  <a:srgbClr val="E8923A"/>
                </a:solidFill>
                <a:latin typeface="Trebuchet MS"/>
              </a:rPr>
              <a:t>Florence Pugh</a:t>
            </a:r>
          </a:p>
        </p:txBody>
      </p:sp>
      <p:sp>
        <p:nvSpPr>
          <p:cNvPr id="13" name="Rectangle 12"/>
          <p:cNvSpPr/>
          <p:nvPr/>
        </p:nvSpPr>
        <p:spPr>
          <a:xfrm>
            <a:off x="4206240" y="1508760"/>
            <a:ext cx="3611880" cy="2148840"/>
          </a:xfrm>
          <a:prstGeom prst="rect">
            <a:avLst/>
          </a:prstGeom>
          <a:solidFill>
            <a:srgbClr val="111111">
              <a:alpha val="84705"/>
            </a:srgbClr>
          </a:solidFill>
          <a:ln w="25400">
            <a:solidFill>
              <a:srgbClr val="E8923A"/>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97680" y="2926080"/>
            <a:ext cx="3429000" cy="384048"/>
          </a:xfrm>
          <a:prstGeom prst="rect">
            <a:avLst/>
          </a:prstGeom>
          <a:noFill/>
        </p:spPr>
        <p:txBody>
          <a:bodyPr wrap="none">
            <a:spAutoFit/>
          </a:bodyPr>
          <a:lstStyle/>
          <a:p>
            <a:pPr algn="ctr"/>
            <a:r>
              <a:rPr sz="1300" b="1">
                <a:solidFill>
                  <a:srgbClr val="FFFFFF"/>
                </a:solidFill>
                <a:latin typeface="Calibri"/>
              </a:rPr>
              <a:t>Red Guardian</a:t>
            </a:r>
          </a:p>
        </p:txBody>
      </p:sp>
      <p:sp>
        <p:nvSpPr>
          <p:cNvPr id="15" name="TextBox 14"/>
          <p:cNvSpPr txBox="1"/>
          <p:nvPr/>
        </p:nvSpPr>
        <p:spPr>
          <a:xfrm>
            <a:off x="4297680" y="3273552"/>
            <a:ext cx="3429000" cy="365760"/>
          </a:xfrm>
          <a:prstGeom prst="rect">
            <a:avLst/>
          </a:prstGeom>
          <a:noFill/>
        </p:spPr>
        <p:txBody>
          <a:bodyPr wrap="none">
            <a:spAutoFit/>
          </a:bodyPr>
          <a:lstStyle/>
          <a:p>
            <a:pPr algn="ctr"/>
            <a:r>
              <a:rPr sz="1100" i="1">
                <a:solidFill>
                  <a:srgbClr val="E8923A"/>
                </a:solidFill>
                <a:latin typeface="Trebuchet MS"/>
              </a:rPr>
              <a:t>David Harbour</a:t>
            </a:r>
          </a:p>
        </p:txBody>
      </p:sp>
      <p:sp>
        <p:nvSpPr>
          <p:cNvPr id="16" name="Rectangle 15"/>
          <p:cNvSpPr/>
          <p:nvPr/>
        </p:nvSpPr>
        <p:spPr>
          <a:xfrm>
            <a:off x="7955280" y="1508760"/>
            <a:ext cx="3611880" cy="2148840"/>
          </a:xfrm>
          <a:prstGeom prst="rect">
            <a:avLst/>
          </a:prstGeom>
          <a:solidFill>
            <a:srgbClr val="111111">
              <a:alpha val="84705"/>
            </a:srgbClr>
          </a:solidFill>
          <a:ln w="25400">
            <a:solidFill>
              <a:srgbClr val="E8923A"/>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0" y="2926080"/>
            <a:ext cx="3429000" cy="384048"/>
          </a:xfrm>
          <a:prstGeom prst="rect">
            <a:avLst/>
          </a:prstGeom>
          <a:noFill/>
        </p:spPr>
        <p:txBody>
          <a:bodyPr wrap="none">
            <a:spAutoFit/>
          </a:bodyPr>
          <a:lstStyle/>
          <a:p>
            <a:pPr algn="ctr"/>
            <a:r>
              <a:rPr sz="1300" b="1">
                <a:solidFill>
                  <a:srgbClr val="FFFFFF"/>
                </a:solidFill>
                <a:latin typeface="Calibri"/>
              </a:rPr>
              <a:t>U.S. Agent</a:t>
            </a:r>
          </a:p>
        </p:txBody>
      </p:sp>
      <p:sp>
        <p:nvSpPr>
          <p:cNvPr id="18" name="TextBox 17"/>
          <p:cNvSpPr txBox="1"/>
          <p:nvPr/>
        </p:nvSpPr>
        <p:spPr>
          <a:xfrm>
            <a:off x="8046720" y="3273552"/>
            <a:ext cx="3429000" cy="365760"/>
          </a:xfrm>
          <a:prstGeom prst="rect">
            <a:avLst/>
          </a:prstGeom>
          <a:noFill/>
        </p:spPr>
        <p:txBody>
          <a:bodyPr wrap="none">
            <a:spAutoFit/>
          </a:bodyPr>
          <a:lstStyle/>
          <a:p>
            <a:pPr algn="ctr"/>
            <a:r>
              <a:rPr sz="1100" i="1">
                <a:solidFill>
                  <a:srgbClr val="E8923A"/>
                </a:solidFill>
                <a:latin typeface="Trebuchet MS"/>
              </a:rPr>
              <a:t>Wyatt Russell</a:t>
            </a:r>
          </a:p>
        </p:txBody>
      </p:sp>
      <p:sp>
        <p:nvSpPr>
          <p:cNvPr id="19" name="Rectangle 18"/>
          <p:cNvSpPr/>
          <p:nvPr/>
        </p:nvSpPr>
        <p:spPr>
          <a:xfrm>
            <a:off x="457200" y="3794760"/>
            <a:ext cx="3611880" cy="2148840"/>
          </a:xfrm>
          <a:prstGeom prst="rect">
            <a:avLst/>
          </a:prstGeom>
          <a:solidFill>
            <a:srgbClr val="111111">
              <a:alpha val="84705"/>
            </a:srgbClr>
          </a:solidFill>
          <a:ln w="25400">
            <a:solidFill>
              <a:srgbClr val="E8923A"/>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5212080"/>
            <a:ext cx="3429000" cy="384048"/>
          </a:xfrm>
          <a:prstGeom prst="rect">
            <a:avLst/>
          </a:prstGeom>
          <a:noFill/>
        </p:spPr>
        <p:txBody>
          <a:bodyPr wrap="none">
            <a:spAutoFit/>
          </a:bodyPr>
          <a:lstStyle/>
          <a:p>
            <a:pPr algn="ctr"/>
            <a:r>
              <a:rPr sz="1300" b="1">
                <a:solidFill>
                  <a:srgbClr val="FFFFFF"/>
                </a:solidFill>
                <a:latin typeface="Calibri"/>
              </a:rPr>
              <a:t>Ghost</a:t>
            </a:r>
          </a:p>
        </p:txBody>
      </p:sp>
      <p:sp>
        <p:nvSpPr>
          <p:cNvPr id="21" name="TextBox 20"/>
          <p:cNvSpPr txBox="1"/>
          <p:nvPr/>
        </p:nvSpPr>
        <p:spPr>
          <a:xfrm>
            <a:off x="548640" y="5559552"/>
            <a:ext cx="3429000" cy="365760"/>
          </a:xfrm>
          <a:prstGeom prst="rect">
            <a:avLst/>
          </a:prstGeom>
          <a:noFill/>
        </p:spPr>
        <p:txBody>
          <a:bodyPr wrap="none">
            <a:spAutoFit/>
          </a:bodyPr>
          <a:lstStyle/>
          <a:p>
            <a:pPr algn="ctr"/>
            <a:r>
              <a:rPr sz="1100" i="1">
                <a:solidFill>
                  <a:srgbClr val="E8923A"/>
                </a:solidFill>
                <a:latin typeface="Trebuchet MS"/>
              </a:rPr>
              <a:t>Hannah John-Kamen</a:t>
            </a:r>
          </a:p>
        </p:txBody>
      </p:sp>
      <p:sp>
        <p:nvSpPr>
          <p:cNvPr id="22" name="Rectangle 21"/>
          <p:cNvSpPr/>
          <p:nvPr/>
        </p:nvSpPr>
        <p:spPr>
          <a:xfrm>
            <a:off x="4206240" y="3794760"/>
            <a:ext cx="3611880" cy="2148840"/>
          </a:xfrm>
          <a:prstGeom prst="rect">
            <a:avLst/>
          </a:prstGeom>
          <a:solidFill>
            <a:srgbClr val="111111">
              <a:alpha val="84705"/>
            </a:srgbClr>
          </a:solidFill>
          <a:ln w="25400">
            <a:solidFill>
              <a:srgbClr val="E8923A"/>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97680" y="5212080"/>
            <a:ext cx="3429000" cy="384048"/>
          </a:xfrm>
          <a:prstGeom prst="rect">
            <a:avLst/>
          </a:prstGeom>
          <a:noFill/>
        </p:spPr>
        <p:txBody>
          <a:bodyPr wrap="none">
            <a:spAutoFit/>
          </a:bodyPr>
          <a:lstStyle/>
          <a:p>
            <a:pPr algn="ctr"/>
            <a:r>
              <a:rPr sz="1300" b="1">
                <a:solidFill>
                  <a:srgbClr val="FFFFFF"/>
                </a:solidFill>
                <a:latin typeface="Calibri"/>
              </a:rPr>
              <a:t>Sentry</a:t>
            </a:r>
          </a:p>
        </p:txBody>
      </p:sp>
      <p:sp>
        <p:nvSpPr>
          <p:cNvPr id="24" name="TextBox 23"/>
          <p:cNvSpPr txBox="1"/>
          <p:nvPr/>
        </p:nvSpPr>
        <p:spPr>
          <a:xfrm>
            <a:off x="4297680" y="5559552"/>
            <a:ext cx="3429000" cy="365760"/>
          </a:xfrm>
          <a:prstGeom prst="rect">
            <a:avLst/>
          </a:prstGeom>
          <a:noFill/>
        </p:spPr>
        <p:txBody>
          <a:bodyPr wrap="none">
            <a:spAutoFit/>
          </a:bodyPr>
          <a:lstStyle/>
          <a:p>
            <a:pPr algn="ctr"/>
            <a:r>
              <a:rPr sz="1100" i="1">
                <a:solidFill>
                  <a:srgbClr val="E8923A"/>
                </a:solidFill>
                <a:latin typeface="Trebuchet MS"/>
              </a:rPr>
              <a:t>Lewis Pullman</a:t>
            </a:r>
          </a:p>
        </p:txBody>
      </p:sp>
      <p:sp>
        <p:nvSpPr>
          <p:cNvPr id="25" name="Rectangle 24"/>
          <p:cNvSpPr/>
          <p:nvPr/>
        </p:nvSpPr>
        <p:spPr>
          <a:xfrm>
            <a:off x="7955280" y="3794760"/>
            <a:ext cx="3611880" cy="2148840"/>
          </a:xfrm>
          <a:prstGeom prst="rect">
            <a:avLst/>
          </a:prstGeom>
          <a:solidFill>
            <a:srgbClr val="111111">
              <a:alpha val="84705"/>
            </a:srgbClr>
          </a:solidFill>
          <a:ln w="25400">
            <a:solidFill>
              <a:srgbClr val="E8923A"/>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6720" y="5212080"/>
            <a:ext cx="3429000" cy="384048"/>
          </a:xfrm>
          <a:prstGeom prst="rect">
            <a:avLst/>
          </a:prstGeom>
          <a:noFill/>
        </p:spPr>
        <p:txBody>
          <a:bodyPr wrap="none">
            <a:spAutoFit/>
          </a:bodyPr>
          <a:lstStyle/>
          <a:p>
            <a:pPr algn="ctr"/>
            <a:r>
              <a:rPr sz="1300" b="1">
                <a:solidFill>
                  <a:srgbClr val="FFFFFF"/>
                </a:solidFill>
                <a:latin typeface="Calibri"/>
              </a:rPr>
              <a:t>Winter Soldier</a:t>
            </a:r>
          </a:p>
        </p:txBody>
      </p:sp>
      <p:sp>
        <p:nvSpPr>
          <p:cNvPr id="27" name="TextBox 26"/>
          <p:cNvSpPr txBox="1"/>
          <p:nvPr/>
        </p:nvSpPr>
        <p:spPr>
          <a:xfrm>
            <a:off x="8046720" y="5559552"/>
            <a:ext cx="3429000" cy="365760"/>
          </a:xfrm>
          <a:prstGeom prst="rect">
            <a:avLst/>
          </a:prstGeom>
          <a:noFill/>
        </p:spPr>
        <p:txBody>
          <a:bodyPr wrap="none">
            <a:spAutoFit/>
          </a:bodyPr>
          <a:lstStyle/>
          <a:p>
            <a:pPr algn="ctr"/>
            <a:r>
              <a:rPr sz="1100" i="1">
                <a:solidFill>
                  <a:srgbClr val="E8923A"/>
                </a:solidFill>
                <a:latin typeface="Trebuchet MS"/>
              </a:rPr>
              <a:t>Sebastian Stan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4114800"/>
            <a:ext cx="12161520" cy="2743200"/>
          </a:xfrm>
          <a:prstGeom prst="rect">
            <a:avLst/>
          </a:prstGeom>
          <a:gradFill>
            <a:gsLst>
              <a:gs pos="0">
                <a:srgbClr val="C87941">
                  <a:alpha val="5000"/>
                </a:srgbClr>
              </a:gs>
              <a:gs pos="15000">
                <a:srgbClr val="301800">
                  <a:alpha val="40000"/>
                </a:srgbClr>
              </a:gs>
              <a:gs pos="100000">
                <a:srgbClr val="000000"/>
              </a:gs>
            </a:gsLst>
            <a:lin ang="54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33087"/>
            <a:ext cx="12161520" cy="25400"/>
          </a:xfrm>
          <a:prstGeom prst="rect">
            <a:avLst/>
          </a:prstGeom>
          <a:solidFill>
            <a:srgbClr val="C87941">
              <a:alpha val="86274"/>
            </a:srgbClr>
          </a:solidFill>
          <a:ln>
            <a:noFill/>
          </a:ln>
          <a:effectLst>
            <a:glow rad="152400">
              <a:srgbClr val="C87941">
                <a:alpha val="8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rot="1800000">
            <a:off x="7315200" y="-914400"/>
            <a:ext cx="2743200" cy="9144000"/>
          </a:xfrm>
          <a:prstGeom prst="rect">
            <a:avLst/>
          </a:prstGeom>
          <a:solidFill>
            <a:srgbClr val="C87941">
              <a:alpha val="1176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rot="-1680000">
            <a:off x="1828800" y="-914400"/>
            <a:ext cx="1828800" cy="8229600"/>
          </a:xfrm>
          <a:prstGeom prst="rect">
            <a:avLst/>
          </a:prstGeom>
          <a:solidFill>
            <a:srgbClr val="C87941">
              <a:alpha val="1176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914400"/>
            <a:ext cx="3657600" cy="4572000"/>
          </a:xfrm>
          <a:prstGeom prst="rect">
            <a:avLst/>
          </a:prstGeom>
          <a:solidFill>
            <a:srgbClr val="111111">
              <a:alpha val="54901"/>
            </a:srgbClr>
          </a:solidFill>
          <a:ln w="12700">
            <a:solidFill>
              <a:srgbClr val="C87941">
                <a:alpha val="49803"/>
              </a:srgbClr>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0" y="1097280"/>
            <a:ext cx="3474720" cy="4389120"/>
          </a:xfrm>
          <a:prstGeom prst="rect">
            <a:avLst/>
          </a:prstGeom>
          <a:solidFill>
            <a:srgbClr val="111111">
              <a:alpha val="54901"/>
            </a:srgbClr>
          </a:solidFill>
          <a:ln w="12700">
            <a:solidFill>
              <a:srgbClr val="C87941">
                <a:alpha val="49803"/>
              </a:srgbClr>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
            <a:ext cx="10332720" cy="749808"/>
          </a:xfrm>
          <a:prstGeom prst="rect">
            <a:avLst/>
          </a:prstGeom>
          <a:noFill/>
        </p:spPr>
        <p:txBody>
          <a:bodyPr wrap="square">
            <a:spAutoFit/>
          </a:bodyPr>
          <a:lstStyle/>
          <a:p>
            <a:pPr algn="ctr"/>
            <a:r>
              <a:rPr sz="4400" b="1">
                <a:solidFill>
                  <a:srgbClr val="FFFFFF"/>
                </a:solidFill>
                <a:latin typeface="Impact"/>
              </a:rPr>
              <a:t>RELEASE DATE</a:t>
              <a:effectLst>
                <a:glow rad="127000">
                  <a:srgbClr val="E8923A">
                    <a:alpha val="85000"/>
                  </a:srgbClr>
                </a:glow>
              </a:effectLst>
            </a:r>
          </a:p>
        </p:txBody>
      </p:sp>
      <p:sp>
        <p:nvSpPr>
          <p:cNvPr id="9" name="Rectangle 8"/>
          <p:cNvSpPr/>
          <p:nvPr/>
        </p:nvSpPr>
        <p:spPr>
          <a:xfrm>
            <a:off x="365760" y="1005840"/>
            <a:ext cx="5212080" cy="4206240"/>
          </a:xfrm>
          <a:prstGeom prst="rect">
            <a:avLst/>
          </a:prstGeom>
          <a:solidFill>
            <a:srgbClr val="111111">
              <a:alpha val="84705"/>
            </a:srgbClr>
          </a:solidFill>
          <a:ln w="25400">
            <a:solidFill>
              <a:srgbClr val="C87941"/>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188720"/>
            <a:ext cx="4846320" cy="1371600"/>
          </a:xfrm>
          <a:prstGeom prst="rect">
            <a:avLst/>
          </a:prstGeom>
          <a:noFill/>
        </p:spPr>
        <p:txBody>
          <a:bodyPr wrap="square">
            <a:spAutoFit/>
          </a:bodyPr>
          <a:lstStyle/>
          <a:p>
            <a:pPr algn="ctr"/>
            <a:r>
              <a:rPr sz="3000" b="1">
                <a:solidFill>
                  <a:srgbClr val="FFFFFF"/>
                </a:solidFill>
                <a:latin typeface="Impact"/>
              </a:rPr>
              <a:t>AVENGERS:
DOOMSDAY</a:t>
              <a:effectLst>
                <a:glow rad="127000">
                  <a:srgbClr val="E8923A">
                    <a:alpha val="85000"/>
                  </a:srgbClr>
                </a:glow>
              </a:effectLst>
            </a:r>
          </a:p>
        </p:txBody>
      </p:sp>
      <p:sp>
        <p:nvSpPr>
          <p:cNvPr id="11" name="TextBox 10"/>
          <p:cNvSpPr txBox="1"/>
          <p:nvPr/>
        </p:nvSpPr>
        <p:spPr>
          <a:xfrm>
            <a:off x="548640" y="2651760"/>
            <a:ext cx="4846320" cy="365760"/>
          </a:xfrm>
          <a:prstGeom prst="rect">
            <a:avLst/>
          </a:prstGeom>
          <a:noFill/>
        </p:spPr>
        <p:txBody>
          <a:bodyPr wrap="square">
            <a:spAutoFit/>
          </a:bodyPr>
          <a:lstStyle/>
          <a:p>
            <a:pPr algn="ctr"/>
            <a:r>
              <a:rPr sz="1400" b="0" i="0">
                <a:solidFill>
                  <a:srgbClr val="C87941"/>
                </a:solidFill>
                <a:latin typeface="Calibri"/>
              </a:rPr>
              <a:t>Marvel Studios</a:t>
            </a:r>
          </a:p>
        </p:txBody>
      </p:sp>
      <p:sp>
        <p:nvSpPr>
          <p:cNvPr id="12" name="TextBox 11"/>
          <p:cNvSpPr txBox="1"/>
          <p:nvPr/>
        </p:nvSpPr>
        <p:spPr>
          <a:xfrm>
            <a:off x="548640" y="3017520"/>
            <a:ext cx="4846320" cy="365760"/>
          </a:xfrm>
          <a:prstGeom prst="rect">
            <a:avLst/>
          </a:prstGeom>
          <a:noFill/>
        </p:spPr>
        <p:txBody>
          <a:bodyPr wrap="square">
            <a:spAutoFit/>
          </a:bodyPr>
          <a:lstStyle/>
          <a:p>
            <a:pPr algn="ctr"/>
            <a:r>
              <a:rPr sz="1300" b="0" i="0">
                <a:solidFill>
                  <a:srgbClr val="CCCCCC"/>
                </a:solidFill>
                <a:latin typeface="Calibri"/>
              </a:rPr>
              <a:t>Phase 6 · Multiverse Saga Finale</a:t>
            </a:r>
          </a:p>
        </p:txBody>
      </p:sp>
      <p:sp>
        <p:nvSpPr>
          <p:cNvPr id="13" name="Oval 12"/>
          <p:cNvSpPr/>
          <p:nvPr/>
        </p:nvSpPr>
        <p:spPr>
          <a:xfrm>
            <a:off x="4709160" y="1828800"/>
            <a:ext cx="2743200" cy="1828800"/>
          </a:xfrm>
          <a:prstGeom prst="ellipse">
            <a:avLst/>
          </a:prstGeom>
          <a:solidFill>
            <a:srgbClr val="FF7820">
              <a:alpha val="3137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0" y="2011680"/>
            <a:ext cx="3017520" cy="1463040"/>
          </a:xfrm>
          <a:prstGeom prst="rect">
            <a:avLst/>
          </a:prstGeom>
          <a:noFill/>
        </p:spPr>
        <p:txBody>
          <a:bodyPr wrap="none">
            <a:spAutoFit/>
          </a:bodyPr>
          <a:lstStyle/>
          <a:p>
            <a:pPr algn="ctr"/>
            <a:r>
              <a:rPr sz="3200">
                <a:solidFill>
                  <a:srgbClr val="E8923A"/>
                </a:solidFill>
                <a:latin typeface="Impact"/>
              </a:rPr>
              <a:t>DECEMBER
18, 2026</a:t>
              <a:effectLst>
                <a:glow rad="152400">
                  <a:srgbClr val="E8923A">
                    <a:alpha val="90000"/>
                  </a:srgbClr>
                </a:glow>
              </a:effectLst>
            </a:r>
          </a:p>
        </p:txBody>
      </p:sp>
      <p:sp>
        <p:nvSpPr>
          <p:cNvPr id="15" name="Rectangle 14"/>
          <p:cNvSpPr/>
          <p:nvPr/>
        </p:nvSpPr>
        <p:spPr>
          <a:xfrm>
            <a:off x="6583680" y="1005840"/>
            <a:ext cx="5212080" cy="4206240"/>
          </a:xfrm>
          <a:prstGeom prst="rect">
            <a:avLst/>
          </a:prstGeom>
          <a:solidFill>
            <a:srgbClr val="111111">
              <a:alpha val="84705"/>
            </a:srgbClr>
          </a:solidFill>
          <a:ln w="25400">
            <a:solidFill>
              <a:srgbClr val="707070"/>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66560" y="1188720"/>
            <a:ext cx="4846320" cy="1371600"/>
          </a:xfrm>
          <a:prstGeom prst="rect">
            <a:avLst/>
          </a:prstGeom>
          <a:noFill/>
        </p:spPr>
        <p:txBody>
          <a:bodyPr wrap="square">
            <a:spAutoFit/>
          </a:bodyPr>
          <a:lstStyle/>
          <a:p>
            <a:pPr algn="ctr"/>
            <a:r>
              <a:rPr sz="3000" b="1">
                <a:solidFill>
                  <a:srgbClr val="AAAAAA"/>
                </a:solidFill>
                <a:latin typeface="Impact"/>
              </a:rPr>
              <a:t>DUNE:
PART THREE</a:t>
            </a:r>
          </a:p>
        </p:txBody>
      </p:sp>
      <p:sp>
        <p:nvSpPr>
          <p:cNvPr id="17" name="TextBox 16"/>
          <p:cNvSpPr txBox="1"/>
          <p:nvPr/>
        </p:nvSpPr>
        <p:spPr>
          <a:xfrm>
            <a:off x="6766560" y="2651760"/>
            <a:ext cx="4846320" cy="365760"/>
          </a:xfrm>
          <a:prstGeom prst="rect">
            <a:avLst/>
          </a:prstGeom>
          <a:noFill/>
        </p:spPr>
        <p:txBody>
          <a:bodyPr wrap="square">
            <a:spAutoFit/>
          </a:bodyPr>
          <a:lstStyle/>
          <a:p>
            <a:pPr algn="ctr"/>
            <a:r>
              <a:rPr sz="1400" b="0" i="0">
                <a:solidFill>
                  <a:srgbClr val="888888"/>
                </a:solidFill>
                <a:latin typeface="Calibri"/>
              </a:rPr>
              <a:t>Warner Bros. Pictures</a:t>
            </a:r>
          </a:p>
        </p:txBody>
      </p:sp>
      <p:sp>
        <p:nvSpPr>
          <p:cNvPr id="18" name="TextBox 17"/>
          <p:cNvSpPr txBox="1"/>
          <p:nvPr/>
        </p:nvSpPr>
        <p:spPr>
          <a:xfrm>
            <a:off x="6766560" y="3017520"/>
            <a:ext cx="4846320" cy="365760"/>
          </a:xfrm>
          <a:prstGeom prst="rect">
            <a:avLst/>
          </a:prstGeom>
          <a:noFill/>
        </p:spPr>
        <p:txBody>
          <a:bodyPr wrap="square">
            <a:spAutoFit/>
          </a:bodyPr>
          <a:lstStyle/>
          <a:p>
            <a:pPr algn="ctr"/>
            <a:r>
              <a:rPr sz="1300" b="0" i="0">
                <a:solidFill>
                  <a:srgbClr val="777777"/>
                </a:solidFill>
                <a:latin typeface="Calibri"/>
              </a:rPr>
              <a:t>Same Opening Weekend</a:t>
            </a:r>
          </a:p>
        </p:txBody>
      </p:sp>
      <p:sp>
        <p:nvSpPr>
          <p:cNvPr id="19" name="Rectangle 18"/>
          <p:cNvSpPr/>
          <p:nvPr/>
        </p:nvSpPr>
        <p:spPr>
          <a:xfrm>
            <a:off x="365760" y="5577840"/>
            <a:ext cx="11430000" cy="685800"/>
          </a:xfrm>
          <a:prstGeom prst="rect">
            <a:avLst/>
          </a:prstGeom>
          <a:solidFill>
            <a:srgbClr val="111111">
              <a:alpha val="84705"/>
            </a:srgbClr>
          </a:solidFill>
          <a:ln w="25400">
            <a:solidFill>
              <a:srgbClr val="E8923A"/>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5650992"/>
            <a:ext cx="11064240" cy="502920"/>
          </a:xfrm>
          <a:prstGeom prst="rect">
            <a:avLst/>
          </a:prstGeom>
          <a:noFill/>
        </p:spPr>
        <p:txBody>
          <a:bodyPr wrap="square">
            <a:spAutoFit/>
          </a:bodyPr>
          <a:lstStyle/>
          <a:p>
            <a:pPr algn="ctr"/>
            <a:r>
              <a:rPr sz="1600" b="1" i="0">
                <a:solidFill>
                  <a:srgbClr val="E8923A"/>
                </a:solidFill>
                <a:latin typeface="Calibri"/>
              </a:rPr>
              <a:t>⚠  DunesDay 2026 — Battle for IMAX Screens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4114800"/>
            <a:ext cx="12161520" cy="2743200"/>
          </a:xfrm>
          <a:prstGeom prst="rect">
            <a:avLst/>
          </a:prstGeom>
          <a:gradFill>
            <a:gsLst>
              <a:gs pos="0">
                <a:srgbClr val="C87941">
                  <a:alpha val="5000"/>
                </a:srgbClr>
              </a:gs>
              <a:gs pos="15000">
                <a:srgbClr val="301800">
                  <a:alpha val="40000"/>
                </a:srgbClr>
              </a:gs>
              <a:gs pos="100000">
                <a:srgbClr val="000000"/>
              </a:gs>
            </a:gsLst>
            <a:lin ang="54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33087"/>
            <a:ext cx="12161520" cy="25400"/>
          </a:xfrm>
          <a:prstGeom prst="rect">
            <a:avLst/>
          </a:prstGeom>
          <a:solidFill>
            <a:srgbClr val="C87941">
              <a:alpha val="86274"/>
            </a:srgbClr>
          </a:solidFill>
          <a:ln>
            <a:noFill/>
          </a:ln>
          <a:effectLst>
            <a:glow rad="152400">
              <a:srgbClr val="C87941">
                <a:alpha val="8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rot="1800000">
            <a:off x="7315200" y="-914400"/>
            <a:ext cx="2743200" cy="9144000"/>
          </a:xfrm>
          <a:prstGeom prst="rect">
            <a:avLst/>
          </a:prstGeom>
          <a:solidFill>
            <a:srgbClr val="C87941">
              <a:alpha val="1176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rot="-1680000">
            <a:off x="1828800" y="-914400"/>
            <a:ext cx="1828800" cy="8229600"/>
          </a:xfrm>
          <a:prstGeom prst="rect">
            <a:avLst/>
          </a:prstGeom>
          <a:solidFill>
            <a:srgbClr val="C87941">
              <a:alpha val="1176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914400"/>
            <a:ext cx="3657600" cy="4572000"/>
          </a:xfrm>
          <a:prstGeom prst="rect">
            <a:avLst/>
          </a:prstGeom>
          <a:solidFill>
            <a:srgbClr val="111111">
              <a:alpha val="54901"/>
            </a:srgbClr>
          </a:solidFill>
          <a:ln w="12700">
            <a:solidFill>
              <a:srgbClr val="C87941">
                <a:alpha val="49803"/>
              </a:srgbClr>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0" y="1097280"/>
            <a:ext cx="3474720" cy="4389120"/>
          </a:xfrm>
          <a:prstGeom prst="rect">
            <a:avLst/>
          </a:prstGeom>
          <a:solidFill>
            <a:srgbClr val="111111">
              <a:alpha val="54901"/>
            </a:srgbClr>
          </a:solidFill>
          <a:ln w="12700">
            <a:solidFill>
              <a:srgbClr val="C87941">
                <a:alpha val="49803"/>
              </a:srgbClr>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
            <a:ext cx="10332720" cy="749808"/>
          </a:xfrm>
          <a:prstGeom prst="rect">
            <a:avLst/>
          </a:prstGeom>
          <a:noFill/>
        </p:spPr>
        <p:txBody>
          <a:bodyPr wrap="square">
            <a:spAutoFit/>
          </a:bodyPr>
          <a:lstStyle/>
          <a:p>
            <a:pPr algn="ctr"/>
            <a:r>
              <a:rPr sz="4400" b="1">
                <a:solidFill>
                  <a:srgbClr val="FFFFFF"/>
                </a:solidFill>
                <a:latin typeface="Impact"/>
              </a:rPr>
              <a:t>PHASE 6 TIMELINE</a:t>
              <a:effectLst>
                <a:glow rad="127000">
                  <a:srgbClr val="E8923A">
                    <a:alpha val="85000"/>
                  </a:srgbClr>
                </a:glow>
              </a:effectLst>
            </a:r>
          </a:p>
        </p:txBody>
      </p:sp>
      <p:sp>
        <p:nvSpPr>
          <p:cNvPr id="9" name="Rectangle 8"/>
          <p:cNvSpPr/>
          <p:nvPr/>
        </p:nvSpPr>
        <p:spPr>
          <a:xfrm>
            <a:off x="640080" y="3246120"/>
            <a:ext cx="10881360" cy="109728"/>
          </a:xfrm>
          <a:prstGeom prst="rect">
            <a:avLst/>
          </a:prstGeom>
          <a:solidFill>
            <a:srgbClr val="C87941">
              <a:alpha val="90196"/>
            </a:srgbClr>
          </a:solidFill>
          <a:ln>
            <a:noFill/>
          </a:ln>
          <a:effectLst>
            <a:glow rad="76200">
              <a:srgbClr val="C87941">
                <a:alpha val="8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0080" y="3017520"/>
            <a:ext cx="365760" cy="365760"/>
          </a:xfrm>
          <a:prstGeom prst="ellipse">
            <a:avLst/>
          </a:prstGeom>
          <a:solidFill>
            <a:srgbClr val="C87941"/>
          </a:solidFill>
          <a:ln>
            <a:noFill/>
          </a:ln>
          <a:effectLst>
            <a:glow rad="76200">
              <a:srgbClr val="C87941">
                <a:alpha val="8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82880" y="1371600"/>
            <a:ext cx="2011680" cy="1645920"/>
          </a:xfrm>
          <a:prstGeom prst="rect">
            <a:avLst/>
          </a:prstGeom>
          <a:noFill/>
        </p:spPr>
        <p:txBody>
          <a:bodyPr wrap="none">
            <a:spAutoFit/>
          </a:bodyPr>
          <a:lstStyle/>
          <a:p>
            <a:pPr algn="ctr"/>
            <a:r>
              <a:rPr sz="1200" b="0">
                <a:solidFill>
                  <a:srgbClr val="CCCCCC"/>
                </a:solidFill>
                <a:latin typeface="Calibri"/>
              </a:rPr>
              <a:t>Brave New
World</a:t>
            </a:r>
          </a:p>
        </p:txBody>
      </p:sp>
      <p:sp>
        <p:nvSpPr>
          <p:cNvPr id="12" name="TextBox 11"/>
          <p:cNvSpPr txBox="1"/>
          <p:nvPr/>
        </p:nvSpPr>
        <p:spPr>
          <a:xfrm>
            <a:off x="-91440" y="3611880"/>
            <a:ext cx="1828800" cy="411480"/>
          </a:xfrm>
          <a:prstGeom prst="rect">
            <a:avLst/>
          </a:prstGeom>
          <a:noFill/>
        </p:spPr>
        <p:txBody>
          <a:bodyPr wrap="none">
            <a:spAutoFit/>
          </a:bodyPr>
          <a:lstStyle/>
          <a:p>
            <a:pPr algn="ctr"/>
            <a:r>
              <a:rPr sz="1100">
                <a:solidFill>
                  <a:srgbClr val="C87941"/>
                </a:solidFill>
                <a:latin typeface="Calibri"/>
              </a:rPr>
              <a:t>Feb 2025</a:t>
            </a:r>
          </a:p>
        </p:txBody>
      </p:sp>
      <p:sp>
        <p:nvSpPr>
          <p:cNvPr id="13" name="Oval 12"/>
          <p:cNvSpPr/>
          <p:nvPr/>
        </p:nvSpPr>
        <p:spPr>
          <a:xfrm>
            <a:off x="2788920" y="3017520"/>
            <a:ext cx="365760" cy="365760"/>
          </a:xfrm>
          <a:prstGeom prst="ellipse">
            <a:avLst/>
          </a:prstGeom>
          <a:solidFill>
            <a:srgbClr val="C87941"/>
          </a:solidFill>
          <a:ln>
            <a:noFill/>
          </a:ln>
          <a:effectLst>
            <a:glow rad="76200">
              <a:srgbClr val="C87941">
                <a:alpha val="8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965960" y="1371600"/>
            <a:ext cx="2011680" cy="1645920"/>
          </a:xfrm>
          <a:prstGeom prst="rect">
            <a:avLst/>
          </a:prstGeom>
          <a:noFill/>
        </p:spPr>
        <p:txBody>
          <a:bodyPr wrap="none">
            <a:spAutoFit/>
          </a:bodyPr>
          <a:lstStyle/>
          <a:p>
            <a:pPr algn="ctr"/>
            <a:r>
              <a:rPr sz="1200" b="0">
                <a:solidFill>
                  <a:srgbClr val="CCCCCC"/>
                </a:solidFill>
                <a:latin typeface="Calibri"/>
              </a:rPr>
              <a:t>Thunderbolts*</a:t>
            </a:r>
          </a:p>
        </p:txBody>
      </p:sp>
      <p:sp>
        <p:nvSpPr>
          <p:cNvPr id="15" name="TextBox 14"/>
          <p:cNvSpPr txBox="1"/>
          <p:nvPr/>
        </p:nvSpPr>
        <p:spPr>
          <a:xfrm>
            <a:off x="2057400" y="3611880"/>
            <a:ext cx="1828800" cy="411480"/>
          </a:xfrm>
          <a:prstGeom prst="rect">
            <a:avLst/>
          </a:prstGeom>
          <a:noFill/>
        </p:spPr>
        <p:txBody>
          <a:bodyPr wrap="none">
            <a:spAutoFit/>
          </a:bodyPr>
          <a:lstStyle/>
          <a:p>
            <a:pPr algn="ctr"/>
            <a:r>
              <a:rPr sz="1100">
                <a:solidFill>
                  <a:srgbClr val="C87941"/>
                </a:solidFill>
                <a:latin typeface="Calibri"/>
              </a:rPr>
              <a:t>May 2025</a:t>
            </a:r>
          </a:p>
        </p:txBody>
      </p:sp>
      <p:sp>
        <p:nvSpPr>
          <p:cNvPr id="16" name="Oval 15"/>
          <p:cNvSpPr/>
          <p:nvPr/>
        </p:nvSpPr>
        <p:spPr>
          <a:xfrm>
            <a:off x="4937760" y="3017520"/>
            <a:ext cx="365760" cy="365760"/>
          </a:xfrm>
          <a:prstGeom prst="ellipse">
            <a:avLst/>
          </a:prstGeom>
          <a:solidFill>
            <a:srgbClr val="C87941"/>
          </a:solidFill>
          <a:ln>
            <a:noFill/>
          </a:ln>
          <a:effectLst>
            <a:glow rad="76200">
              <a:srgbClr val="C87941">
                <a:alpha val="8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14800" y="1371600"/>
            <a:ext cx="2011680" cy="1645920"/>
          </a:xfrm>
          <a:prstGeom prst="rect">
            <a:avLst/>
          </a:prstGeom>
          <a:noFill/>
        </p:spPr>
        <p:txBody>
          <a:bodyPr wrap="none">
            <a:spAutoFit/>
          </a:bodyPr>
          <a:lstStyle/>
          <a:p>
            <a:pPr algn="ctr"/>
            <a:r>
              <a:rPr sz="1200" b="0">
                <a:solidFill>
                  <a:srgbClr val="CCCCCC"/>
                </a:solidFill>
                <a:latin typeface="Calibri"/>
              </a:rPr>
              <a:t>Fantastic
Four</a:t>
            </a:r>
          </a:p>
        </p:txBody>
      </p:sp>
      <p:sp>
        <p:nvSpPr>
          <p:cNvPr id="18" name="TextBox 17"/>
          <p:cNvSpPr txBox="1"/>
          <p:nvPr/>
        </p:nvSpPr>
        <p:spPr>
          <a:xfrm>
            <a:off x="4206240" y="3611880"/>
            <a:ext cx="1828800" cy="411480"/>
          </a:xfrm>
          <a:prstGeom prst="rect">
            <a:avLst/>
          </a:prstGeom>
          <a:noFill/>
        </p:spPr>
        <p:txBody>
          <a:bodyPr wrap="none">
            <a:spAutoFit/>
          </a:bodyPr>
          <a:lstStyle/>
          <a:p>
            <a:pPr algn="ctr"/>
            <a:r>
              <a:rPr sz="1100">
                <a:solidFill>
                  <a:srgbClr val="C87941"/>
                </a:solidFill>
                <a:latin typeface="Calibri"/>
              </a:rPr>
              <a:t>Jul 2025</a:t>
            </a:r>
          </a:p>
        </p:txBody>
      </p:sp>
      <p:sp>
        <p:nvSpPr>
          <p:cNvPr id="19" name="Oval 18"/>
          <p:cNvSpPr/>
          <p:nvPr/>
        </p:nvSpPr>
        <p:spPr>
          <a:xfrm>
            <a:off x="7086600" y="3017520"/>
            <a:ext cx="365760" cy="365760"/>
          </a:xfrm>
          <a:prstGeom prst="ellipse">
            <a:avLst/>
          </a:prstGeom>
          <a:solidFill>
            <a:srgbClr val="C87941"/>
          </a:solidFill>
          <a:ln>
            <a:noFill/>
          </a:ln>
          <a:effectLst>
            <a:glow rad="76200">
              <a:srgbClr val="C87941">
                <a:alpha val="8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3640" y="1371600"/>
            <a:ext cx="2011680" cy="1645920"/>
          </a:xfrm>
          <a:prstGeom prst="rect">
            <a:avLst/>
          </a:prstGeom>
          <a:noFill/>
        </p:spPr>
        <p:txBody>
          <a:bodyPr wrap="none">
            <a:spAutoFit/>
          </a:bodyPr>
          <a:lstStyle/>
          <a:p>
            <a:pPr algn="ctr"/>
            <a:r>
              <a:rPr sz="1200" b="0">
                <a:solidFill>
                  <a:srgbClr val="CCCCCC"/>
                </a:solidFill>
                <a:latin typeface="Calibri"/>
              </a:rPr>
              <a:t>Spider-Man:
Brand New Day</a:t>
            </a:r>
          </a:p>
        </p:txBody>
      </p:sp>
      <p:sp>
        <p:nvSpPr>
          <p:cNvPr id="21" name="TextBox 20"/>
          <p:cNvSpPr txBox="1"/>
          <p:nvPr/>
        </p:nvSpPr>
        <p:spPr>
          <a:xfrm>
            <a:off x="6355080" y="3611880"/>
            <a:ext cx="1828800" cy="411480"/>
          </a:xfrm>
          <a:prstGeom prst="rect">
            <a:avLst/>
          </a:prstGeom>
          <a:noFill/>
        </p:spPr>
        <p:txBody>
          <a:bodyPr wrap="none">
            <a:spAutoFit/>
          </a:bodyPr>
          <a:lstStyle/>
          <a:p>
            <a:pPr algn="ctr"/>
            <a:r>
              <a:rPr sz="1100">
                <a:solidFill>
                  <a:srgbClr val="C87941"/>
                </a:solidFill>
                <a:latin typeface="Calibri"/>
              </a:rPr>
              <a:t>Jul 2026</a:t>
            </a:r>
          </a:p>
        </p:txBody>
      </p:sp>
      <p:sp>
        <p:nvSpPr>
          <p:cNvPr id="22" name="Oval 21"/>
          <p:cNvSpPr/>
          <p:nvPr/>
        </p:nvSpPr>
        <p:spPr>
          <a:xfrm>
            <a:off x="9162288" y="2944368"/>
            <a:ext cx="512064" cy="512064"/>
          </a:xfrm>
          <a:prstGeom prst="ellipse">
            <a:avLst/>
          </a:prstGeom>
          <a:solidFill>
            <a:srgbClr val="E8923A"/>
          </a:solidFill>
          <a:ln>
            <a:noFill/>
          </a:ln>
          <a:effectLst>
            <a:glow rad="127000">
              <a:srgbClr val="E8923A">
                <a:alpha val="8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12480" y="1371600"/>
            <a:ext cx="2011680" cy="1645920"/>
          </a:xfrm>
          <a:prstGeom prst="rect">
            <a:avLst/>
          </a:prstGeom>
          <a:noFill/>
        </p:spPr>
        <p:txBody>
          <a:bodyPr wrap="none">
            <a:spAutoFit/>
          </a:bodyPr>
          <a:lstStyle/>
          <a:p>
            <a:pPr algn="ctr"/>
            <a:r>
              <a:rPr sz="1300" b="1">
                <a:solidFill>
                  <a:srgbClr val="E8923A"/>
                </a:solidFill>
                <a:latin typeface="Calibri"/>
              </a:rPr>
              <a:t>⭐ Avengers:
Doomsday</a:t>
            </a:r>
          </a:p>
        </p:txBody>
      </p:sp>
      <p:sp>
        <p:nvSpPr>
          <p:cNvPr id="24" name="TextBox 23"/>
          <p:cNvSpPr txBox="1"/>
          <p:nvPr/>
        </p:nvSpPr>
        <p:spPr>
          <a:xfrm>
            <a:off x="8503920" y="3611880"/>
            <a:ext cx="1828800" cy="411480"/>
          </a:xfrm>
          <a:prstGeom prst="rect">
            <a:avLst/>
          </a:prstGeom>
          <a:noFill/>
        </p:spPr>
        <p:txBody>
          <a:bodyPr wrap="none">
            <a:spAutoFit/>
          </a:bodyPr>
          <a:lstStyle/>
          <a:p>
            <a:pPr algn="ctr"/>
            <a:r>
              <a:rPr sz="1100">
                <a:solidFill>
                  <a:srgbClr val="C87941"/>
                </a:solidFill>
                <a:latin typeface="Calibri"/>
              </a:rPr>
              <a:t>Dec 2026</a:t>
            </a:r>
          </a:p>
        </p:txBody>
      </p:sp>
      <p:sp>
        <p:nvSpPr>
          <p:cNvPr id="25" name="Oval 24"/>
          <p:cNvSpPr/>
          <p:nvPr/>
        </p:nvSpPr>
        <p:spPr>
          <a:xfrm>
            <a:off x="11384280" y="3017520"/>
            <a:ext cx="365760" cy="365760"/>
          </a:xfrm>
          <a:prstGeom prst="ellipse">
            <a:avLst/>
          </a:prstGeom>
          <a:solidFill>
            <a:srgbClr val="C87941"/>
          </a:solidFill>
          <a:ln>
            <a:noFill/>
          </a:ln>
          <a:effectLst>
            <a:glow rad="76200">
              <a:srgbClr val="C87941">
                <a:alpha val="8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561320" y="1371600"/>
            <a:ext cx="2011680" cy="1645920"/>
          </a:xfrm>
          <a:prstGeom prst="rect">
            <a:avLst/>
          </a:prstGeom>
          <a:noFill/>
        </p:spPr>
        <p:txBody>
          <a:bodyPr wrap="none">
            <a:spAutoFit/>
          </a:bodyPr>
          <a:lstStyle/>
          <a:p>
            <a:pPr algn="ctr"/>
            <a:r>
              <a:rPr sz="1200" b="0">
                <a:solidFill>
                  <a:srgbClr val="CCCCCC"/>
                </a:solidFill>
                <a:latin typeface="Calibri"/>
              </a:rPr>
              <a:t>Secret
Wars</a:t>
            </a:r>
          </a:p>
        </p:txBody>
      </p:sp>
      <p:sp>
        <p:nvSpPr>
          <p:cNvPr id="27" name="TextBox 26"/>
          <p:cNvSpPr txBox="1"/>
          <p:nvPr/>
        </p:nvSpPr>
        <p:spPr>
          <a:xfrm>
            <a:off x="10652760" y="3611880"/>
            <a:ext cx="1828800" cy="411480"/>
          </a:xfrm>
          <a:prstGeom prst="rect">
            <a:avLst/>
          </a:prstGeom>
          <a:noFill/>
        </p:spPr>
        <p:txBody>
          <a:bodyPr wrap="none">
            <a:spAutoFit/>
          </a:bodyPr>
          <a:lstStyle/>
          <a:p>
            <a:pPr algn="ctr"/>
            <a:r>
              <a:rPr sz="1100">
                <a:solidFill>
                  <a:srgbClr val="C87941"/>
                </a:solidFill>
                <a:latin typeface="Calibri"/>
              </a:rPr>
              <a:t>2027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4114800"/>
            <a:ext cx="12161520" cy="2743200"/>
          </a:xfrm>
          <a:prstGeom prst="rect">
            <a:avLst/>
          </a:prstGeom>
          <a:gradFill>
            <a:gsLst>
              <a:gs pos="0">
                <a:srgbClr val="C87941">
                  <a:alpha val="5000"/>
                </a:srgbClr>
              </a:gs>
              <a:gs pos="15000">
                <a:srgbClr val="301800">
                  <a:alpha val="40000"/>
                </a:srgbClr>
              </a:gs>
              <a:gs pos="100000">
                <a:srgbClr val="000000"/>
              </a:gs>
            </a:gsLst>
            <a:lin ang="54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33087"/>
            <a:ext cx="12161520" cy="25400"/>
          </a:xfrm>
          <a:prstGeom prst="rect">
            <a:avLst/>
          </a:prstGeom>
          <a:solidFill>
            <a:srgbClr val="C87941">
              <a:alpha val="86274"/>
            </a:srgbClr>
          </a:solidFill>
          <a:ln>
            <a:noFill/>
          </a:ln>
          <a:effectLst>
            <a:glow rad="152400">
              <a:srgbClr val="C87941">
                <a:alpha val="8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rot="1800000">
            <a:off x="7315200" y="-914400"/>
            <a:ext cx="2743200" cy="9144000"/>
          </a:xfrm>
          <a:prstGeom prst="rect">
            <a:avLst/>
          </a:prstGeom>
          <a:solidFill>
            <a:srgbClr val="C87941">
              <a:alpha val="1176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rot="-1680000">
            <a:off x="1828800" y="-914400"/>
            <a:ext cx="1828800" cy="8229600"/>
          </a:xfrm>
          <a:prstGeom prst="rect">
            <a:avLst/>
          </a:prstGeom>
          <a:solidFill>
            <a:srgbClr val="C87941">
              <a:alpha val="1176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914400"/>
            <a:ext cx="3657600" cy="4572000"/>
          </a:xfrm>
          <a:prstGeom prst="rect">
            <a:avLst/>
          </a:prstGeom>
          <a:solidFill>
            <a:srgbClr val="111111">
              <a:alpha val="54901"/>
            </a:srgbClr>
          </a:solidFill>
          <a:ln w="12700">
            <a:solidFill>
              <a:srgbClr val="C87941">
                <a:alpha val="49803"/>
              </a:srgbClr>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0" y="1097280"/>
            <a:ext cx="3474720" cy="4389120"/>
          </a:xfrm>
          <a:prstGeom prst="rect">
            <a:avLst/>
          </a:prstGeom>
          <a:solidFill>
            <a:srgbClr val="111111">
              <a:alpha val="54901"/>
            </a:srgbClr>
          </a:solidFill>
          <a:ln w="12700">
            <a:solidFill>
              <a:srgbClr val="C87941">
                <a:alpha val="49803"/>
              </a:srgbClr>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
            <a:ext cx="10332720" cy="749808"/>
          </a:xfrm>
          <a:prstGeom prst="rect">
            <a:avLst/>
          </a:prstGeom>
          <a:noFill/>
        </p:spPr>
        <p:txBody>
          <a:bodyPr wrap="square">
            <a:spAutoFit/>
          </a:bodyPr>
          <a:lstStyle/>
          <a:p>
            <a:pPr algn="ctr"/>
            <a:r>
              <a:rPr sz="4400" b="1">
                <a:solidFill>
                  <a:srgbClr val="FFFFFF"/>
                </a:solidFill>
                <a:latin typeface="Impact"/>
              </a:rPr>
              <a:t>BY THE NUMBERS</a:t>
              <a:effectLst>
                <a:glow rad="127000">
                  <a:srgbClr val="E8923A">
                    <a:alpha val="85000"/>
                  </a:srgbClr>
                </a:glow>
              </a:effectLst>
            </a:r>
          </a:p>
        </p:txBody>
      </p:sp>
      <p:sp>
        <p:nvSpPr>
          <p:cNvPr id="9" name="Rectangle 8"/>
          <p:cNvSpPr/>
          <p:nvPr/>
        </p:nvSpPr>
        <p:spPr>
          <a:xfrm>
            <a:off x="365760" y="1051560"/>
            <a:ext cx="3749039" cy="1600200"/>
          </a:xfrm>
          <a:prstGeom prst="rect">
            <a:avLst/>
          </a:prstGeom>
          <a:solidFill>
            <a:srgbClr val="111111">
              <a:alpha val="84705"/>
            </a:srgbClr>
          </a:solidFill>
          <a:ln w="25400">
            <a:solidFill>
              <a:srgbClr val="E8923A"/>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188720"/>
            <a:ext cx="3749039" cy="822960"/>
          </a:xfrm>
          <a:prstGeom prst="rect">
            <a:avLst/>
          </a:prstGeom>
          <a:noFill/>
        </p:spPr>
        <p:txBody>
          <a:bodyPr wrap="none">
            <a:spAutoFit/>
          </a:bodyPr>
          <a:lstStyle/>
          <a:p>
            <a:pPr algn="ctr"/>
            <a:r>
              <a:rPr sz="5200">
                <a:solidFill>
                  <a:srgbClr val="E8923A"/>
                </a:solidFill>
                <a:latin typeface="Impact"/>
              </a:rPr>
              <a:t>39</a:t>
              <a:effectLst>
                <a:glow rad="101600">
                  <a:srgbClr val="E8923A">
                    <a:alpha val="80000"/>
                  </a:srgbClr>
                </a:glow>
              </a:effectLst>
            </a:r>
          </a:p>
        </p:txBody>
      </p:sp>
      <p:sp>
        <p:nvSpPr>
          <p:cNvPr id="11" name="TextBox 10"/>
          <p:cNvSpPr txBox="1"/>
          <p:nvPr/>
        </p:nvSpPr>
        <p:spPr>
          <a:xfrm>
            <a:off x="365760" y="1920240"/>
            <a:ext cx="3749039" cy="502920"/>
          </a:xfrm>
          <a:prstGeom prst="rect">
            <a:avLst/>
          </a:prstGeom>
          <a:noFill/>
        </p:spPr>
        <p:txBody>
          <a:bodyPr wrap="none">
            <a:spAutoFit/>
          </a:bodyPr>
          <a:lstStyle/>
          <a:p>
            <a:pPr algn="ctr"/>
            <a:r>
              <a:rPr sz="1400">
                <a:solidFill>
                  <a:srgbClr val="FFFFFF"/>
                </a:solidFill>
                <a:latin typeface="Calibri"/>
              </a:rPr>
              <a:t>MCU Film Number</a:t>
            </a:r>
          </a:p>
        </p:txBody>
      </p:sp>
      <p:sp>
        <p:nvSpPr>
          <p:cNvPr id="12" name="Rectangle 11"/>
          <p:cNvSpPr/>
          <p:nvPr/>
        </p:nvSpPr>
        <p:spPr>
          <a:xfrm>
            <a:off x="4251959" y="1051560"/>
            <a:ext cx="3749039" cy="1600200"/>
          </a:xfrm>
          <a:prstGeom prst="rect">
            <a:avLst/>
          </a:prstGeom>
          <a:solidFill>
            <a:srgbClr val="111111">
              <a:alpha val="84705"/>
            </a:srgbClr>
          </a:solidFill>
          <a:ln w="25400">
            <a:solidFill>
              <a:srgbClr val="E8923A"/>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51959" y="1188720"/>
            <a:ext cx="3749039" cy="822960"/>
          </a:xfrm>
          <a:prstGeom prst="rect">
            <a:avLst/>
          </a:prstGeom>
          <a:noFill/>
        </p:spPr>
        <p:txBody>
          <a:bodyPr wrap="none">
            <a:spAutoFit/>
          </a:bodyPr>
          <a:lstStyle/>
          <a:p>
            <a:pPr algn="ctr"/>
            <a:r>
              <a:rPr sz="5200">
                <a:solidFill>
                  <a:srgbClr val="E8923A"/>
                </a:solidFill>
                <a:latin typeface="Impact"/>
              </a:rPr>
              <a:t>$2.79B</a:t>
              <a:effectLst>
                <a:glow rad="101600">
                  <a:srgbClr val="E8923A">
                    <a:alpha val="80000"/>
                  </a:srgbClr>
                </a:glow>
              </a:effectLst>
            </a:r>
          </a:p>
        </p:txBody>
      </p:sp>
      <p:sp>
        <p:nvSpPr>
          <p:cNvPr id="14" name="TextBox 13"/>
          <p:cNvSpPr txBox="1"/>
          <p:nvPr/>
        </p:nvSpPr>
        <p:spPr>
          <a:xfrm>
            <a:off x="4251959" y="1920240"/>
            <a:ext cx="3749039" cy="502920"/>
          </a:xfrm>
          <a:prstGeom prst="rect">
            <a:avLst/>
          </a:prstGeom>
          <a:noFill/>
        </p:spPr>
        <p:txBody>
          <a:bodyPr wrap="none">
            <a:spAutoFit/>
          </a:bodyPr>
          <a:lstStyle/>
          <a:p>
            <a:pPr algn="ctr"/>
            <a:r>
              <a:rPr sz="1400">
                <a:solidFill>
                  <a:srgbClr val="FFFFFF"/>
                </a:solidFill>
                <a:latin typeface="Calibri"/>
              </a:rPr>
              <a:t>Endgame Benchmark</a:t>
            </a:r>
          </a:p>
        </p:txBody>
      </p:sp>
      <p:sp>
        <p:nvSpPr>
          <p:cNvPr id="15" name="Rectangle 14"/>
          <p:cNvSpPr/>
          <p:nvPr/>
        </p:nvSpPr>
        <p:spPr>
          <a:xfrm>
            <a:off x="8138158" y="1051560"/>
            <a:ext cx="3749039" cy="1600200"/>
          </a:xfrm>
          <a:prstGeom prst="rect">
            <a:avLst/>
          </a:prstGeom>
          <a:solidFill>
            <a:srgbClr val="111111">
              <a:alpha val="84705"/>
            </a:srgbClr>
          </a:solidFill>
          <a:ln w="25400">
            <a:solidFill>
              <a:srgbClr val="E8923A"/>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38158" y="1188720"/>
            <a:ext cx="3749039" cy="822960"/>
          </a:xfrm>
          <a:prstGeom prst="rect">
            <a:avLst/>
          </a:prstGeom>
          <a:noFill/>
        </p:spPr>
        <p:txBody>
          <a:bodyPr wrap="none">
            <a:spAutoFit/>
          </a:bodyPr>
          <a:lstStyle/>
          <a:p>
            <a:pPr algn="ctr"/>
            <a:r>
              <a:rPr sz="5200">
                <a:solidFill>
                  <a:srgbClr val="E8923A"/>
                </a:solidFill>
                <a:latin typeface="Impact"/>
              </a:rPr>
              <a:t>4</a:t>
              <a:effectLst>
                <a:glow rad="101600">
                  <a:srgbClr val="E8923A">
                    <a:alpha val="80000"/>
                  </a:srgbClr>
                </a:glow>
              </a:effectLst>
            </a:r>
          </a:p>
        </p:txBody>
      </p:sp>
      <p:sp>
        <p:nvSpPr>
          <p:cNvPr id="17" name="TextBox 16"/>
          <p:cNvSpPr txBox="1"/>
          <p:nvPr/>
        </p:nvSpPr>
        <p:spPr>
          <a:xfrm>
            <a:off x="8138158" y="1920240"/>
            <a:ext cx="3749039" cy="502920"/>
          </a:xfrm>
          <a:prstGeom prst="rect">
            <a:avLst/>
          </a:prstGeom>
          <a:noFill/>
        </p:spPr>
        <p:txBody>
          <a:bodyPr wrap="none">
            <a:spAutoFit/>
          </a:bodyPr>
          <a:lstStyle/>
          <a:p>
            <a:pPr algn="ctr"/>
            <a:r>
              <a:rPr sz="1400">
                <a:solidFill>
                  <a:srgbClr val="FFFFFF"/>
                </a:solidFill>
                <a:latin typeface="Calibri"/>
              </a:rPr>
              <a:t>Russo Brothers MCU Films</a:t>
            </a:r>
          </a:p>
        </p:txBody>
      </p:sp>
      <p:sp>
        <p:nvSpPr>
          <p:cNvPr id="18" name="Rectangle 17"/>
          <p:cNvSpPr/>
          <p:nvPr/>
        </p:nvSpPr>
        <p:spPr>
          <a:xfrm>
            <a:off x="365760" y="2816352"/>
            <a:ext cx="3749039" cy="1600200"/>
          </a:xfrm>
          <a:prstGeom prst="rect">
            <a:avLst/>
          </a:prstGeom>
          <a:solidFill>
            <a:srgbClr val="111111">
              <a:alpha val="84705"/>
            </a:srgbClr>
          </a:solidFill>
          <a:ln w="25400">
            <a:solidFill>
              <a:srgbClr val="E8923A"/>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60" y="2953512"/>
            <a:ext cx="3749039" cy="822960"/>
          </a:xfrm>
          <a:prstGeom prst="rect">
            <a:avLst/>
          </a:prstGeom>
          <a:noFill/>
        </p:spPr>
        <p:txBody>
          <a:bodyPr wrap="none">
            <a:spAutoFit/>
          </a:bodyPr>
          <a:lstStyle/>
          <a:p>
            <a:pPr algn="ctr"/>
            <a:r>
              <a:rPr sz="5200">
                <a:solidFill>
                  <a:srgbClr val="E8923A"/>
                </a:solidFill>
                <a:latin typeface="Impact"/>
              </a:rPr>
              <a:t>3</a:t>
              <a:effectLst>
                <a:glow rad="101600">
                  <a:srgbClr val="E8923A">
                    <a:alpha val="80000"/>
                  </a:srgbClr>
                </a:glow>
              </a:effectLst>
            </a:r>
          </a:p>
        </p:txBody>
      </p:sp>
      <p:sp>
        <p:nvSpPr>
          <p:cNvPr id="20" name="TextBox 19"/>
          <p:cNvSpPr txBox="1"/>
          <p:nvPr/>
        </p:nvSpPr>
        <p:spPr>
          <a:xfrm>
            <a:off x="365760" y="3685032"/>
            <a:ext cx="3749039" cy="502920"/>
          </a:xfrm>
          <a:prstGeom prst="rect">
            <a:avLst/>
          </a:prstGeom>
          <a:noFill/>
        </p:spPr>
        <p:txBody>
          <a:bodyPr wrap="none">
            <a:spAutoFit/>
          </a:bodyPr>
          <a:lstStyle/>
          <a:p>
            <a:pPr algn="ctr"/>
            <a:r>
              <a:rPr sz="1400">
                <a:solidFill>
                  <a:srgbClr val="FFFFFF"/>
                </a:solidFill>
                <a:latin typeface="Calibri"/>
              </a:rPr>
              <a:t>Universes Colliding</a:t>
            </a:r>
          </a:p>
        </p:txBody>
      </p:sp>
      <p:sp>
        <p:nvSpPr>
          <p:cNvPr id="21" name="Rectangle 20"/>
          <p:cNvSpPr/>
          <p:nvPr/>
        </p:nvSpPr>
        <p:spPr>
          <a:xfrm>
            <a:off x="4251959" y="2816352"/>
            <a:ext cx="3749039" cy="1600200"/>
          </a:xfrm>
          <a:prstGeom prst="rect">
            <a:avLst/>
          </a:prstGeom>
          <a:solidFill>
            <a:srgbClr val="111111">
              <a:alpha val="84705"/>
            </a:srgbClr>
          </a:solidFill>
          <a:ln w="25400">
            <a:solidFill>
              <a:srgbClr val="E8923A"/>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51959" y="2953512"/>
            <a:ext cx="3749039" cy="822960"/>
          </a:xfrm>
          <a:prstGeom prst="rect">
            <a:avLst/>
          </a:prstGeom>
          <a:noFill/>
        </p:spPr>
        <p:txBody>
          <a:bodyPr wrap="none">
            <a:spAutoFit/>
          </a:bodyPr>
          <a:lstStyle/>
          <a:p>
            <a:pPr algn="ctr"/>
            <a:r>
              <a:rPr sz="5200">
                <a:solidFill>
                  <a:srgbClr val="E8923A"/>
                </a:solidFill>
                <a:latin typeface="Impact"/>
              </a:rPr>
              <a:t>2026</a:t>
              <a:effectLst>
                <a:glow rad="101600">
                  <a:srgbClr val="E8923A">
                    <a:alpha val="80000"/>
                  </a:srgbClr>
                </a:glow>
              </a:effectLst>
            </a:r>
          </a:p>
        </p:txBody>
      </p:sp>
      <p:sp>
        <p:nvSpPr>
          <p:cNvPr id="23" name="TextBox 22"/>
          <p:cNvSpPr txBox="1"/>
          <p:nvPr/>
        </p:nvSpPr>
        <p:spPr>
          <a:xfrm>
            <a:off x="4251959" y="3685032"/>
            <a:ext cx="3749039" cy="502920"/>
          </a:xfrm>
          <a:prstGeom prst="rect">
            <a:avLst/>
          </a:prstGeom>
          <a:noFill/>
        </p:spPr>
        <p:txBody>
          <a:bodyPr wrap="none">
            <a:spAutoFit/>
          </a:bodyPr>
          <a:lstStyle/>
          <a:p>
            <a:pPr algn="ctr"/>
            <a:r>
              <a:rPr sz="1400">
                <a:solidFill>
                  <a:srgbClr val="FFFFFF"/>
                </a:solidFill>
                <a:latin typeface="Calibri"/>
              </a:rPr>
              <a:t>Release Year</a:t>
            </a:r>
          </a:p>
        </p:txBody>
      </p:sp>
      <p:sp>
        <p:nvSpPr>
          <p:cNvPr id="24" name="Rectangle 23"/>
          <p:cNvSpPr/>
          <p:nvPr/>
        </p:nvSpPr>
        <p:spPr>
          <a:xfrm>
            <a:off x="8138158" y="2816352"/>
            <a:ext cx="3749039" cy="1600200"/>
          </a:xfrm>
          <a:prstGeom prst="rect">
            <a:avLst/>
          </a:prstGeom>
          <a:solidFill>
            <a:srgbClr val="111111">
              <a:alpha val="84705"/>
            </a:srgbClr>
          </a:solidFill>
          <a:ln w="25400">
            <a:solidFill>
              <a:srgbClr val="E8923A"/>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38158" y="2953512"/>
            <a:ext cx="3749039" cy="822960"/>
          </a:xfrm>
          <a:prstGeom prst="rect">
            <a:avLst/>
          </a:prstGeom>
          <a:noFill/>
        </p:spPr>
        <p:txBody>
          <a:bodyPr wrap="none">
            <a:spAutoFit/>
          </a:bodyPr>
          <a:lstStyle/>
          <a:p>
            <a:pPr algn="ctr"/>
            <a:r>
              <a:rPr sz="5200">
                <a:solidFill>
                  <a:srgbClr val="E8923A"/>
                </a:solidFill>
                <a:latin typeface="Impact"/>
              </a:rPr>
              <a:t>1</a:t>
              <a:effectLst>
                <a:glow rad="101600">
                  <a:srgbClr val="E8923A">
                    <a:alpha val="80000"/>
                  </a:srgbClr>
                </a:glow>
              </a:effectLst>
            </a:r>
          </a:p>
        </p:txBody>
      </p:sp>
      <p:sp>
        <p:nvSpPr>
          <p:cNvPr id="26" name="TextBox 25"/>
          <p:cNvSpPr txBox="1"/>
          <p:nvPr/>
        </p:nvSpPr>
        <p:spPr>
          <a:xfrm>
            <a:off x="8138158" y="3685032"/>
            <a:ext cx="3749039" cy="502920"/>
          </a:xfrm>
          <a:prstGeom prst="rect">
            <a:avLst/>
          </a:prstGeom>
          <a:noFill/>
        </p:spPr>
        <p:txBody>
          <a:bodyPr wrap="none">
            <a:spAutoFit/>
          </a:bodyPr>
          <a:lstStyle/>
          <a:p>
            <a:pPr algn="ctr"/>
            <a:r>
              <a:rPr sz="1400">
                <a:solidFill>
                  <a:srgbClr val="FFFFFF"/>
                </a:solidFill>
                <a:latin typeface="Calibri"/>
              </a:rPr>
              <a:t>Victor Von Doom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4114800"/>
            <a:ext cx="12161520" cy="2743200"/>
          </a:xfrm>
          <a:prstGeom prst="rect">
            <a:avLst/>
          </a:prstGeom>
          <a:gradFill>
            <a:gsLst>
              <a:gs pos="0">
                <a:srgbClr val="C87941">
                  <a:alpha val="5000"/>
                </a:srgbClr>
              </a:gs>
              <a:gs pos="15000">
                <a:srgbClr val="301800">
                  <a:alpha val="40000"/>
                </a:srgbClr>
              </a:gs>
              <a:gs pos="100000">
                <a:srgbClr val="000000"/>
              </a:gs>
            </a:gsLst>
            <a:lin ang="54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33087"/>
            <a:ext cx="12161520" cy="25400"/>
          </a:xfrm>
          <a:prstGeom prst="rect">
            <a:avLst/>
          </a:prstGeom>
          <a:solidFill>
            <a:srgbClr val="C87941">
              <a:alpha val="86274"/>
            </a:srgbClr>
          </a:solidFill>
          <a:ln>
            <a:noFill/>
          </a:ln>
          <a:effectLst>
            <a:glow rad="152400">
              <a:srgbClr val="C87941">
                <a:alpha val="8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rot="1800000">
            <a:off x="7315200" y="-914400"/>
            <a:ext cx="2743200" cy="9144000"/>
          </a:xfrm>
          <a:prstGeom prst="rect">
            <a:avLst/>
          </a:prstGeom>
          <a:solidFill>
            <a:srgbClr val="C87941">
              <a:alpha val="1176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rot="-1680000">
            <a:off x="1828800" y="-914400"/>
            <a:ext cx="1828800" cy="8229600"/>
          </a:xfrm>
          <a:prstGeom prst="rect">
            <a:avLst/>
          </a:prstGeom>
          <a:solidFill>
            <a:srgbClr val="C87941">
              <a:alpha val="1176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914400"/>
            <a:ext cx="3657600" cy="4572000"/>
          </a:xfrm>
          <a:prstGeom prst="rect">
            <a:avLst/>
          </a:prstGeom>
          <a:solidFill>
            <a:srgbClr val="111111">
              <a:alpha val="54901"/>
            </a:srgbClr>
          </a:solidFill>
          <a:ln w="12700">
            <a:solidFill>
              <a:srgbClr val="C87941">
                <a:alpha val="49803"/>
              </a:srgbClr>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0" y="1097280"/>
            <a:ext cx="3474720" cy="4389120"/>
          </a:xfrm>
          <a:prstGeom prst="rect">
            <a:avLst/>
          </a:prstGeom>
          <a:solidFill>
            <a:srgbClr val="111111">
              <a:alpha val="54901"/>
            </a:srgbClr>
          </a:solidFill>
          <a:ln w="12700">
            <a:solidFill>
              <a:srgbClr val="C87941">
                <a:alpha val="49803"/>
              </a:srgbClr>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640080"/>
            <a:ext cx="11064240" cy="4114800"/>
          </a:xfrm>
          <a:prstGeom prst="rect">
            <a:avLst/>
          </a:prstGeom>
          <a:solidFill>
            <a:srgbClr val="111111">
              <a:alpha val="84705"/>
            </a:srgbClr>
          </a:solidFill>
          <a:ln w="25400">
            <a:solidFill>
              <a:srgbClr val="C87941"/>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731520"/>
            <a:ext cx="10515600" cy="777240"/>
          </a:xfrm>
          <a:prstGeom prst="rect">
            <a:avLst/>
          </a:prstGeom>
          <a:noFill/>
        </p:spPr>
        <p:txBody>
          <a:bodyPr wrap="square">
            <a:spAutoFit/>
          </a:bodyPr>
          <a:lstStyle/>
          <a:p>
            <a:pPr algn="ctr"/>
            <a:r>
              <a:rPr sz="4000" b="1">
                <a:solidFill>
                  <a:srgbClr val="FFFFFF"/>
                </a:solidFill>
                <a:latin typeface="Impact"/>
              </a:rPr>
              <a:t>WHY IT MATTERS</a:t>
              <a:effectLst>
                <a:glow rad="127000">
                  <a:srgbClr val="E8923A">
                    <a:alpha val="85000"/>
                  </a:srgbClr>
                </a:glow>
              </a:effectLst>
            </a:r>
          </a:p>
        </p:txBody>
      </p:sp>
      <p:sp>
        <p:nvSpPr>
          <p:cNvPr id="10" name="Rectangle 9"/>
          <p:cNvSpPr/>
          <p:nvPr/>
        </p:nvSpPr>
        <p:spPr>
          <a:xfrm>
            <a:off x="822960" y="1600200"/>
            <a:ext cx="10515600" cy="12700"/>
          </a:xfrm>
          <a:prstGeom prst="rect">
            <a:avLst/>
          </a:prstGeom>
          <a:solidFill>
            <a:srgbClr val="C87941">
              <a:alpha val="8627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737360"/>
            <a:ext cx="10149840" cy="2651760"/>
          </a:xfrm>
          <a:prstGeom prst="rect">
            <a:avLst/>
          </a:prstGeom>
          <a:noFill/>
        </p:spPr>
        <p:txBody>
          <a:bodyPr wrap="square">
            <a:spAutoFit/>
          </a:bodyPr>
          <a:lstStyle/>
          <a:p>
            <a:pPr algn="l"/>
            <a:r>
              <a:rPr sz="1500" b="0" i="0">
                <a:solidFill>
                  <a:srgbClr val="F5E6D0"/>
                </a:solidFill>
                <a:latin typeface="Calibri"/>
              </a:rPr>
              <a:t>Avengers: Doomsday is more than a superhero film — it is the culmination of an 18-year cinematic experiment that has redefined Hollywood blockbusters.
Robert Downey Jr's transformation from beloved hero to ultimate villain represents one of the boldest casting decisions in franchise history. The return of the Russo Brothers guarantees the large-scale, emotionally resonant storytelling that defined the Infinity Saga.
With the Fantastic Four, X-Men, Thunderbolts, and over 30 returning heroes, this film doesn't just close a chapter — it opens a new era.</a:t>
            </a:r>
          </a:p>
        </p:txBody>
      </p:sp>
      <p:sp>
        <p:nvSpPr>
          <p:cNvPr id="12" name="Rectangle 11"/>
          <p:cNvSpPr/>
          <p:nvPr/>
        </p:nvSpPr>
        <p:spPr>
          <a:xfrm>
            <a:off x="640080" y="4983480"/>
            <a:ext cx="3474720" cy="1417320"/>
          </a:xfrm>
          <a:prstGeom prst="rect">
            <a:avLst/>
          </a:prstGeom>
          <a:solidFill>
            <a:srgbClr val="111111">
              <a:alpha val="84705"/>
            </a:srgbClr>
          </a:solidFill>
          <a:ln w="25400">
            <a:solidFill>
              <a:srgbClr val="C87941"/>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5029200"/>
            <a:ext cx="3291840" cy="1325880"/>
          </a:xfrm>
          <a:prstGeom prst="rect">
            <a:avLst/>
          </a:prstGeom>
          <a:noFill/>
        </p:spPr>
        <p:txBody>
          <a:bodyPr wrap="none">
            <a:spAutoFit/>
          </a:bodyPr>
          <a:lstStyle/>
          <a:p>
            <a:pPr algn="ctr"/>
            <a:r>
              <a:rPr sz="1400">
                <a:solidFill>
                  <a:srgbClr val="CCCCCC"/>
                </a:solidFill>
                <a:latin typeface="Calibri"/>
              </a:rPr>
              <a:t>🦸  MCU Veterans
+ New Heroes</a:t>
            </a:r>
          </a:p>
        </p:txBody>
      </p:sp>
      <p:sp>
        <p:nvSpPr>
          <p:cNvPr id="14" name="Rectangle 13"/>
          <p:cNvSpPr/>
          <p:nvPr/>
        </p:nvSpPr>
        <p:spPr>
          <a:xfrm>
            <a:off x="4434840" y="4983480"/>
            <a:ext cx="3474720" cy="1417320"/>
          </a:xfrm>
          <a:prstGeom prst="rect">
            <a:avLst/>
          </a:prstGeom>
          <a:solidFill>
            <a:srgbClr val="111111">
              <a:alpha val="84705"/>
            </a:srgbClr>
          </a:solidFill>
          <a:ln w="25400">
            <a:solidFill>
              <a:srgbClr val="C87941"/>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26280" y="5029200"/>
            <a:ext cx="3291840" cy="1325880"/>
          </a:xfrm>
          <a:prstGeom prst="rect">
            <a:avLst/>
          </a:prstGeom>
          <a:noFill/>
        </p:spPr>
        <p:txBody>
          <a:bodyPr wrap="none">
            <a:spAutoFit/>
          </a:bodyPr>
          <a:lstStyle/>
          <a:p>
            <a:pPr algn="ctr"/>
            <a:r>
              <a:rPr sz="1400">
                <a:solidFill>
                  <a:srgbClr val="CCCCCC"/>
                </a:solidFill>
                <a:latin typeface="Calibri"/>
              </a:rPr>
              <a:t>🌌  Multiverse Saga
Endgame</a:t>
            </a:r>
          </a:p>
        </p:txBody>
      </p:sp>
      <p:sp>
        <p:nvSpPr>
          <p:cNvPr id="16" name="Rectangle 15"/>
          <p:cNvSpPr/>
          <p:nvPr/>
        </p:nvSpPr>
        <p:spPr>
          <a:xfrm>
            <a:off x="8229600" y="4983480"/>
            <a:ext cx="3474720" cy="1417320"/>
          </a:xfrm>
          <a:prstGeom prst="rect">
            <a:avLst/>
          </a:prstGeom>
          <a:solidFill>
            <a:srgbClr val="111111">
              <a:alpha val="84705"/>
            </a:srgbClr>
          </a:solidFill>
          <a:ln w="25400">
            <a:solidFill>
              <a:srgbClr val="C87941"/>
            </a:solidFill>
          </a:ln>
          <a:effectLst>
            <a:outerShdw blurRad="355600" dist="63500" dir="8100000" algn="ctr"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21040" y="5029200"/>
            <a:ext cx="3291840" cy="1325880"/>
          </a:xfrm>
          <a:prstGeom prst="rect">
            <a:avLst/>
          </a:prstGeom>
          <a:noFill/>
        </p:spPr>
        <p:txBody>
          <a:bodyPr wrap="none">
            <a:spAutoFit/>
          </a:bodyPr>
          <a:lstStyle/>
          <a:p>
            <a:pPr algn="ctr"/>
            <a:r>
              <a:rPr sz="1400">
                <a:solidFill>
                  <a:srgbClr val="CCCCCC"/>
                </a:solidFill>
                <a:latin typeface="Calibri"/>
              </a:rPr>
              <a:t>🎭  RDJ's Most
Complex Role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4114800"/>
            <a:ext cx="12161520" cy="2743200"/>
          </a:xfrm>
          <a:prstGeom prst="rect">
            <a:avLst/>
          </a:prstGeom>
          <a:gradFill>
            <a:gsLst>
              <a:gs pos="0">
                <a:srgbClr val="C87941">
                  <a:alpha val="5000"/>
                </a:srgbClr>
              </a:gs>
              <a:gs pos="15000">
                <a:srgbClr val="301800">
                  <a:alpha val="40000"/>
                </a:srgbClr>
              </a:gs>
              <a:gs pos="100000">
                <a:srgbClr val="000000"/>
              </a:gs>
            </a:gsLst>
            <a:lin ang="54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33087"/>
            <a:ext cx="12161520" cy="25400"/>
          </a:xfrm>
          <a:prstGeom prst="rect">
            <a:avLst/>
          </a:prstGeom>
          <a:solidFill>
            <a:srgbClr val="C87941">
              <a:alpha val="86274"/>
            </a:srgbClr>
          </a:solidFill>
          <a:ln>
            <a:noFill/>
          </a:ln>
          <a:effectLst>
            <a:glow rad="152400">
              <a:srgbClr val="C87941">
                <a:alpha val="8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rot="1800000">
            <a:off x="7315200" y="-914400"/>
            <a:ext cx="2743200" cy="9144000"/>
          </a:xfrm>
          <a:prstGeom prst="rect">
            <a:avLst/>
          </a:prstGeom>
          <a:solidFill>
            <a:srgbClr val="C87941">
              <a:alpha val="1176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rot="-1680000">
            <a:off x="1828800" y="-914400"/>
            <a:ext cx="1828800" cy="8229600"/>
          </a:xfrm>
          <a:prstGeom prst="rect">
            <a:avLst/>
          </a:prstGeom>
          <a:solidFill>
            <a:srgbClr val="C87941">
              <a:alpha val="1176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423160" y="2651759"/>
            <a:ext cx="7315200" cy="2194560"/>
          </a:xfrm>
          <a:prstGeom prst="ellipse">
            <a:avLst/>
          </a:prstGeom>
          <a:solidFill>
            <a:srgbClr val="FF7820">
              <a:alpha val="3921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3337560" y="1097280"/>
            <a:ext cx="5486400" cy="3657600"/>
          </a:xfrm>
          <a:prstGeom prst="ellipse">
            <a:avLst/>
          </a:prstGeom>
          <a:solidFill>
            <a:srgbClr val="C87941">
              <a:alpha val="2352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828800"/>
            <a:ext cx="11247120" cy="2286000"/>
          </a:xfrm>
          <a:prstGeom prst="rect">
            <a:avLst/>
          </a:prstGeom>
          <a:noFill/>
        </p:spPr>
        <p:txBody>
          <a:bodyPr wrap="none">
            <a:spAutoFit/>
          </a:bodyPr>
          <a:lstStyle/>
          <a:p>
            <a:pPr algn="ctr"/>
            <a:r>
              <a:rPr sz="8000">
                <a:solidFill>
                  <a:srgbClr val="E8923A"/>
                </a:solidFill>
                <a:latin typeface="Impact"/>
              </a:rPr>
              <a:t>DOOM IS COMING.</a:t>
              <a:effectLst>
                <a:glow rad="355600">
                  <a:srgbClr val="FF7820">
                    <a:alpha val="95000"/>
                  </a:srgbClr>
                </a:glow>
              </a:effectLst>
            </a:r>
          </a:p>
        </p:txBody>
      </p:sp>
      <p:sp>
        <p:nvSpPr>
          <p:cNvPr id="9" name="TextBox 8"/>
          <p:cNvSpPr txBox="1"/>
          <p:nvPr/>
        </p:nvSpPr>
        <p:spPr>
          <a:xfrm>
            <a:off x="1828800" y="4389120"/>
            <a:ext cx="8503920" cy="548640"/>
          </a:xfrm>
          <a:prstGeom prst="rect">
            <a:avLst/>
          </a:prstGeom>
          <a:noFill/>
        </p:spPr>
        <p:txBody>
          <a:bodyPr wrap="square">
            <a:spAutoFit/>
          </a:bodyPr>
          <a:lstStyle/>
          <a:p>
            <a:pPr algn="ctr"/>
            <a:r>
              <a:rPr sz="1800" b="0" i="0">
                <a:solidFill>
                  <a:srgbClr val="C87941"/>
                </a:solidFill>
                <a:latin typeface="Calibri"/>
              </a:rPr>
              <a:t>December 18, 2026  ·  Marvel Studios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