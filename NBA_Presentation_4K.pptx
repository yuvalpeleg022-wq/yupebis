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ho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PPG</c:v>
                </c:pt>
              </c:strCache>
            </c:strRef>
          </c:tx>
          <c:spPr>
            <a:solidFill>
              <a:srgbClr val="C8A8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A8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A84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A84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9BB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9BB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A9BB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A9BB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A9BB5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Shai Gilgeous-Alexander</c:v>
                  </c:pt>
                  <c:pt idx="1">
                    <c:v>Giannis Antetokounmpo</c:v>
                  </c:pt>
                  <c:pt idx="2">
                    <c:v>Nikola Jokic</c:v>
                  </c:pt>
                  <c:pt idx="3">
                    <c:v>Karl-Anthony Towns</c:v>
                  </c:pt>
                  <c:pt idx="4">
                    <c:v>Donovan Mitchell</c:v>
                  </c:pt>
                  <c:pt idx="5">
                    <c:v>Ja Morant</c:v>
                  </c:pt>
                  <c:pt idx="6">
                    <c:v>Devin Booker</c:v>
                  </c:pt>
                  <c:pt idx="7">
                    <c:v>LaMelo Ball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32.7</c:v>
                </c:pt>
                <c:pt idx="1">
                  <c:v>30.4</c:v>
                </c:pt>
                <c:pt idx="2">
                  <c:v>29.6</c:v>
                </c:pt>
                <c:pt idx="3">
                  <c:v>27.5</c:v>
                </c:pt>
                <c:pt idx="4">
                  <c:v>26.9</c:v>
                </c:pt>
                <c:pt idx="5">
                  <c:v>26.2</c:v>
                </c:pt>
                <c:pt idx="6">
                  <c:v>25.7</c:v>
                </c:pt>
                <c:pt idx="7">
                  <c:v>24.9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20"/>
        </c:scaling>
        <c:delete val="0"/>
        <c:axPos val="b"/>
        <c:majorGridlines>
          <c:spPr>
            <a:ln w="12700" cap="flat">
              <a:solidFill>
                <a:srgbClr val="1A27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E1A"/>
        </a:solidFill>
        <a:ln>
          <a:noFill/>
        </a:ln>
        <a:effectLst/>
      </c:spPr>
    </c:plotArea>
    <c:plotVisOnly val="1"/>
    <c:dispBlanksAs val="span"/>
  </c:chart>
  <c:spPr>
    <a:solidFill>
      <a:srgbClr val="0A0E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Wins</c:v>
                </c:pt>
              </c:strCache>
            </c:strRef>
          </c:tx>
          <c:spPr>
            <a:solidFill>
              <a:srgbClr val="1A2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OKC</c:v>
                  </c:pt>
                  <c:pt idx="1">
                    <c:v>DEN</c:v>
                  </c:pt>
                  <c:pt idx="2">
                    <c:v>BOS</c:v>
                  </c:pt>
                  <c:pt idx="3">
                    <c:v>CLE</c:v>
                  </c:pt>
                  <c:pt idx="4">
                    <c:v>NYK</c:v>
                  </c:pt>
                  <c:pt idx="5">
                    <c:v>MIN</c:v>
                  </c:pt>
                  <c:pt idx="6">
                    <c:v>MIL</c:v>
                  </c:pt>
                  <c:pt idx="7">
                    <c:v>LAC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63</c:v>
                </c:pt>
                <c:pt idx="1">
                  <c:v>55</c:v>
                </c:pt>
                <c:pt idx="2">
                  <c:v>61</c:v>
                </c:pt>
                <c:pt idx="3">
                  <c:v>57</c:v>
                </c:pt>
                <c:pt idx="4">
                  <c:v>51</c:v>
                </c:pt>
                <c:pt idx="5">
                  <c:v>52</c:v>
                </c:pt>
                <c:pt idx="6">
                  <c:v>49</c:v>
                </c:pt>
                <c:pt idx="7">
                  <c:v>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PPG</c:v>
                </c:pt>
              </c:strCache>
            </c:strRef>
          </c:tx>
          <c:spPr>
            <a:solidFill>
              <a:srgbClr val="C8A84B"/>
            </a:solidFill>
            <a:ln w="38100" cap="flat">
              <a:solidFill>
                <a:srgbClr val="C8A8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8A84B"/>
              </a:solidFill>
              <a:ln w="9525" cap="flat">
                <a:solidFill>
                  <a:srgbClr val="C8A8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OKC</c:v>
                  </c:pt>
                  <c:pt idx="1">
                    <c:v>DEN</c:v>
                  </c:pt>
                  <c:pt idx="2">
                    <c:v>BOS</c:v>
                  </c:pt>
                  <c:pt idx="3">
                    <c:v>CLE</c:v>
                  </c:pt>
                  <c:pt idx="4">
                    <c:v>NYK</c:v>
                  </c:pt>
                  <c:pt idx="5">
                    <c:v>MIN</c:v>
                  </c:pt>
                  <c:pt idx="6">
                    <c:v>MIL</c:v>
                  </c:pt>
                  <c:pt idx="7">
                    <c:v>LAC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118.3</c:v>
                </c:pt>
                <c:pt idx="1">
                  <c:v>116.1</c:v>
                </c:pt>
                <c:pt idx="2">
                  <c:v>120.5</c:v>
                </c:pt>
                <c:pt idx="3">
                  <c:v>112.3</c:v>
                </c:pt>
                <c:pt idx="4">
                  <c:v>113.8</c:v>
                </c:pt>
                <c:pt idx="5">
                  <c:v>111.2</c:v>
                </c:pt>
                <c:pt idx="6">
                  <c:v>115.6</c:v>
                </c:pt>
                <c:pt idx="7">
                  <c:v>110.7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27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E1A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0A0E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914400"/>
            <a:ext cx="5029200" cy="5029200"/>
          </a:xfrm>
          <a:prstGeom prst="ellipse">
            <a:avLst/>
          </a:prstGeom>
          <a:solidFill>
            <a:srgbClr val="C8A84B">
              <a:alpha val="15000"/>
            </a:srgbClr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3200400"/>
            <a:ext cx="4572000" cy="4572000"/>
          </a:xfrm>
          <a:prstGeom prst="ellipse">
            <a:avLst/>
          </a:prstGeom>
          <a:solidFill>
            <a:srgbClr val="C8A84B">
              <a:alpha val="12000"/>
            </a:srgbClr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4572000"/>
            <a:ext cx="2743200" cy="2743200"/>
          </a:xfrm>
          <a:prstGeom prst="ellipse">
            <a:avLst/>
          </a:prstGeom>
          <a:solidFill>
            <a:srgbClr val="1A2744">
              <a:alpha val="30000"/>
            </a:srgbClr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822960"/>
            <a:ext cx="12192000" cy="201168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1016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i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NBA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2743200" y="3017520"/>
            <a:ext cx="6675120" cy="27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3154680"/>
            <a:ext cx="5760720" cy="27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3291840"/>
            <a:ext cx="6675120" cy="27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347472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2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 Season in Review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0" y="60350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8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YOUR NAME</a:t>
            </a:r>
            <a:endParaRPr lang="en-US" sz="1200" dirty="0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11430000" cy="6309360"/>
          </a:xfrm>
          <a:prstGeom prst="rect">
            <a:avLst/>
          </a:prstGeom>
          <a:solidFill>
            <a:srgbClr val="0A0E1A">
              <a:alpha val="85000"/>
            </a:srgbClr>
          </a:solidFill>
          <a:ln w="12700">
            <a:solidFill>
              <a:srgbClr val="0A0E1A"/>
            </a:solidFill>
            <a:prstDash val="solid"/>
          </a:ln>
          <a:effectLst>
            <a:outerShdw sx="100000" sy="100000" kx="0" ky="0" algn="bl" rotWithShape="0" blurRad="381000" dist="152400" dir="8100000">
              <a:srgbClr val="000000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i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SEASON AT A GLANCE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229600" cy="27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71600"/>
            <a:ext cx="2606040" cy="3474720"/>
          </a:xfrm>
          <a:prstGeom prst="roundRect">
            <a:avLst>
              <a:gd name="adj" fmla="val 6316"/>
            </a:avLst>
          </a:prstGeom>
          <a:solidFill>
            <a:srgbClr val="0A0E1A"/>
          </a:solidFill>
          <a:ln w="12700">
            <a:solidFill>
              <a:srgbClr val="C8A84B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0116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1417320" y="3246120"/>
            <a:ext cx="960120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606040" cy="3474720"/>
          </a:xfrm>
          <a:prstGeom prst="roundRect">
            <a:avLst>
              <a:gd name="adj" fmla="val 6316"/>
            </a:avLst>
          </a:prstGeom>
          <a:solidFill>
            <a:srgbClr val="0A0E1A"/>
          </a:solidFill>
          <a:ln w="12700">
            <a:solidFill>
              <a:srgbClr val="C8A84B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20116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1,230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4206240" y="3246120"/>
            <a:ext cx="960120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PLAYED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371600"/>
            <a:ext cx="2606040" cy="3474720"/>
          </a:xfrm>
          <a:prstGeom prst="roundRect">
            <a:avLst>
              <a:gd name="adj" fmla="val 6316"/>
            </a:avLst>
          </a:prstGeom>
          <a:solidFill>
            <a:srgbClr val="0A0E1A"/>
          </a:solidFill>
          <a:ln w="12700">
            <a:solidFill>
              <a:srgbClr val="C8A84B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20116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450+</a:t>
            </a:r>
            <a:endParaRPr lang="en-US" sz="5200" dirty="0"/>
          </a:p>
        </p:txBody>
      </p:sp>
      <p:sp>
        <p:nvSpPr>
          <p:cNvPr id="16" name="Shape 14"/>
          <p:cNvSpPr/>
          <p:nvPr/>
        </p:nvSpPr>
        <p:spPr>
          <a:xfrm>
            <a:off x="6995160" y="3246120"/>
            <a:ext cx="960120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61120" y="1371600"/>
            <a:ext cx="2606040" cy="3474720"/>
          </a:xfrm>
          <a:prstGeom prst="roundRect">
            <a:avLst>
              <a:gd name="adj" fmla="val 6316"/>
            </a:avLst>
          </a:prstGeom>
          <a:solidFill>
            <a:srgbClr val="0A0E1A"/>
          </a:solidFill>
          <a:ln w="12700">
            <a:solidFill>
              <a:srgbClr val="C8A84B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0" y="20116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</a:t>
            </a:r>
            <a:endParaRPr lang="en-US" sz="5200" dirty="0"/>
          </a:p>
        </p:txBody>
      </p:sp>
      <p:sp>
        <p:nvSpPr>
          <p:cNvPr id="20" name="Shape 18"/>
          <p:cNvSpPr/>
          <p:nvPr/>
        </p:nvSpPr>
        <p:spPr>
          <a:xfrm>
            <a:off x="9784080" y="3246120"/>
            <a:ext cx="960120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PER TEAM</a:t>
            </a:r>
            <a:endParaRPr lang="en-US" sz="1100" dirty="0"/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0" y="365760"/>
            <a:ext cx="7132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0" b="1" i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i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EASTERN CONFERENCE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5669280" cy="27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5029200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957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17957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179576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77640" y="1179576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17957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527048"/>
            <a:ext cx="5029200" cy="347472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63624"/>
            <a:ext cx="45720" cy="2743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5636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1563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Celtics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56362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77640" y="156362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56362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.744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1874520"/>
            <a:ext cx="50292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911096"/>
            <a:ext cx="45720" cy="2743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191109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19110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Cleveland Cavaliers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191109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77640" y="191109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91109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.695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221992"/>
            <a:ext cx="5029200" cy="347472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258568"/>
            <a:ext cx="45720" cy="27432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2585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2258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Knicks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22585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77640" y="22585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22585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.622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2569464"/>
            <a:ext cx="50292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2606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584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Milwaukee Bucks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0" y="26060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77640" y="26060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.598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2916936"/>
            <a:ext cx="5029200" cy="347472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2953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5840" y="2953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Pacers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91840" y="295351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77640" y="295351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0" y="2953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.561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3264408"/>
            <a:ext cx="50292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3009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05840" y="33009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 Heat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91840" y="330098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977640" y="330098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663440" y="33009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.537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3611880"/>
            <a:ext cx="5029200" cy="347472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36484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05840" y="36484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Orlando Magic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291840" y="364845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977640" y="364845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663440" y="36484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.524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3959352"/>
            <a:ext cx="50292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39959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05840" y="39959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 76ers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291840" y="399592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977640" y="399592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663440" y="39959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.500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400800" y="1280160"/>
            <a:ext cx="5303520" cy="4389120"/>
          </a:xfrm>
          <a:prstGeom prst="roundRect">
            <a:avLst>
              <a:gd name="adj" fmla="val 4167"/>
            </a:avLst>
          </a:prstGeom>
          <a:solidFill>
            <a:srgbClr val="1A2744"/>
          </a:solidFill>
          <a:ln w="25400">
            <a:solidFill>
              <a:srgbClr val="C8A84B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6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67512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SEED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675120" y="20574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Boston Celtics</a:t>
            </a:r>
            <a:endParaRPr lang="en-US" sz="3600" dirty="0"/>
          </a:p>
        </p:txBody>
      </p:sp>
      <p:sp>
        <p:nvSpPr>
          <p:cNvPr id="66" name="Shape 64"/>
          <p:cNvSpPr/>
          <p:nvPr/>
        </p:nvSpPr>
        <p:spPr>
          <a:xfrm>
            <a:off x="6675120" y="320040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67512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</a:t>
            </a:r>
            <a:endParaRPr lang="en-US" sz="3200" dirty="0"/>
          </a:p>
        </p:txBody>
      </p:sp>
      <p:sp>
        <p:nvSpPr>
          <p:cNvPr id="68" name="Text 66"/>
          <p:cNvSpPr/>
          <p:nvPr/>
        </p:nvSpPr>
        <p:spPr>
          <a:xfrm>
            <a:off x="6675120" y="4114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321040" y="320040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832104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3200" dirty="0"/>
          </a:p>
        </p:txBody>
      </p:sp>
      <p:sp>
        <p:nvSpPr>
          <p:cNvPr id="71" name="Text 69"/>
          <p:cNvSpPr/>
          <p:nvPr/>
        </p:nvSpPr>
        <p:spPr>
          <a:xfrm>
            <a:off x="8321040" y="4114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966960" y="320040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996696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.744</a:t>
            </a:r>
            <a:endParaRPr lang="en-US" sz="3200" dirty="0"/>
          </a:p>
        </p:txBody>
      </p:sp>
      <p:sp>
        <p:nvSpPr>
          <p:cNvPr id="74" name="Text 72"/>
          <p:cNvSpPr/>
          <p:nvPr/>
        </p:nvSpPr>
        <p:spPr>
          <a:xfrm>
            <a:off x="9966960" y="4114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%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675120" y="5029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Back-to-back title contenders</a:t>
            </a:r>
            <a:endParaRPr lang="en-US" sz="1100" dirty="0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0" y="365760"/>
            <a:ext cx="7132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800" b="1" i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i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WESTERN CONFERENCE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5669280" cy="27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5029200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957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17957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179576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77640" y="1179576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17957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527048"/>
            <a:ext cx="5029200" cy="347472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63624"/>
            <a:ext cx="45720" cy="27432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5636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1563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Oklahoma City Thunder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56362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77640" y="156362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56362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.768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1874520"/>
            <a:ext cx="50292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911096"/>
            <a:ext cx="45720" cy="27432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191109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19110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 Nuggets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191109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77640" y="191109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91109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.671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221992"/>
            <a:ext cx="5029200" cy="347472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258568"/>
            <a:ext cx="45720" cy="27432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2585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2258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Minnesota Timberwolves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22585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77640" y="22585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22585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.634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2569464"/>
            <a:ext cx="50292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2606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584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Clippers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0" y="26060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77640" y="26060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.598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2916936"/>
            <a:ext cx="5029200" cy="347472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2953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5840" y="2953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Suns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91840" y="295351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77640" y="295351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0" y="2953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.573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3264408"/>
            <a:ext cx="50292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3009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05840" y="33009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Sacramento Kings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91840" y="330098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977640" y="330098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663440" y="33009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.549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3611880"/>
            <a:ext cx="5029200" cy="347472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36484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05840" y="36484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State Warriors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291840" y="364845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977640" y="364845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663440" y="36484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.537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3959352"/>
            <a:ext cx="50292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39959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05840" y="39959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 Mavericks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291840" y="399592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977640" y="399592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663440" y="39959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.512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400800" y="1280160"/>
            <a:ext cx="5303520" cy="4389120"/>
          </a:xfrm>
          <a:prstGeom prst="roundRect">
            <a:avLst>
              <a:gd name="adj" fmla="val 4167"/>
            </a:avLst>
          </a:prstGeom>
          <a:solidFill>
            <a:srgbClr val="1A2744"/>
          </a:solidFill>
          <a:ln w="25400">
            <a:solidFill>
              <a:srgbClr val="E84040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6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67512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SEED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675120" y="20574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Oklahoma City Thunder</a:t>
            </a:r>
            <a:endParaRPr lang="en-US" sz="3600" dirty="0"/>
          </a:p>
        </p:txBody>
      </p:sp>
      <p:sp>
        <p:nvSpPr>
          <p:cNvPr id="66" name="Shape 64"/>
          <p:cNvSpPr/>
          <p:nvPr/>
        </p:nvSpPr>
        <p:spPr>
          <a:xfrm>
            <a:off x="6675120" y="320040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67512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</a:t>
            </a:r>
            <a:endParaRPr lang="en-US" sz="3200" dirty="0"/>
          </a:p>
        </p:txBody>
      </p:sp>
      <p:sp>
        <p:nvSpPr>
          <p:cNvPr id="68" name="Text 66"/>
          <p:cNvSpPr/>
          <p:nvPr/>
        </p:nvSpPr>
        <p:spPr>
          <a:xfrm>
            <a:off x="6675120" y="4114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321040" y="320040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832104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3200" dirty="0"/>
          </a:p>
        </p:txBody>
      </p:sp>
      <p:sp>
        <p:nvSpPr>
          <p:cNvPr id="71" name="Text 69"/>
          <p:cNvSpPr/>
          <p:nvPr/>
        </p:nvSpPr>
        <p:spPr>
          <a:xfrm>
            <a:off x="8321040" y="4114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966960" y="3200400"/>
            <a:ext cx="1463040" cy="1554480"/>
          </a:xfrm>
          <a:prstGeom prst="roundRect">
            <a:avLst>
              <a:gd name="adj" fmla="val 7500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996696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.768</a:t>
            </a:r>
            <a:endParaRPr lang="en-US" sz="3200" dirty="0"/>
          </a:p>
        </p:txBody>
      </p:sp>
      <p:sp>
        <p:nvSpPr>
          <p:cNvPr id="74" name="Text 72"/>
          <p:cNvSpPr/>
          <p:nvPr/>
        </p:nvSpPr>
        <p:spPr>
          <a:xfrm>
            <a:off x="9966960" y="4114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%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675120" y="5029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League's best record</a:t>
            </a:r>
            <a:endParaRPr lang="en-US" sz="1100" dirty="0"/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>
              <a:alpha val="8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i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CANDIDATES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8229600" cy="27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43000"/>
            <a:ext cx="3566160" cy="5120640"/>
          </a:xfrm>
          <a:prstGeom prst="roundRect">
            <a:avLst>
              <a:gd name="adj" fmla="val 5128"/>
            </a:avLst>
          </a:prstGeom>
          <a:solidFill>
            <a:srgbClr val="0A0E1A"/>
          </a:solidFill>
          <a:ln w="25400">
            <a:solidFill>
              <a:srgbClr val="C8A84B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6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4480" y="1417320"/>
            <a:ext cx="1554480" cy="1554480"/>
          </a:xfrm>
          <a:prstGeom prst="ellipse">
            <a:avLst/>
          </a:prstGeom>
          <a:solidFill>
            <a:srgbClr val="8A9BB5"/>
          </a:solidFill>
          <a:ln w="25400">
            <a:solidFill>
              <a:srgbClr val="C8A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1089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Shai Gilgeous-Alexander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Oklahoma City Thunder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2519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4937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42519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83080" y="4937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42519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80360" y="4937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51560" y="544068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477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FRONTRUNNER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43400" y="1143000"/>
            <a:ext cx="3566160" cy="5120640"/>
          </a:xfrm>
          <a:prstGeom prst="roundRect">
            <a:avLst>
              <a:gd name="adj" fmla="val 5128"/>
            </a:avLst>
          </a:prstGeom>
          <a:solidFill>
            <a:srgbClr val="0A0E1A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6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9240" y="1417320"/>
            <a:ext cx="1554480" cy="1554480"/>
          </a:xfrm>
          <a:prstGeom prst="ellipse">
            <a:avLst/>
          </a:prstGeom>
          <a:solidFill>
            <a:srgbClr val="8A9BB5"/>
          </a:solidFill>
          <a:ln w="25400">
            <a:solidFill>
              <a:srgbClr val="1A27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31089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Nikola Jokic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48056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 Nuggets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42519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480560" y="4937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42519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77840" y="4937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42519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75120" y="4937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38160" y="1143000"/>
            <a:ext cx="3566160" cy="5120640"/>
          </a:xfrm>
          <a:prstGeom prst="roundRect">
            <a:avLst>
              <a:gd name="adj" fmla="val 5128"/>
            </a:avLst>
          </a:prstGeom>
          <a:solidFill>
            <a:srgbClr val="0A0E1A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6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0" y="1417320"/>
            <a:ext cx="1554480" cy="1554480"/>
          </a:xfrm>
          <a:prstGeom prst="ellipse">
            <a:avLst/>
          </a:prstGeom>
          <a:solidFill>
            <a:srgbClr val="8A9BB5"/>
          </a:solidFill>
          <a:ln w="25400">
            <a:solidFill>
              <a:srgbClr val="1A27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31089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Giannis Antetokounmpo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7532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Milwaukee Bucks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75320" y="42519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275320" y="4937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372600" y="42519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11.9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372600" y="4937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469880" y="42519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0469880" y="4937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APG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i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ELITE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7772400" cy="27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8046720" cy="5303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732520" y="1143000"/>
            <a:ext cx="2926080" cy="164592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 w="12700">
            <a:solidFill>
              <a:srgbClr val="C8A84B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823960" y="1252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LEADER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823960" y="15270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32.7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82396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 Gilgeous-Alexander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732520" y="3017520"/>
            <a:ext cx="2926080" cy="164592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 w="12700">
            <a:solidFill>
              <a:srgbClr val="C8A84B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823960" y="31272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SINGLE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823960" y="340156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 PTS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82396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Giannis vs. Cavs (Jan 2025)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732520" y="4892040"/>
            <a:ext cx="2926080" cy="164592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 w="12700">
            <a:solidFill>
              <a:srgbClr val="C8A84B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823960" y="5001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 LEADER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823960" y="527608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23.4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823960" y="5989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Alexandre Sarr, Wizards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457200" y="1371600"/>
            <a:ext cx="13258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i="1" dirty="0">
                <a:solidFill>
                  <a:srgbClr val="E84040">
                    <a:alpha val="1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PLAYOFFS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E8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 TO THE FINALS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11155680" cy="27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9050">
            <a:solidFill>
              <a:srgbClr val="C8A84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972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1155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Celtics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9050">
            <a:solidFill>
              <a:srgbClr val="C8A84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76479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" y="17830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Cleveland Cavaliers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86584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9050">
            <a:solidFill>
              <a:srgbClr val="C8A84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43230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" y="24505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Knicks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09981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31181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Milwaukee Bucks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21608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76732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37856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Pacers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4348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" y="4453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 Heat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056632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51023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" y="5120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Orlando Magic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724144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576986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" y="57881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 76ers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34640" y="1303020"/>
            <a:ext cx="274320" cy="0"/>
          </a:xfrm>
          <a:prstGeom prst="line">
            <a:avLst/>
          </a:prstGeom>
          <a:noFill/>
          <a:ln w="19050">
            <a:solidFill>
              <a:srgbClr val="C8A8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34640" y="1970532"/>
            <a:ext cx="274320" cy="0"/>
          </a:xfrm>
          <a:prstGeom prst="line">
            <a:avLst/>
          </a:prstGeom>
          <a:noFill/>
          <a:ln w="19050">
            <a:solidFill>
              <a:srgbClr val="C8A8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8960" y="1303020"/>
            <a:ext cx="0" cy="667512"/>
          </a:xfrm>
          <a:prstGeom prst="line">
            <a:avLst/>
          </a:prstGeom>
          <a:noFill/>
          <a:ln w="19050">
            <a:solidFill>
              <a:srgbClr val="C8A84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4640" y="2638044"/>
            <a:ext cx="274320" cy="0"/>
          </a:xfrm>
          <a:prstGeom prst="line">
            <a:avLst/>
          </a:prstGeom>
          <a:noFill/>
          <a:ln w="19050">
            <a:solidFill>
              <a:srgbClr val="C8A8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4640" y="3305556"/>
            <a:ext cx="274320" cy="0"/>
          </a:xfrm>
          <a:prstGeom prst="line">
            <a:avLst/>
          </a:prstGeom>
          <a:noFill/>
          <a:ln w="19050">
            <a:solidFill>
              <a:srgbClr val="C8A84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08960" y="2638044"/>
            <a:ext cx="0" cy="667512"/>
          </a:xfrm>
          <a:prstGeom prst="line">
            <a:avLst/>
          </a:prstGeom>
          <a:noFill/>
          <a:ln w="19050">
            <a:solidFill>
              <a:srgbClr val="C8A84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34640" y="3973068"/>
            <a:ext cx="274320" cy="0"/>
          </a:xfrm>
          <a:prstGeom prst="line">
            <a:avLst/>
          </a:prstGeom>
          <a:noFill/>
          <a:ln w="19050">
            <a:solidFill>
              <a:srgbClr val="C8A84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34640" y="4640580"/>
            <a:ext cx="274320" cy="0"/>
          </a:xfrm>
          <a:prstGeom prst="line">
            <a:avLst/>
          </a:prstGeom>
          <a:noFill/>
          <a:ln w="19050">
            <a:solidFill>
              <a:srgbClr val="C8A84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08960" y="3973068"/>
            <a:ext cx="0" cy="667512"/>
          </a:xfrm>
          <a:prstGeom prst="line">
            <a:avLst/>
          </a:prstGeom>
          <a:noFill/>
          <a:ln w="19050">
            <a:solidFill>
              <a:srgbClr val="C8A84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34640" y="5308092"/>
            <a:ext cx="274320" cy="0"/>
          </a:xfrm>
          <a:prstGeom prst="line">
            <a:avLst/>
          </a:prstGeom>
          <a:noFill/>
          <a:ln w="19050">
            <a:solidFill>
              <a:srgbClr val="C8A84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34640" y="5975604"/>
            <a:ext cx="274320" cy="0"/>
          </a:xfrm>
          <a:prstGeom prst="line">
            <a:avLst/>
          </a:prstGeom>
          <a:noFill/>
          <a:ln w="19050">
            <a:solidFill>
              <a:srgbClr val="C8A84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08960" y="5308092"/>
            <a:ext cx="0" cy="667512"/>
          </a:xfrm>
          <a:prstGeom prst="line">
            <a:avLst/>
          </a:prstGeom>
          <a:noFill/>
          <a:ln w="19050">
            <a:solidFill>
              <a:srgbClr val="C8A84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98280" y="10515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9050">
            <a:solidFill>
              <a:srgbClr val="E8404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144000" y="10972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482328" y="11155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Oklahoma City Thunder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098280" y="1719072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9050">
            <a:solidFill>
              <a:srgbClr val="E8404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144000" y="176479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482328" y="17830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 Nuggets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098280" y="2386584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9050">
            <a:solidFill>
              <a:srgbClr val="E8404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144000" y="243230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482328" y="24505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Minnesota Timberwolves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098280" y="3054096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144000" y="309981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482328" y="311810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Clippers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098280" y="3721608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144000" y="376732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482328" y="37856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Suns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098280" y="43891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9144000" y="44348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482328" y="4453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Sacramento Kings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098280" y="5056632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9144000" y="51023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482328" y="5120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State Warriors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098280" y="5724144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9144000" y="576986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482328" y="57881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 Mavericks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1475720" y="1303020"/>
            <a:ext cx="274320" cy="0"/>
          </a:xfrm>
          <a:prstGeom prst="line">
            <a:avLst/>
          </a:prstGeom>
          <a:noFill/>
          <a:ln w="19050">
            <a:solidFill>
              <a:srgbClr val="E8404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475720" y="1970532"/>
            <a:ext cx="274320" cy="0"/>
          </a:xfrm>
          <a:prstGeom prst="line">
            <a:avLst/>
          </a:prstGeom>
          <a:noFill/>
          <a:ln w="19050">
            <a:solidFill>
              <a:srgbClr val="E8404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750040" y="1303020"/>
            <a:ext cx="0" cy="667512"/>
          </a:xfrm>
          <a:prstGeom prst="line">
            <a:avLst/>
          </a:prstGeom>
          <a:noFill/>
          <a:ln w="19050">
            <a:solidFill>
              <a:srgbClr val="E840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475720" y="2638044"/>
            <a:ext cx="274320" cy="0"/>
          </a:xfrm>
          <a:prstGeom prst="line">
            <a:avLst/>
          </a:prstGeom>
          <a:noFill/>
          <a:ln w="19050">
            <a:solidFill>
              <a:srgbClr val="E8404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475720" y="3305556"/>
            <a:ext cx="274320" cy="0"/>
          </a:xfrm>
          <a:prstGeom prst="line">
            <a:avLst/>
          </a:prstGeom>
          <a:noFill/>
          <a:ln w="19050">
            <a:solidFill>
              <a:srgbClr val="E8404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50040" y="2638044"/>
            <a:ext cx="0" cy="667512"/>
          </a:xfrm>
          <a:prstGeom prst="line">
            <a:avLst/>
          </a:prstGeom>
          <a:noFill/>
          <a:ln w="19050">
            <a:solidFill>
              <a:srgbClr val="E8404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475720" y="3973068"/>
            <a:ext cx="274320" cy="0"/>
          </a:xfrm>
          <a:prstGeom prst="line">
            <a:avLst/>
          </a:prstGeom>
          <a:noFill/>
          <a:ln w="19050">
            <a:solidFill>
              <a:srgbClr val="E8404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4640580"/>
            <a:ext cx="274320" cy="0"/>
          </a:xfrm>
          <a:prstGeom prst="line">
            <a:avLst/>
          </a:prstGeom>
          <a:noFill/>
          <a:ln w="19050">
            <a:solidFill>
              <a:srgbClr val="E8404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750040" y="3973068"/>
            <a:ext cx="0" cy="667512"/>
          </a:xfrm>
          <a:prstGeom prst="line">
            <a:avLst/>
          </a:prstGeom>
          <a:noFill/>
          <a:ln w="19050">
            <a:solidFill>
              <a:srgbClr val="E8404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475720" y="5308092"/>
            <a:ext cx="274320" cy="0"/>
          </a:xfrm>
          <a:prstGeom prst="line">
            <a:avLst/>
          </a:prstGeom>
          <a:noFill/>
          <a:ln w="19050">
            <a:solidFill>
              <a:srgbClr val="E8404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475720" y="5975604"/>
            <a:ext cx="274320" cy="0"/>
          </a:xfrm>
          <a:prstGeom prst="line">
            <a:avLst/>
          </a:prstGeom>
          <a:noFill/>
          <a:ln w="19050">
            <a:solidFill>
              <a:srgbClr val="E8404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750040" y="5308092"/>
            <a:ext cx="0" cy="667512"/>
          </a:xfrm>
          <a:prstGeom prst="line">
            <a:avLst/>
          </a:prstGeom>
          <a:noFill/>
          <a:ln w="19050">
            <a:solidFill>
              <a:srgbClr val="E8404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6263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098280" y="6263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343400" y="2377440"/>
            <a:ext cx="3474720" cy="2103120"/>
          </a:xfrm>
          <a:prstGeom prst="roundRect">
            <a:avLst>
              <a:gd name="adj" fmla="val 8696"/>
            </a:avLst>
          </a:prstGeom>
          <a:solidFill>
            <a:srgbClr val="1A2744"/>
          </a:solidFill>
          <a:ln w="31750">
            <a:solidFill>
              <a:srgbClr val="C8A84B"/>
            </a:solidFill>
            <a:prstDash val="solid"/>
          </a:ln>
          <a:effectLst>
            <a:outerShdw sx="100000" sy="100000" kx="0" ky="0" algn="bl" rotWithShape="0" blurRad="304800" dist="127000" dir="8100000">
              <a:srgbClr val="000000">
                <a:alpha val="7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4343400" y="2560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spc="400" kern="0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NBA FINALS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434340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2025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4343400" y="35204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TBD</a:t>
            </a:r>
            <a:endParaRPr lang="en-US" sz="2800" dirty="0"/>
          </a:p>
        </p:txBody>
      </p:sp>
      <p:sp>
        <p:nvSpPr>
          <p:cNvPr id="84" name="Shape 82"/>
          <p:cNvSpPr/>
          <p:nvPr/>
        </p:nvSpPr>
        <p:spPr>
          <a:xfrm>
            <a:off x="3108960" y="3401568"/>
            <a:ext cx="1234440" cy="0"/>
          </a:xfrm>
          <a:prstGeom prst="line">
            <a:avLst/>
          </a:prstGeom>
          <a:noFill/>
          <a:ln w="19050">
            <a:solidFill>
              <a:srgbClr val="C8A84B"/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>
            <a:off x="7818120" y="3401568"/>
            <a:ext cx="1280160" cy="0"/>
          </a:xfrm>
          <a:prstGeom prst="line">
            <a:avLst/>
          </a:prstGeom>
          <a:noFill/>
          <a:ln w="19050">
            <a:solidFill>
              <a:srgbClr val="E84040"/>
            </a:solidFill>
            <a:prstDash val="dash"/>
          </a:ln>
        </p:spPr>
      </p:sp>
    </p:spTree>
  </p:cSld>
  <p:clrMapOvr>
    <a:masterClrMapping/>
  </p:clrMapOvr>
  <p:transition spd="med">
    <p:zoom dir="ou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</a:t>
            </a:r>
            <a:endParaRPr lang="en-US" sz="4200" dirty="0"/>
          </a:p>
          <a:p>
            <a:pPr indent="0" marL="0">
              <a:buNone/>
            </a:pPr>
            <a:r>
              <a:rPr lang="en-US" sz="4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74320" y="3154680"/>
            <a:ext cx="3200400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29184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Oklahoma City</a:t>
            </a:r>
            <a:endParaRPr lang="en-US" sz="3200" dirty="0"/>
          </a:p>
          <a:p>
            <a:pPr indent="0" marL="0">
              <a:buNone/>
            </a:pPr>
            <a:r>
              <a:rPr lang="en-US" sz="3200" b="1" i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Thunder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5074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 NBA Season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640080"/>
            <a:ext cx="3200400" cy="1691640"/>
          </a:xfrm>
          <a:prstGeom prst="roundRect">
            <a:avLst>
              <a:gd name="adj" fmla="val 8108"/>
            </a:avLst>
          </a:prstGeom>
          <a:solidFill>
            <a:srgbClr val="0A0E1A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777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63-19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58200" y="640080"/>
            <a:ext cx="3200400" cy="1691640"/>
          </a:xfrm>
          <a:prstGeom prst="roundRect">
            <a:avLst>
              <a:gd name="adj" fmla="val 8108"/>
            </a:avLst>
          </a:prstGeom>
          <a:solidFill>
            <a:srgbClr val="0A0E1A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58200" y="777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118.3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45820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606040"/>
            <a:ext cx="3200400" cy="1691640"/>
          </a:xfrm>
          <a:prstGeom prst="roundRect">
            <a:avLst>
              <a:gd name="adj" fmla="val 8108"/>
            </a:avLst>
          </a:prstGeom>
          <a:solidFill>
            <a:srgbClr val="0A0E1A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27432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107.2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RATING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58200" y="2606040"/>
            <a:ext cx="3200400" cy="1691640"/>
          </a:xfrm>
          <a:prstGeom prst="roundRect">
            <a:avLst>
              <a:gd name="adj" fmla="val 8108"/>
            </a:avLst>
          </a:prstGeom>
          <a:solidFill>
            <a:srgbClr val="0A0E1A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58200" y="27432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+8.4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45820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RATING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4572000"/>
            <a:ext cx="3200400" cy="1691640"/>
          </a:xfrm>
          <a:prstGeom prst="roundRect">
            <a:avLst>
              <a:gd name="adj" fmla="val 8108"/>
            </a:avLst>
          </a:prstGeom>
          <a:solidFill>
            <a:srgbClr val="0A0E1A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47091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99.7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4937760" y="5623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58200" y="4572000"/>
            <a:ext cx="3200400" cy="1691640"/>
          </a:xfrm>
          <a:prstGeom prst="roundRect">
            <a:avLst>
              <a:gd name="adj" fmla="val 8108"/>
            </a:avLst>
          </a:prstGeom>
          <a:solidFill>
            <a:srgbClr val="0A0E1A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58200" y="47091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35-6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8458200" y="5623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RECORD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46520"/>
            <a:ext cx="1219200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6464808"/>
            <a:ext cx="1188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LEAGUE-BEST RECORD  ·  #1 SEED WEST  ·  SGA MVP FRONTRUNNER  ·  DEFENSIVE POWERHOUSE  ·  60+ WIN SEASONS</a:t>
            </a:r>
            <a:endParaRPr lang="en-US" sz="900" dirty="0"/>
          </a:p>
        </p:txBody>
      </p:sp>
    </p:spTree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i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9144000" cy="27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51560"/>
          <a:ext cx="11247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166360"/>
            <a:ext cx="3657600" cy="1417320"/>
          </a:xfrm>
          <a:prstGeom prst="roundRect">
            <a:avLst>
              <a:gd name="adj" fmla="val 967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" y="5367528"/>
            <a:ext cx="685800" cy="685800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5385816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5257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+4.2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417320" y="58247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PPG increase league-wide vs. 2023–24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43400" y="5166360"/>
            <a:ext cx="3657600" cy="1417320"/>
          </a:xfrm>
          <a:prstGeom prst="roundRect">
            <a:avLst>
              <a:gd name="adj" fmla="val 967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07992" y="5367528"/>
            <a:ext cx="685800" cy="685800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7992" y="5385816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🏀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03520" y="5257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31.2%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303520" y="58247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Three-point attempt rate (all-time high)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0" y="5166360"/>
            <a:ext cx="3657600" cy="1417320"/>
          </a:xfrm>
          <a:prstGeom prst="roundRect">
            <a:avLst>
              <a:gd name="adj" fmla="val 967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5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94192" y="5367528"/>
            <a:ext cx="685800" cy="685800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94192" y="5385816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89720" y="5257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1.08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9189720" y="58247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points per possession (new era efficiency)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371600"/>
            <a:ext cx="6400800" cy="6400800"/>
          </a:xfrm>
          <a:prstGeom prst="ellipse">
            <a:avLst/>
          </a:prstGeom>
          <a:solidFill>
            <a:srgbClr val="C8A84B">
              <a:alpha val="12000"/>
            </a:srgbClr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657600"/>
            <a:ext cx="5943600" cy="5943600"/>
          </a:xfrm>
          <a:prstGeom prst="ellipse">
            <a:avLst/>
          </a:prstGeom>
          <a:solidFill>
            <a:srgbClr val="C8A84B">
              <a:alpha val="10000"/>
            </a:srgbClr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-457200"/>
            <a:ext cx="3657600" cy="3657600"/>
          </a:xfrm>
          <a:prstGeom prst="ellipse">
            <a:avLst/>
          </a:prstGeom>
          <a:solidFill>
            <a:srgbClr val="1A2744">
              <a:alpha val="25000"/>
            </a:srgbClr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457200" y="4572000"/>
            <a:ext cx="4114800" cy="4114800"/>
          </a:xfrm>
          <a:prstGeom prst="ellipse">
            <a:avLst/>
          </a:prstGeom>
          <a:solidFill>
            <a:srgbClr val="1A2744">
              <a:alpha val="20000"/>
            </a:srgbClr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645920"/>
            <a:ext cx="7589520" cy="27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828800"/>
            <a:ext cx="7589520" cy="27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11247120" cy="274320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1016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GAME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STOPS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2286000" y="4846320"/>
            <a:ext cx="7589520" cy="27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5029200"/>
            <a:ext cx="7589520" cy="2743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212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 2 4  —  2 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32120" y="5897880"/>
            <a:ext cx="594360" cy="594360"/>
          </a:xfrm>
          <a:prstGeom prst="ellipse">
            <a:avLst/>
          </a:prstGeom>
          <a:solidFill>
            <a:srgbClr val="1A2744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5943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NBA</a:t>
            </a:r>
            <a:endParaRPr lang="en-US" sz="1400" dirty="0"/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2026-05-17T20:15:27Z</dcterms:created>
  <dcterms:modified xsi:type="dcterms:W3CDTF">2026-05-17T20:15:27Z</dcterms:modified>
</cp:coreProperties>
</file>