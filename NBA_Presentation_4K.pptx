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PPG</c:v>
                </c:pt>
              </c:strCache>
            </c:strRef>
          </c:tx>
          <c:spPr>
            <a:solidFill>
              <a:srgbClr val="C8A84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A8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A84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A84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B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B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B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B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A9BB5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Shai Gilgeous-Alexander</c:v>
                  </c:pt>
                  <c:pt idx="1">
                    <c:v>Giannis Antetokounmpo</c:v>
                  </c:pt>
                  <c:pt idx="2">
                    <c:v>Nikola Jokic</c:v>
                  </c:pt>
                  <c:pt idx="3">
                    <c:v>Karl-Anthony Towns</c:v>
                  </c:pt>
                  <c:pt idx="4">
                    <c:v>Donovan Mitchell</c:v>
                  </c:pt>
                  <c:pt idx="5">
                    <c:v>Ja Morant</c:v>
                  </c:pt>
                  <c:pt idx="6">
                    <c:v>Devin Booker</c:v>
                  </c:pt>
                  <c:pt idx="7">
                    <c:v>LaMelo Ball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32.7</c:v>
                </c:pt>
                <c:pt idx="1">
                  <c:v>30.4</c:v>
                </c:pt>
                <c:pt idx="2">
                  <c:v>29.6</c:v>
                </c:pt>
                <c:pt idx="3">
                  <c:v>27.5</c:v>
                </c:pt>
                <c:pt idx="4">
                  <c:v>26.9</c:v>
                </c:pt>
                <c:pt idx="5">
                  <c:v>26.2</c:v>
                </c:pt>
                <c:pt idx="6">
                  <c:v>25.7</c:v>
                </c:pt>
                <c:pt idx="7">
                  <c:v>24.9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20"/>
        </c:scaling>
        <c:delete val="0"/>
        <c:axPos val="b"/>
        <c:majorGridlines>
          <c:spPr>
            <a:ln w="12700" cap="flat">
              <a:solidFill>
                <a:srgbClr val="1A27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BB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A"/>
        </a:solidFill>
        <a:ln>
          <a:noFill/>
        </a:ln>
        <a:effectLst/>
      </c:spPr>
    </c:plotArea>
    <c:plotVisOnly val="1"/>
    <c:dispBlanksAs val="span"/>
  </c:chart>
  <c:spPr>
    <a:solidFill>
      <a:srgbClr val="0A0E1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Wins</c:v>
                </c:pt>
              </c:strCache>
            </c:strRef>
          </c:tx>
          <c:spPr>
            <a:solidFill>
              <a:srgbClr val="1A27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OKC</c:v>
                  </c:pt>
                  <c:pt idx="1">
                    <c:v>DEN</c:v>
                  </c:pt>
                  <c:pt idx="2">
                    <c:v>BOS</c:v>
                  </c:pt>
                  <c:pt idx="3">
                    <c:v>CLE</c:v>
                  </c:pt>
                  <c:pt idx="4">
                    <c:v>NYK</c:v>
                  </c:pt>
                  <c:pt idx="5">
                    <c:v>MIN</c:v>
                  </c:pt>
                  <c:pt idx="6">
                    <c:v>MIL</c:v>
                  </c:pt>
                  <c:pt idx="7">
                    <c:v>LAC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63</c:v>
                </c:pt>
                <c:pt idx="1">
                  <c:v>55</c:v>
                </c:pt>
                <c:pt idx="2">
                  <c:v>61</c:v>
                </c:pt>
                <c:pt idx="3">
                  <c:v>57</c:v>
                </c:pt>
                <c:pt idx="4">
                  <c:v>51</c:v>
                </c:pt>
                <c:pt idx="5">
                  <c:v>52</c:v>
                </c:pt>
                <c:pt idx="6">
                  <c:v>49</c:v>
                </c:pt>
                <c:pt idx="7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PPG</c:v>
                </c:pt>
              </c:strCache>
            </c:strRef>
          </c:tx>
          <c:spPr>
            <a:solidFill>
              <a:srgbClr val="C8A84B"/>
            </a:solidFill>
            <a:ln w="38100" cap="flat">
              <a:solidFill>
                <a:srgbClr val="C8A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A84B"/>
              </a:solidFill>
              <a:ln w="9525" cap="flat">
                <a:solidFill>
                  <a:srgbClr val="C8A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OKC</c:v>
                  </c:pt>
                  <c:pt idx="1">
                    <c:v>DEN</c:v>
                  </c:pt>
                  <c:pt idx="2">
                    <c:v>BOS</c:v>
                  </c:pt>
                  <c:pt idx="3">
                    <c:v>CLE</c:v>
                  </c:pt>
                  <c:pt idx="4">
                    <c:v>NYK</c:v>
                  </c:pt>
                  <c:pt idx="5">
                    <c:v>MIN</c:v>
                  </c:pt>
                  <c:pt idx="6">
                    <c:v>MIL</c:v>
                  </c:pt>
                  <c:pt idx="7">
                    <c:v>LAC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118.3</c:v>
                </c:pt>
                <c:pt idx="1">
                  <c:v>116.1</c:v>
                </c:pt>
                <c:pt idx="2">
                  <c:v>120.5</c:v>
                </c:pt>
                <c:pt idx="3">
                  <c:v>112.3</c:v>
                </c:pt>
                <c:pt idx="4">
                  <c:v>113.8</c:v>
                </c:pt>
                <c:pt idx="5">
                  <c:v>111.2</c:v>
                </c:pt>
                <c:pt idx="6">
                  <c:v>115.6</c:v>
                </c:pt>
                <c:pt idx="7">
                  <c:v>110.7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A27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BB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E1A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0A0E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-914400"/>
            <a:ext cx="5029200" cy="5029200"/>
          </a:xfrm>
          <a:prstGeom prst="ellipse">
            <a:avLst/>
          </a:prstGeom>
          <a:solidFill>
            <a:srgbClr val="C8A84B">
              <a:alpha val="15000"/>
            </a:srgbClr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3200400"/>
            <a:ext cx="4572000" cy="4572000"/>
          </a:xfrm>
          <a:prstGeom prst="ellipse">
            <a:avLst/>
          </a:prstGeom>
          <a:solidFill>
            <a:srgbClr val="C8A84B">
              <a:alpha val="12000"/>
            </a:srgbClr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0" y="4572000"/>
            <a:ext cx="2743200" cy="2743200"/>
          </a:xfrm>
          <a:prstGeom prst="ellipse">
            <a:avLst/>
          </a:prstGeom>
          <a:solidFill>
            <a:srgbClr val="1A2744">
              <a:alpha val="30000"/>
            </a:srgbClr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822960"/>
            <a:ext cx="12192000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254000" dist="101600" dir="8100000">
              <a:srgbClr val="000000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NBA</a:t>
            </a:r>
            <a:endParaRPr lang="en-US" sz="9600" dirty="0"/>
          </a:p>
        </p:txBody>
      </p:sp>
      <p:sp>
        <p:nvSpPr>
          <p:cNvPr id="7" name="Shape 5"/>
          <p:cNvSpPr/>
          <p:nvPr/>
        </p:nvSpPr>
        <p:spPr>
          <a:xfrm>
            <a:off x="2743200" y="3017520"/>
            <a:ext cx="66751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3154680"/>
            <a:ext cx="57607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291840"/>
            <a:ext cx="66751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0" y="347472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2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2024–25 Season in Review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0" y="60350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8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YOUR NAME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74320"/>
            <a:ext cx="11430000" cy="6309360"/>
          </a:xfrm>
          <a:prstGeom prst="rect">
            <a:avLst/>
          </a:prstGeom>
          <a:solidFill>
            <a:srgbClr val="0A0E1A">
              <a:alpha val="85000"/>
            </a:srgbClr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381000" dist="152400" dir="81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SEASON AT A GLANCE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822960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71600"/>
            <a:ext cx="2606040" cy="3474720"/>
          </a:xfrm>
          <a:prstGeom prst="roundRect">
            <a:avLst>
              <a:gd name="adj" fmla="val 6316"/>
            </a:avLst>
          </a:prstGeom>
          <a:solidFill>
            <a:srgbClr val="0A0E1A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1417320" y="3246120"/>
            <a:ext cx="960120" cy="36576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606040" cy="3474720"/>
          </a:xfrm>
          <a:prstGeom prst="roundRect">
            <a:avLst>
              <a:gd name="adj" fmla="val 6316"/>
            </a:avLst>
          </a:prstGeom>
          <a:solidFill>
            <a:srgbClr val="0A0E1A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4206240" y="3246120"/>
            <a:ext cx="960120" cy="36576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PLAYED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2606040" cy="3474720"/>
          </a:xfrm>
          <a:prstGeom prst="roundRect">
            <a:avLst>
              <a:gd name="adj" fmla="val 6316"/>
            </a:avLst>
          </a:prstGeom>
          <a:solidFill>
            <a:srgbClr val="0A0E1A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450+</a:t>
            </a:r>
            <a:endParaRPr lang="en-US" sz="5200" dirty="0"/>
          </a:p>
        </p:txBody>
      </p:sp>
      <p:sp>
        <p:nvSpPr>
          <p:cNvPr id="16" name="Shape 14"/>
          <p:cNvSpPr/>
          <p:nvPr/>
        </p:nvSpPr>
        <p:spPr>
          <a:xfrm>
            <a:off x="6995160" y="3246120"/>
            <a:ext cx="960120" cy="36576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61120" y="1371600"/>
            <a:ext cx="2606040" cy="3474720"/>
          </a:xfrm>
          <a:prstGeom prst="roundRect">
            <a:avLst>
              <a:gd name="adj" fmla="val 6316"/>
            </a:avLst>
          </a:prstGeom>
          <a:solidFill>
            <a:srgbClr val="0A0E1A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0" y="2011680"/>
            <a:ext cx="2606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</a:t>
            </a:r>
            <a:endParaRPr lang="en-US" sz="5200" dirty="0"/>
          </a:p>
        </p:txBody>
      </p:sp>
      <p:sp>
        <p:nvSpPr>
          <p:cNvPr id="20" name="Shape 18"/>
          <p:cNvSpPr/>
          <p:nvPr/>
        </p:nvSpPr>
        <p:spPr>
          <a:xfrm>
            <a:off x="9784080" y="3246120"/>
            <a:ext cx="960120" cy="36576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0" y="33832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PER TEAM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0" y="365760"/>
            <a:ext cx="71323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800" b="1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EASTERN CONFERENCE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566928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5029200" cy="38404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7957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179576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1179576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77640" y="1179576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1179576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527048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563624"/>
            <a:ext cx="45720" cy="274320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5636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15636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 Celtics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156362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77640" y="156362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156362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.744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1874520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1911096"/>
            <a:ext cx="45720" cy="274320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19110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19110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Cleveland Cavaliers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91840" y="191109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77640" y="191109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191109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.695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221992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258568"/>
            <a:ext cx="45720" cy="274320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25856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2258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Knicks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225856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77640" y="225856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22585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.622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2569464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606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0584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Milwaukee Bucks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260604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260604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63440" y="26060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.598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2916936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2953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05840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Pacers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91840" y="2953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977640" y="2953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63440" y="29535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.561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3264408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30098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5840" y="330098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Miami Heat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91840" y="330098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77640" y="330098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663440" y="33009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.537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611880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64845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5840" y="364845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Orlando Magic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91840" y="364845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977640" y="364845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63440" y="364845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.524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3959352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39959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005840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Philadelphia 76ers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91840" y="39959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977640" y="39959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663440" y="399592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.500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6400800" y="1280160"/>
            <a:ext cx="5303520" cy="438912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25400">
            <a:solidFill>
              <a:srgbClr val="C8A84B"/>
            </a:solidFill>
            <a:prstDash val="solid"/>
          </a:ln>
          <a:effectLst>
            <a:outerShdw sx="100000" sy="100000" kx="0" ky="0" algn="bl" rotWithShape="0" blurRad="254000" dist="101600" dir="8100000">
              <a:srgbClr val="000000">
                <a:alpha val="6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675120" y="16002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SEED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675120" y="20574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Boston Celtics</a:t>
            </a:r>
            <a:endParaRPr lang="en-US" sz="3600" dirty="0"/>
          </a:p>
        </p:txBody>
      </p:sp>
      <p:sp>
        <p:nvSpPr>
          <p:cNvPr id="66" name="Shape 64"/>
          <p:cNvSpPr/>
          <p:nvPr/>
        </p:nvSpPr>
        <p:spPr>
          <a:xfrm>
            <a:off x="667512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67512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</a:t>
            </a:r>
            <a:endParaRPr lang="en-US" sz="3200" dirty="0"/>
          </a:p>
        </p:txBody>
      </p:sp>
      <p:sp>
        <p:nvSpPr>
          <p:cNvPr id="68" name="Text 66"/>
          <p:cNvSpPr/>
          <p:nvPr/>
        </p:nvSpPr>
        <p:spPr>
          <a:xfrm>
            <a:off x="667512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832104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832104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</a:t>
            </a:r>
            <a:endParaRPr lang="en-US" sz="3200" dirty="0"/>
          </a:p>
        </p:txBody>
      </p:sp>
      <p:sp>
        <p:nvSpPr>
          <p:cNvPr id="71" name="Text 69"/>
          <p:cNvSpPr/>
          <p:nvPr/>
        </p:nvSpPr>
        <p:spPr>
          <a:xfrm>
            <a:off x="832104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96696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96696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.744</a:t>
            </a:r>
            <a:endParaRPr lang="en-US" sz="3200" dirty="0"/>
          </a:p>
        </p:txBody>
      </p:sp>
      <p:sp>
        <p:nvSpPr>
          <p:cNvPr id="74" name="Text 72"/>
          <p:cNvSpPr/>
          <p:nvPr/>
        </p:nvSpPr>
        <p:spPr>
          <a:xfrm>
            <a:off x="996696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%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6675120" y="5029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Back-to-back title contenders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54880" y="365760"/>
            <a:ext cx="71323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800" b="1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502920" y="41148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WESTERN CONFERENCE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566928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5029200" cy="38404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7957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179576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91840" y="1179576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77640" y="1179576"/>
            <a:ext cx="685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1179576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527048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563624"/>
            <a:ext cx="45720" cy="274320"/>
          </a:xfrm>
          <a:prstGeom prst="rect">
            <a:avLst/>
          </a:prstGeom>
          <a:solidFill>
            <a:srgbClr val="E84040"/>
          </a:solidFill>
          <a:ln w="12700">
            <a:solidFill>
              <a:srgbClr val="E84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5636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15636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Oklahoma City Thunder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156362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77640" y="156362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156362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.768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1874520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1911096"/>
            <a:ext cx="45720" cy="274320"/>
          </a:xfrm>
          <a:prstGeom prst="rect">
            <a:avLst/>
          </a:prstGeom>
          <a:solidFill>
            <a:srgbClr val="E84040"/>
          </a:solidFill>
          <a:ln w="12700">
            <a:solidFill>
              <a:srgbClr val="E840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191109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19110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Denver Nuggets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91840" y="191109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977640" y="191109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191109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.671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2221992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2258568"/>
            <a:ext cx="45720" cy="274320"/>
          </a:xfrm>
          <a:prstGeom prst="rect">
            <a:avLst/>
          </a:prstGeom>
          <a:solidFill>
            <a:srgbClr val="E84040"/>
          </a:solidFill>
          <a:ln w="12700">
            <a:solidFill>
              <a:srgbClr val="E84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25856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2258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Minnesota Timberwolves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225856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77640" y="225856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22585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.634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2569464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6060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0584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Clippers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260604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260604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63440" y="26060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.598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2916936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2953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05840" y="29535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Suns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91840" y="2953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977640" y="295351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63440" y="29535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.573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" y="3264408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30098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05840" y="330098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 Kings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91840" y="330098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77640" y="330098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663440" y="330098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.549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611880"/>
            <a:ext cx="5029200" cy="347472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64845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005840" y="364845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State Warriors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91840" y="364845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977640" y="364845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63440" y="364845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.537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" y="3959352"/>
            <a:ext cx="5029200" cy="34747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399592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005840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Dallas Mavericks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91840" y="39959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977640" y="39959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663440" y="399592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.512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6400800" y="1280160"/>
            <a:ext cx="5303520" cy="4389120"/>
          </a:xfrm>
          <a:prstGeom prst="roundRect">
            <a:avLst>
              <a:gd name="adj" fmla="val 4167"/>
            </a:avLst>
          </a:prstGeom>
          <a:solidFill>
            <a:srgbClr val="1A2744"/>
          </a:solidFill>
          <a:ln w="25400">
            <a:solidFill>
              <a:srgbClr val="E84040"/>
            </a:solidFill>
            <a:prstDash val="solid"/>
          </a:ln>
          <a:effectLst>
            <a:outerShdw sx="100000" sy="100000" kx="0" ky="0" algn="bl" rotWithShape="0" blurRad="254000" dist="101600" dir="8100000">
              <a:srgbClr val="000000">
                <a:alpha val="6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675120" y="16002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SEED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675120" y="20574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Oklahoma City Thunder</a:t>
            </a:r>
            <a:endParaRPr lang="en-US" sz="3600" dirty="0"/>
          </a:p>
        </p:txBody>
      </p:sp>
      <p:sp>
        <p:nvSpPr>
          <p:cNvPr id="66" name="Shape 64"/>
          <p:cNvSpPr/>
          <p:nvPr/>
        </p:nvSpPr>
        <p:spPr>
          <a:xfrm>
            <a:off x="667512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67512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4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</a:t>
            </a:r>
            <a:endParaRPr lang="en-US" sz="3200" dirty="0"/>
          </a:p>
        </p:txBody>
      </p:sp>
      <p:sp>
        <p:nvSpPr>
          <p:cNvPr id="68" name="Text 66"/>
          <p:cNvSpPr/>
          <p:nvPr/>
        </p:nvSpPr>
        <p:spPr>
          <a:xfrm>
            <a:off x="667512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832104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832104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4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3200" dirty="0"/>
          </a:p>
        </p:txBody>
      </p:sp>
      <p:sp>
        <p:nvSpPr>
          <p:cNvPr id="71" name="Text 69"/>
          <p:cNvSpPr/>
          <p:nvPr/>
        </p:nvSpPr>
        <p:spPr>
          <a:xfrm>
            <a:off x="832104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966960" y="3200400"/>
            <a:ext cx="1463040" cy="1554480"/>
          </a:xfrm>
          <a:prstGeom prst="roundRect">
            <a:avLst>
              <a:gd name="adj" fmla="val 7500"/>
            </a:avLst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966960" y="33832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4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.768</a:t>
            </a:r>
            <a:endParaRPr lang="en-US" sz="3200" dirty="0"/>
          </a:p>
        </p:txBody>
      </p:sp>
      <p:sp>
        <p:nvSpPr>
          <p:cNvPr id="74" name="Text 72"/>
          <p:cNvSpPr/>
          <p:nvPr/>
        </p:nvSpPr>
        <p:spPr>
          <a:xfrm>
            <a:off x="9966960" y="4114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%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6675120" y="5029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League's best record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>
              <a:alpha val="80000"/>
            </a:srgbClr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CANDIDATES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22960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43000"/>
            <a:ext cx="3566160" cy="5120640"/>
          </a:xfrm>
          <a:prstGeom prst="roundRect">
            <a:avLst>
              <a:gd name="adj" fmla="val 5128"/>
            </a:avLst>
          </a:prstGeom>
          <a:solidFill>
            <a:srgbClr val="0A0E1A"/>
          </a:solidFill>
          <a:ln w="25400">
            <a:solidFill>
              <a:srgbClr val="C8A84B"/>
            </a:solidFill>
            <a:prstDash val="solid"/>
          </a:ln>
          <a:effectLst>
            <a:outerShdw sx="100000" sy="100000" kx="0" ky="0" algn="bl" rotWithShape="0" blurRad="254000" dist="101600" dir="8100000">
              <a:srgbClr val="000000">
                <a:alpha val="6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54480" y="1417320"/>
            <a:ext cx="1554480" cy="1554480"/>
          </a:xfrm>
          <a:prstGeom prst="ellipse">
            <a:avLst/>
          </a:prstGeom>
          <a:solidFill>
            <a:srgbClr val="8A9BB5"/>
          </a:solidFill>
          <a:ln w="25400">
            <a:solidFill>
              <a:srgbClr val="C8A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108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Shai Gilgeous-Alexander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Oklahoma City Thunder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32.7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8036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51560" y="5440680"/>
            <a:ext cx="2560320" cy="347472"/>
          </a:xfrm>
          <a:prstGeom prst="roundRect">
            <a:avLst>
              <a:gd name="adj" fmla="val 26316"/>
            </a:avLst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4772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FRONTRUNNER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43400" y="1143000"/>
            <a:ext cx="3566160" cy="5120640"/>
          </a:xfrm>
          <a:prstGeom prst="roundRect">
            <a:avLst>
              <a:gd name="adj" fmla="val 512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54000" dist="101600" dir="8100000">
              <a:srgbClr val="000000">
                <a:alpha val="6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49240" y="1417320"/>
            <a:ext cx="1554480" cy="1554480"/>
          </a:xfrm>
          <a:prstGeom prst="ellipse">
            <a:avLst/>
          </a:prstGeom>
          <a:solidFill>
            <a:srgbClr val="8A9BB5"/>
          </a:solidFill>
          <a:ln w="25400">
            <a:solidFill>
              <a:srgbClr val="1A27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3108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Nikola Jokic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80560" y="3749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Denver Nuggets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29.6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48056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7784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7784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67512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38160" y="1143000"/>
            <a:ext cx="3566160" cy="5120640"/>
          </a:xfrm>
          <a:prstGeom prst="roundRect">
            <a:avLst>
              <a:gd name="adj" fmla="val 512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54000" dist="101600" dir="8100000">
              <a:srgbClr val="000000">
                <a:alpha val="6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44000" y="1417320"/>
            <a:ext cx="1554480" cy="1554480"/>
          </a:xfrm>
          <a:prstGeom prst="ellipse">
            <a:avLst/>
          </a:prstGeom>
          <a:solidFill>
            <a:srgbClr val="8A9BB5"/>
          </a:solidFill>
          <a:ln w="25400">
            <a:solidFill>
              <a:srgbClr val="1A27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108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Giannis Antetokounmpo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75320" y="3749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Milwaukee Bucks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532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30.4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27532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37260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11.9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37260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469880" y="42519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6.5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0469880" y="49377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ELITE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777240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1097280"/>
          <a:ext cx="8046720" cy="5303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732520" y="1143000"/>
            <a:ext cx="2926080" cy="1645920"/>
          </a:xfrm>
          <a:prstGeom prst="roundRect">
            <a:avLst>
              <a:gd name="adj" fmla="val 8333"/>
            </a:avLst>
          </a:prstGeom>
          <a:solidFill>
            <a:srgbClr val="1A2744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23960" y="1252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LEADER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823960" y="152704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32.7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82396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Shai Gilgeous-Alexander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8732520" y="3017520"/>
            <a:ext cx="2926080" cy="1645920"/>
          </a:xfrm>
          <a:prstGeom prst="roundRect">
            <a:avLst>
              <a:gd name="adj" fmla="val 8333"/>
            </a:avLst>
          </a:prstGeom>
          <a:solidFill>
            <a:srgbClr val="1A2744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823960" y="312724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SINGLE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823960" y="340156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 PTS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82396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Giannis vs. Cavs (Jan 2025)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732520" y="4892040"/>
            <a:ext cx="2926080" cy="1645920"/>
          </a:xfrm>
          <a:prstGeom prst="roundRect">
            <a:avLst>
              <a:gd name="adj" fmla="val 8333"/>
            </a:avLst>
          </a:prstGeom>
          <a:solidFill>
            <a:srgbClr val="1A2744"/>
          </a:solidFill>
          <a:ln w="12700">
            <a:solidFill>
              <a:srgbClr val="C8A84B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823960" y="50017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ROOKIE LEADER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823960" y="527608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23.4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823960" y="5989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Alexandre Sarr, Wizards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-457200" y="1371600"/>
            <a:ext cx="132588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E84040">
                    <a:alpha val="1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PLAYOFFS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02920" y="274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rgbClr val="E84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 TO THE FINALS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868680"/>
            <a:ext cx="1115568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97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1155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 Celtics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76479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41248" y="17830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Cleveland Cavaliers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86584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C8A84B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" y="2432304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1248" y="24505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Knicks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054096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2920" y="3099816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1248" y="31181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Milwaukee Bucks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721608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" y="376732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" y="378561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Pacers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8912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44348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445312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Miami Heat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056632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02920" y="510235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1248" y="5120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Orlando Magic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5724144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" y="5769864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1248" y="5788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Philadelphia 76ers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34640" y="1303020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834640" y="1970532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08960" y="1303020"/>
            <a:ext cx="0" cy="667512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34640" y="2638044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34640" y="3305556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08960" y="2638044"/>
            <a:ext cx="0" cy="667512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34640" y="3973068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34640" y="4640580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08960" y="3973068"/>
            <a:ext cx="0" cy="667512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34640" y="5308092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34640" y="5975604"/>
            <a:ext cx="27432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08960" y="5308092"/>
            <a:ext cx="0" cy="667512"/>
          </a:xfrm>
          <a:prstGeom prst="line">
            <a:avLst/>
          </a:prstGeom>
          <a:noFill/>
          <a:ln w="19050">
            <a:solidFill>
              <a:srgbClr val="C8A84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98280" y="105156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E8404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44000" y="10972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482328" y="111556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Oklahoma City Thunder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1719072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E8404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144000" y="176479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482328" y="17830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Denver Nuggets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98280" y="2386584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9050">
            <a:solidFill>
              <a:srgbClr val="E8404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9144000" y="2432304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482328" y="245059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Minnesota Timberwolves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098280" y="3054096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144000" y="3099816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482328" y="31181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Clippers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98280" y="3721608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9144000" y="376732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482328" y="3785616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Phoenix Suns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9098280" y="438912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9144000" y="44348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482328" y="445312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 Kings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098280" y="5056632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9144000" y="510235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482328" y="5120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State Warriors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9098280" y="5724144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9144000" y="5769864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482328" y="57881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Dallas Mavericks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11475720" y="1303020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75720" y="1970532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1750040" y="1303020"/>
            <a:ext cx="0" cy="667512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1475720" y="2638044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1475720" y="3305556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750040" y="2638044"/>
            <a:ext cx="0" cy="667512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1475720" y="3973068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1475720" y="4640580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1750040" y="3973068"/>
            <a:ext cx="0" cy="667512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475720" y="5308092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475720" y="5975604"/>
            <a:ext cx="27432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1750040" y="5308092"/>
            <a:ext cx="0" cy="667512"/>
          </a:xfrm>
          <a:prstGeom prst="line">
            <a:avLst/>
          </a:prstGeom>
          <a:noFill/>
          <a:ln w="19050">
            <a:solidFill>
              <a:srgbClr val="E8404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6263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EASTERN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9098280" y="62636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E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343400" y="2377440"/>
            <a:ext cx="3474720" cy="2103120"/>
          </a:xfrm>
          <a:prstGeom prst="roundRect">
            <a:avLst>
              <a:gd name="adj" fmla="val 8696"/>
            </a:avLst>
          </a:prstGeom>
          <a:solidFill>
            <a:srgbClr val="1A2744"/>
          </a:solidFill>
          <a:ln w="31750">
            <a:solidFill>
              <a:srgbClr val="C8A84B"/>
            </a:solidFill>
            <a:prstDash val="solid"/>
          </a:ln>
          <a:effectLst>
            <a:outerShdw sx="100000" sy="100000" kx="0" ky="0" algn="bl" rotWithShape="0" blurRad="304800" dist="127000" dir="8100000">
              <a:srgbClr val="000000">
                <a:alpha val="70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4343400" y="2560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spc="400" kern="0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NBA FINALS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4343400" y="31089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4343400" y="35204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TBD</a:t>
            </a:r>
            <a:endParaRPr lang="en-US" sz="2800" dirty="0"/>
          </a:p>
        </p:txBody>
      </p:sp>
      <p:sp>
        <p:nvSpPr>
          <p:cNvPr id="84" name="Shape 82"/>
          <p:cNvSpPr/>
          <p:nvPr/>
        </p:nvSpPr>
        <p:spPr>
          <a:xfrm>
            <a:off x="3108960" y="3401568"/>
            <a:ext cx="1234440" cy="0"/>
          </a:xfrm>
          <a:prstGeom prst="line">
            <a:avLst/>
          </a:prstGeom>
          <a:noFill/>
          <a:ln w="19050">
            <a:solidFill>
              <a:srgbClr val="C8A84B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>
            <a:off x="7818120" y="3401568"/>
            <a:ext cx="1280160" cy="0"/>
          </a:xfrm>
          <a:prstGeom prst="line">
            <a:avLst/>
          </a:prstGeom>
          <a:noFill/>
          <a:ln w="19050">
            <a:solidFill>
              <a:srgbClr val="E84040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5486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023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</a:t>
            </a:r>
            <a:endParaRPr lang="en-US" sz="4200" dirty="0"/>
          </a:p>
          <a:p>
            <a:pPr indent="0" marL="0">
              <a:buNone/>
            </a:pPr>
            <a:r>
              <a:rPr lang="en-US" sz="4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YEAR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3200400" cy="36576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329184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Oklahoma City</a:t>
            </a:r>
            <a:endParaRPr lang="en-US" sz="3200" dirty="0"/>
          </a:p>
          <a:p>
            <a:pPr indent="0" marL="0">
              <a:buNone/>
            </a:pPr>
            <a:r>
              <a:rPr lang="en-US" sz="32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Thunder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74320" y="5074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2024–25 NBA Season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64008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7772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63-19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58200" y="64008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7772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118.3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45820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260604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107.2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937760" y="3657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RATING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58200" y="260604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45820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+8.4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458200" y="36576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RATING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457200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37760" y="4709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99.7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4937760" y="5623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458200" y="4572000"/>
            <a:ext cx="3200400" cy="1691640"/>
          </a:xfrm>
          <a:prstGeom prst="roundRect">
            <a:avLst>
              <a:gd name="adj" fmla="val 8108"/>
            </a:avLst>
          </a:prstGeom>
          <a:solidFill>
            <a:srgbClr val="0A0E1A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58200" y="47091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35-6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8458200" y="5623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RECORD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6446520"/>
            <a:ext cx="12192000" cy="384048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6464808"/>
            <a:ext cx="1188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8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LEAGUE-BEST RECORD  ·  #1 SEED WEST  ·  SGA MVP FRONTRUNNER  ·  DEFENSIVE POWERHOUSE  ·  60+ WIN SEASONS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7432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914400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1124712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166360"/>
            <a:ext cx="3657600" cy="1417320"/>
          </a:xfrm>
          <a:prstGeom prst="roundRect">
            <a:avLst>
              <a:gd name="adj" fmla="val 9677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21792" y="5367528"/>
            <a:ext cx="685800" cy="685800"/>
          </a:xfrm>
          <a:prstGeom prst="ellipse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5385816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17320" y="5257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417320" y="58247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PPG increase league-wide vs. 2023–24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3400" y="5166360"/>
            <a:ext cx="3657600" cy="1417320"/>
          </a:xfrm>
          <a:prstGeom prst="roundRect">
            <a:avLst>
              <a:gd name="adj" fmla="val 9677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07992" y="5367528"/>
            <a:ext cx="685800" cy="685800"/>
          </a:xfrm>
          <a:prstGeom prst="ellipse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07992" y="5385816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03520" y="5257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31.2%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5303520" y="58247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Three-point attempt rate (all-time high)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5166360"/>
            <a:ext cx="3657600" cy="1417320"/>
          </a:xfrm>
          <a:prstGeom prst="roundRect">
            <a:avLst>
              <a:gd name="adj" fmla="val 9677"/>
            </a:avLst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94192" y="5367528"/>
            <a:ext cx="685800" cy="685800"/>
          </a:xfrm>
          <a:prstGeom prst="ellipse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94192" y="5385816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89720" y="52578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1.08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189720" y="582472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points per possession (new era efficiency)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 w="12700">
            <a:solidFill>
              <a:srgbClr val="0A0E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371600"/>
            <a:ext cx="6400800" cy="6400800"/>
          </a:xfrm>
          <a:prstGeom prst="ellipse">
            <a:avLst/>
          </a:prstGeom>
          <a:solidFill>
            <a:srgbClr val="C8A84B">
              <a:alpha val="12000"/>
            </a:srgbClr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3657600"/>
            <a:ext cx="5943600" cy="5943600"/>
          </a:xfrm>
          <a:prstGeom prst="ellipse">
            <a:avLst/>
          </a:prstGeom>
          <a:solidFill>
            <a:srgbClr val="C8A84B">
              <a:alpha val="10000"/>
            </a:srgbClr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-457200"/>
            <a:ext cx="3657600" cy="3657600"/>
          </a:xfrm>
          <a:prstGeom prst="ellipse">
            <a:avLst/>
          </a:prstGeom>
          <a:solidFill>
            <a:srgbClr val="1A2744">
              <a:alpha val="25000"/>
            </a:srgbClr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457200" y="4572000"/>
            <a:ext cx="4114800" cy="4114800"/>
          </a:xfrm>
          <a:prstGeom prst="ellipse">
            <a:avLst/>
          </a:prstGeom>
          <a:solidFill>
            <a:srgbClr val="1A2744">
              <a:alpha val="20000"/>
            </a:srgbClr>
          </a:solidFill>
          <a:ln w="12700">
            <a:solidFill>
              <a:srgbClr val="1A27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1645920"/>
            <a:ext cx="75895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1828800"/>
            <a:ext cx="75895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20240"/>
            <a:ext cx="11247120" cy="2743200"/>
          </a:xfrm>
          <a:prstGeom prst="rect">
            <a:avLst/>
          </a:prstGeom>
          <a:noFill/>
          <a:ln/>
          <a:effectLst>
            <a:outerShdw sx="100000" sy="100000" kx="0" ky="0" algn="bl" rotWithShape="0" blurRad="254000" dist="101600" dir="8100000">
              <a:srgbClr val="000000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GAME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STOPS</a:t>
            </a:r>
            <a:endParaRPr lang="en-US" sz="5200" dirty="0"/>
          </a:p>
        </p:txBody>
      </p:sp>
      <p:sp>
        <p:nvSpPr>
          <p:cNvPr id="10" name="Shape 8"/>
          <p:cNvSpPr/>
          <p:nvPr/>
        </p:nvSpPr>
        <p:spPr>
          <a:xfrm>
            <a:off x="2286000" y="4846320"/>
            <a:ext cx="75895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5029200"/>
            <a:ext cx="7589520" cy="27432"/>
          </a:xfrm>
          <a:prstGeom prst="rect">
            <a:avLst/>
          </a:prstGeom>
          <a:solidFill>
            <a:srgbClr val="C8A84B"/>
          </a:solidFill>
          <a:ln w="12700">
            <a:solidFill>
              <a:srgbClr val="C8A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5212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8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 2 4  —  2 5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32120" y="5897880"/>
            <a:ext cx="594360" cy="594360"/>
          </a:xfrm>
          <a:prstGeom prst="ellipse">
            <a:avLst/>
          </a:prstGeom>
          <a:solidFill>
            <a:srgbClr val="1A2744"/>
          </a:solidFill>
          <a:ln w="19050">
            <a:solidFill>
              <a:srgbClr val="C8A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59436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NBA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2026-05-17T20:02:53Z</dcterms:created>
  <dcterms:modified xsi:type="dcterms:W3CDTF">2026-05-17T20:02:53Z</dcterms:modified>
</cp:coreProperties>
</file>