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794760" y="4800600"/>
            <a:ext cx="4572000" cy="731520"/>
          </a:xfrm>
          <a:prstGeom prst="ellipse">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09160" y="4972050"/>
            <a:ext cx="2743200" cy="365760"/>
          </a:xfrm>
          <a:prstGeom prst="ellipse">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51960" y="685800"/>
            <a:ext cx="3657600" cy="2743200"/>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365760"/>
            <a:ext cx="3200400" cy="1645920"/>
          </a:xfrm>
          <a:prstGeom prst="rect">
            <a:avLst/>
          </a:prstGeom>
          <a:noFill/>
        </p:spPr>
        <p:txBody>
          <a:bodyPr wrap="square">
            <a:spAutoFit/>
          </a:bodyPr>
          <a:lstStyle/>
          <a:p>
            <a:pPr algn="ctr"/>
            <a:r>
              <a:rPr sz="7200" b="1" i="0">
                <a:solidFill>
                  <a:srgbClr val="E8923A"/>
                </a:solidFill>
                <a:effectLst>
                  <a:glow rad="127000">
                    <a:srgbClr val="E8923A">
                      <a:alpha val="70000"/>
                    </a:srgbClr>
                  </a:glow>
                </a:effectLst>
                <a:latin typeface="Impact"/>
              </a:rPr>
              <a:t>⚡ A ⚡</a:t>
            </a:r>
          </a:p>
        </p:txBody>
      </p:sp>
      <p:sp>
        <p:nvSpPr>
          <p:cNvPr id="12" name="TextBox 11"/>
          <p:cNvSpPr txBox="1"/>
          <p:nvPr/>
        </p:nvSpPr>
        <p:spPr>
          <a:xfrm>
            <a:off x="731520" y="2103120"/>
            <a:ext cx="10698480" cy="1371600"/>
          </a:xfrm>
          <a:prstGeom prst="rect">
            <a:avLst/>
          </a:prstGeom>
          <a:noFill/>
        </p:spPr>
        <p:txBody>
          <a:bodyPr wrap="square">
            <a:spAutoFit/>
          </a:bodyPr>
          <a:lstStyle/>
          <a:p>
            <a:pPr algn="ctr"/>
            <a:r>
              <a:rPr sz="6000" b="1" i="0">
                <a:solidFill>
                  <a:srgbClr val="FFFFFF"/>
                </a:solidFill>
                <a:effectLst>
                  <a:glow rad="127000">
                    <a:srgbClr val="E8923A">
                      <a:alpha val="70000"/>
                    </a:srgbClr>
                  </a:glow>
                </a:effectLst>
                <a:latin typeface="Impact"/>
              </a:rPr>
              <a:t>AVENGERS: DOOMSDAY</a:t>
            </a:r>
          </a:p>
        </p:txBody>
      </p:sp>
      <p:sp>
        <p:nvSpPr>
          <p:cNvPr id="13" name="TextBox 12"/>
          <p:cNvSpPr txBox="1"/>
          <p:nvPr/>
        </p:nvSpPr>
        <p:spPr>
          <a:xfrm>
            <a:off x="1371600" y="3474720"/>
            <a:ext cx="9418320" cy="822960"/>
          </a:xfrm>
          <a:prstGeom prst="rect">
            <a:avLst/>
          </a:prstGeom>
          <a:noFill/>
        </p:spPr>
        <p:txBody>
          <a:bodyPr wrap="square">
            <a:spAutoFit/>
          </a:bodyPr>
          <a:lstStyle/>
          <a:p>
            <a:pPr algn="ctr"/>
            <a:r>
              <a:rPr sz="2000" b="0" i="1">
                <a:solidFill>
                  <a:srgbClr val="F5E6D0"/>
                </a:solidFill>
                <a:latin typeface="Trebuchet MS"/>
              </a:rPr>
              <a:t>"The Beginning of the End of the Multiverse Saga"</a:t>
            </a:r>
          </a:p>
        </p:txBody>
      </p:sp>
      <p:sp>
        <p:nvSpPr>
          <p:cNvPr id="14" name="TextBox 13"/>
          <p:cNvSpPr txBox="1"/>
          <p:nvPr/>
        </p:nvSpPr>
        <p:spPr>
          <a:xfrm>
            <a:off x="1828800" y="6080760"/>
            <a:ext cx="8503920" cy="548640"/>
          </a:xfrm>
          <a:prstGeom prst="rect">
            <a:avLst/>
          </a:prstGeom>
          <a:noFill/>
        </p:spPr>
        <p:txBody>
          <a:bodyPr wrap="square">
            <a:spAutoFit/>
          </a:bodyPr>
          <a:lstStyle/>
          <a:p>
            <a:pPr algn="ctr"/>
            <a:r>
              <a:rPr sz="1400" b="0" i="0">
                <a:solidFill>
                  <a:srgbClr val="C87941"/>
                </a:solidFill>
                <a:latin typeface="Calibri"/>
              </a:rPr>
              <a:t>Marvel Studios  ·  Phase 6  ·  December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822960"/>
            <a:ext cx="9418320" cy="5303520"/>
          </a:xfrm>
          <a:prstGeom prst="rect">
            <a:avLst/>
          </a:prstGeom>
          <a:solidFill>
            <a:srgbClr val="111111"/>
          </a:solidFill>
          <a:ln w="2540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54480" y="914400"/>
            <a:ext cx="9052560" cy="777240"/>
          </a:xfrm>
          <a:prstGeom prst="rect">
            <a:avLst/>
          </a:prstGeom>
          <a:noFill/>
        </p:spPr>
        <p:txBody>
          <a:bodyPr wrap="square">
            <a:spAutoFit/>
          </a:bodyPr>
          <a:lstStyle/>
          <a:p>
            <a:pPr algn="ctr"/>
            <a:r>
              <a:rPr sz="4200" b="1" i="0">
                <a:solidFill>
                  <a:srgbClr val="FFFFFF"/>
                </a:solidFill>
                <a:effectLst>
                  <a:glow rad="101600">
                    <a:srgbClr val="E8923A">
                      <a:alpha val="70000"/>
                    </a:srgbClr>
                  </a:glow>
                </a:effectLst>
                <a:latin typeface="Impact"/>
              </a:rPr>
              <a:t>WHAT IS THIS FILM?</a:t>
            </a:r>
          </a:p>
        </p:txBody>
      </p:sp>
      <p:sp>
        <p:nvSpPr>
          <p:cNvPr id="10" name="Rectangle 9"/>
          <p:cNvSpPr/>
          <p:nvPr/>
        </p:nvSpPr>
        <p:spPr>
          <a:xfrm>
            <a:off x="1554480" y="1691640"/>
            <a:ext cx="905256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1783080"/>
            <a:ext cx="9052560" cy="502920"/>
          </a:xfrm>
          <a:prstGeom prst="rect">
            <a:avLst/>
          </a:prstGeom>
          <a:noFill/>
        </p:spPr>
        <p:txBody>
          <a:bodyPr wrap="square">
            <a:spAutoFit/>
          </a:bodyPr>
          <a:lstStyle/>
          <a:p>
            <a:pPr algn="ctr"/>
            <a:r>
              <a:rPr sz="1800" b="0" i="1">
                <a:solidFill>
                  <a:srgbClr val="F5E6D0"/>
                </a:solidFill>
                <a:latin typeface="Trebuchet MS"/>
              </a:rPr>
              <a:t>The 39th Marvel Cinematic Universe Feature Film</a:t>
            </a:r>
          </a:p>
        </p:txBody>
      </p:sp>
      <p:sp>
        <p:nvSpPr>
          <p:cNvPr id="12" name="TextBox 11"/>
          <p:cNvSpPr txBox="1"/>
          <p:nvPr/>
        </p:nvSpPr>
        <p:spPr>
          <a:xfrm>
            <a:off x="1645920" y="2331720"/>
            <a:ext cx="8961120" cy="3017520"/>
          </a:xfrm>
          <a:prstGeom prst="rect">
            <a:avLst/>
          </a:prstGeom>
          <a:noFill/>
        </p:spPr>
        <p:txBody>
          <a:bodyPr wrap="square">
            <a:spAutoFit/>
          </a:bodyPr>
          <a:lstStyle/>
          <a:p>
            <a:pPr algn="l">
              <a:spcBef>
                <a:spcPts val="700"/>
              </a:spcBef>
            </a:pPr>
            <a:r>
              <a:rPr sz="1500">
                <a:solidFill>
                  <a:srgbClr val="E8923A"/>
                </a:solidFill>
                <a:latin typeface="Calibri"/>
              </a:rPr>
              <a:t>◆  </a:t>
            </a:r>
            <a:r>
              <a:rPr sz="1500">
                <a:solidFill>
                  <a:srgbClr val="CCCCCC"/>
                </a:solidFill>
                <a:latin typeface="Calibri"/>
              </a:rPr>
              <a:t>Directed by Joe &amp; Anthony Russo — returning to the MCU after Endgame</a:t>
            </a:r>
          </a:p>
          <a:p>
            <a:pPr algn="l">
              <a:spcBef>
                <a:spcPts val="700"/>
              </a:spcBef>
            </a:pPr>
            <a:r>
              <a:rPr sz="1500">
                <a:solidFill>
                  <a:srgbClr val="E8923A"/>
                </a:solidFill>
                <a:latin typeface="Calibri"/>
              </a:rPr>
              <a:t>◆  </a:t>
            </a:r>
            <a:r>
              <a:rPr sz="1500">
                <a:solidFill>
                  <a:srgbClr val="CCCCCC"/>
                </a:solidFill>
                <a:latin typeface="Calibri"/>
              </a:rPr>
              <a:t>Doctor Doom (RDJ) replaces Kang as the Multiverse Saga main villain</a:t>
            </a:r>
          </a:p>
          <a:p>
            <a:pPr algn="l">
              <a:spcBef>
                <a:spcPts val="700"/>
              </a:spcBef>
            </a:pPr>
            <a:r>
              <a:rPr sz="1500">
                <a:solidFill>
                  <a:srgbClr val="E8923A"/>
                </a:solidFill>
                <a:latin typeface="Calibri"/>
              </a:rPr>
              <a:t>◆  </a:t>
            </a:r>
            <a:r>
              <a:rPr sz="1500">
                <a:solidFill>
                  <a:srgbClr val="CCCCCC"/>
                </a:solidFill>
                <a:latin typeface="Calibri"/>
              </a:rPr>
              <a:t>Follows Thunderbolts* and Fantastic Four — bridging Phase 5 → Phase 6</a:t>
            </a:r>
          </a:p>
          <a:p>
            <a:pPr algn="l">
              <a:spcBef>
                <a:spcPts val="700"/>
              </a:spcBef>
            </a:pPr>
            <a:r>
              <a:rPr sz="1500">
                <a:solidFill>
                  <a:srgbClr val="E8923A"/>
                </a:solidFill>
                <a:latin typeface="Calibri"/>
              </a:rPr>
              <a:t>◆  </a:t>
            </a:r>
            <a:r>
              <a:rPr sz="1500">
                <a:solidFill>
                  <a:srgbClr val="CCCCCC"/>
                </a:solidFill>
                <a:latin typeface="Calibri"/>
              </a:rPr>
              <a:t>Sets the stage for the grand finale: Avengers: Secret Wars (2027)</a:t>
            </a:r>
          </a:p>
          <a:p>
            <a:pPr algn="l">
              <a:spcBef>
                <a:spcPts val="700"/>
              </a:spcBef>
            </a:pPr>
            <a:r>
              <a:rPr sz="1500">
                <a:solidFill>
                  <a:srgbClr val="E8923A"/>
                </a:solidFill>
                <a:latin typeface="Calibri"/>
              </a:rPr>
              <a:t>◆  </a:t>
            </a:r>
            <a:r>
              <a:rPr sz="1500">
                <a:solidFill>
                  <a:srgbClr val="CCCCCC"/>
                </a:solidFill>
                <a:latin typeface="Calibri"/>
              </a:rPr>
              <a:t>Largest ensemble cast in MCU history — across 3 parallel universes</a:t>
            </a:r>
          </a:p>
        </p:txBody>
      </p:sp>
      <p:sp>
        <p:nvSpPr>
          <p:cNvPr id="13" name="Rectangle 12"/>
          <p:cNvSpPr/>
          <p:nvPr/>
        </p:nvSpPr>
        <p:spPr>
          <a:xfrm>
            <a:off x="1554480" y="5577840"/>
            <a:ext cx="3017520" cy="502920"/>
          </a:xfrm>
          <a:prstGeom prst="rect">
            <a:avLst/>
          </a:prstGeom>
          <a:solidFill>
            <a:srgbClr val="1A0A00"/>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5577840"/>
            <a:ext cx="3017520" cy="502920"/>
          </a:xfrm>
          <a:prstGeom prst="rect">
            <a:avLst/>
          </a:prstGeom>
          <a:noFill/>
        </p:spPr>
        <p:txBody>
          <a:bodyPr wrap="square">
            <a:spAutoFit/>
          </a:bodyPr>
          <a:lstStyle/>
          <a:p>
            <a:pPr algn="ctr"/>
            <a:r>
              <a:rPr sz="1300" b="1" i="0">
                <a:solidFill>
                  <a:srgbClr val="E8923A"/>
                </a:solidFill>
                <a:latin typeface="Calibri"/>
              </a:rPr>
              <a:t>39th  ·  MCU Film</a:t>
            </a:r>
          </a:p>
        </p:txBody>
      </p:sp>
      <p:sp>
        <p:nvSpPr>
          <p:cNvPr id="15" name="Rectangle 14"/>
          <p:cNvSpPr/>
          <p:nvPr/>
        </p:nvSpPr>
        <p:spPr>
          <a:xfrm>
            <a:off x="4846320" y="5577840"/>
            <a:ext cx="3017520" cy="502920"/>
          </a:xfrm>
          <a:prstGeom prst="rect">
            <a:avLst/>
          </a:prstGeom>
          <a:solidFill>
            <a:srgbClr val="1A0A00"/>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0" y="5577840"/>
            <a:ext cx="3017520" cy="502920"/>
          </a:xfrm>
          <a:prstGeom prst="rect">
            <a:avLst/>
          </a:prstGeom>
          <a:noFill/>
        </p:spPr>
        <p:txBody>
          <a:bodyPr wrap="square">
            <a:spAutoFit/>
          </a:bodyPr>
          <a:lstStyle/>
          <a:p>
            <a:pPr algn="ctr"/>
            <a:r>
              <a:rPr sz="1300" b="1" i="0">
                <a:solidFill>
                  <a:srgbClr val="E8923A"/>
                </a:solidFill>
                <a:latin typeface="Calibri"/>
              </a:rPr>
              <a:t>Phase 6  ·  Timeline</a:t>
            </a:r>
          </a:p>
        </p:txBody>
      </p:sp>
      <p:sp>
        <p:nvSpPr>
          <p:cNvPr id="17" name="Rectangle 16"/>
          <p:cNvSpPr/>
          <p:nvPr/>
        </p:nvSpPr>
        <p:spPr>
          <a:xfrm>
            <a:off x="8138160" y="5577840"/>
            <a:ext cx="3017520" cy="502920"/>
          </a:xfrm>
          <a:prstGeom prst="rect">
            <a:avLst/>
          </a:prstGeom>
          <a:solidFill>
            <a:srgbClr val="1A0A00"/>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5577840"/>
            <a:ext cx="3017520" cy="502920"/>
          </a:xfrm>
          <a:prstGeom prst="rect">
            <a:avLst/>
          </a:prstGeom>
          <a:noFill/>
        </p:spPr>
        <p:txBody>
          <a:bodyPr wrap="square">
            <a:spAutoFit/>
          </a:bodyPr>
          <a:lstStyle/>
          <a:p>
            <a:pPr algn="ctr"/>
            <a:r>
              <a:rPr sz="1300" b="1" i="0">
                <a:solidFill>
                  <a:srgbClr val="E8923A"/>
                </a:solidFill>
                <a:latin typeface="Calibri"/>
              </a:rPr>
              <a:t>Dec 2026  ·  Release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300505"/>
          </a:solidFill>
          <a:ln w="12700">
            <a:solidFill>
              <a:srgbClr val="C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300505"/>
          </a:solidFill>
          <a:ln w="12700">
            <a:solidFill>
              <a:srgbClr val="C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731520"/>
            <a:ext cx="9418320" cy="5394960"/>
          </a:xfrm>
          <a:prstGeom prst="rect">
            <a:avLst/>
          </a:prstGeom>
          <a:solidFill>
            <a:srgbClr val="111111"/>
          </a:solidFill>
          <a:ln w="25400">
            <a:solidFill>
              <a:srgbClr val="C02020"/>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94760" y="1280160"/>
            <a:ext cx="4572000" cy="3200400"/>
          </a:xfrm>
          <a:prstGeom prst="ellipse">
            <a:avLst/>
          </a:prstGeom>
          <a:solidFill>
            <a:srgbClr val="C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794760" y="4800600"/>
            <a:ext cx="4572000" cy="731520"/>
          </a:xfrm>
          <a:prstGeom prst="ellipse">
            <a:avLst/>
          </a:prstGeom>
          <a:solidFill>
            <a:srgbClr val="C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09160" y="4972050"/>
            <a:ext cx="2743200" cy="365760"/>
          </a:xfrm>
          <a:prstGeom prst="ellipse">
            <a:avLst/>
          </a:prstGeom>
          <a:solidFill>
            <a:srgbClr val="C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868680"/>
            <a:ext cx="2743200" cy="1371600"/>
          </a:xfrm>
          <a:prstGeom prst="rect">
            <a:avLst/>
          </a:prstGeom>
          <a:noFill/>
        </p:spPr>
        <p:txBody>
          <a:bodyPr wrap="square">
            <a:spAutoFit/>
          </a:bodyPr>
          <a:lstStyle/>
          <a:p>
            <a:pPr algn="ctr"/>
            <a:r>
              <a:rPr sz="6400" b="1" i="0">
                <a:solidFill>
                  <a:srgbClr val="C02020"/>
                </a:solidFill>
                <a:effectLst>
                  <a:glow rad="127000">
                    <a:srgbClr val="C02020">
                      <a:alpha val="70000"/>
                    </a:srgbClr>
                  </a:glow>
                </a:effectLst>
                <a:latin typeface="Impact"/>
              </a:rPr>
              <a:t>⚔</a:t>
            </a:r>
          </a:p>
        </p:txBody>
      </p:sp>
      <p:sp>
        <p:nvSpPr>
          <p:cNvPr id="13" name="TextBox 12"/>
          <p:cNvSpPr txBox="1"/>
          <p:nvPr/>
        </p:nvSpPr>
        <p:spPr>
          <a:xfrm>
            <a:off x="1097280" y="2103120"/>
            <a:ext cx="9966960" cy="914400"/>
          </a:xfrm>
          <a:prstGeom prst="rect">
            <a:avLst/>
          </a:prstGeom>
          <a:noFill/>
        </p:spPr>
        <p:txBody>
          <a:bodyPr wrap="square">
            <a:spAutoFit/>
          </a:bodyPr>
          <a:lstStyle/>
          <a:p>
            <a:pPr algn="ctr"/>
            <a:r>
              <a:rPr sz="5200" b="1" i="0">
                <a:solidFill>
                  <a:srgbClr val="FFFFFF"/>
                </a:solidFill>
                <a:effectLst>
                  <a:glow rad="101600">
                    <a:srgbClr val="C02020">
                      <a:alpha val="70000"/>
                    </a:srgbClr>
                  </a:glow>
                </a:effectLst>
                <a:latin typeface="Impact"/>
              </a:rPr>
              <a:t>VICTOR VON DOOM</a:t>
            </a:r>
          </a:p>
        </p:txBody>
      </p:sp>
      <p:sp>
        <p:nvSpPr>
          <p:cNvPr id="14" name="Rectangle 13"/>
          <p:cNvSpPr/>
          <p:nvPr/>
        </p:nvSpPr>
        <p:spPr>
          <a:xfrm>
            <a:off x="1371600" y="3017520"/>
            <a:ext cx="9418320" cy="19050"/>
          </a:xfrm>
          <a:prstGeom prst="rect">
            <a:avLst/>
          </a:prstGeom>
          <a:solidFill>
            <a:srgbClr val="C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3108960"/>
            <a:ext cx="9418320" cy="457200"/>
          </a:xfrm>
          <a:prstGeom prst="rect">
            <a:avLst/>
          </a:prstGeom>
          <a:noFill/>
        </p:spPr>
        <p:txBody>
          <a:bodyPr wrap="square">
            <a:spAutoFit/>
          </a:bodyPr>
          <a:lstStyle/>
          <a:p>
            <a:pPr algn="ctr"/>
            <a:r>
              <a:rPr sz="1800" b="0" i="1">
                <a:solidFill>
                  <a:srgbClr val="F5E6D0"/>
                </a:solidFill>
                <a:latin typeface="Trebuchet MS"/>
              </a:rPr>
              <a:t>The Supreme Villain of the Multiverse Saga</a:t>
            </a:r>
          </a:p>
        </p:txBody>
      </p:sp>
      <p:sp>
        <p:nvSpPr>
          <p:cNvPr id="16" name="Rectangle 15"/>
          <p:cNvSpPr/>
          <p:nvPr/>
        </p:nvSpPr>
        <p:spPr>
          <a:xfrm>
            <a:off x="1645920" y="3657600"/>
            <a:ext cx="2926080" cy="1920240"/>
          </a:xfrm>
          <a:prstGeom prst="rect">
            <a:avLst/>
          </a:prstGeom>
          <a:solidFill>
            <a:srgbClr val="300505"/>
          </a:solidFill>
          <a:ln w="19050">
            <a:solidFill>
              <a:srgbClr val="C02020"/>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45920" y="3749039"/>
            <a:ext cx="2926080" cy="457200"/>
          </a:xfrm>
          <a:prstGeom prst="rect">
            <a:avLst/>
          </a:prstGeom>
          <a:noFill/>
        </p:spPr>
        <p:txBody>
          <a:bodyPr wrap="square">
            <a:spAutoFit/>
          </a:bodyPr>
          <a:lstStyle/>
          <a:p>
            <a:pPr algn="ctr"/>
            <a:r>
              <a:rPr sz="1600" b="1" i="0">
                <a:solidFill>
                  <a:srgbClr val="C02020"/>
                </a:solidFill>
                <a:latin typeface="Impact"/>
              </a:rPr>
              <a:t>RDJ Returns</a:t>
            </a:r>
          </a:p>
        </p:txBody>
      </p:sp>
      <p:sp>
        <p:nvSpPr>
          <p:cNvPr id="18" name="TextBox 17"/>
          <p:cNvSpPr txBox="1"/>
          <p:nvPr/>
        </p:nvSpPr>
        <p:spPr>
          <a:xfrm>
            <a:off x="1645920" y="4206240"/>
            <a:ext cx="2926080" cy="1280160"/>
          </a:xfrm>
          <a:prstGeom prst="rect">
            <a:avLst/>
          </a:prstGeom>
          <a:noFill/>
        </p:spPr>
        <p:txBody>
          <a:bodyPr wrap="square">
            <a:spAutoFit/>
          </a:bodyPr>
          <a:lstStyle/>
          <a:p>
            <a:pPr algn="ctr"/>
            <a:r>
              <a:rPr sz="1200" b="0" i="0">
                <a:solidFill>
                  <a:srgbClr val="CCCCCC"/>
                </a:solidFill>
                <a:latin typeface="Calibri"/>
              </a:rPr>
              <a:t>Robert Downey Jr.
back as villain</a:t>
            </a:r>
          </a:p>
        </p:txBody>
      </p:sp>
      <p:sp>
        <p:nvSpPr>
          <p:cNvPr id="19" name="Rectangle 18"/>
          <p:cNvSpPr/>
          <p:nvPr/>
        </p:nvSpPr>
        <p:spPr>
          <a:xfrm>
            <a:off x="4846320" y="3657600"/>
            <a:ext cx="2926080" cy="1920240"/>
          </a:xfrm>
          <a:prstGeom prst="rect">
            <a:avLst/>
          </a:prstGeom>
          <a:solidFill>
            <a:srgbClr val="300505"/>
          </a:solidFill>
          <a:ln w="19050">
            <a:solidFill>
              <a:srgbClr val="C02020"/>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0" y="3749039"/>
            <a:ext cx="2926080" cy="457200"/>
          </a:xfrm>
          <a:prstGeom prst="rect">
            <a:avLst/>
          </a:prstGeom>
          <a:noFill/>
        </p:spPr>
        <p:txBody>
          <a:bodyPr wrap="square">
            <a:spAutoFit/>
          </a:bodyPr>
          <a:lstStyle/>
          <a:p>
            <a:pPr algn="ctr"/>
            <a:r>
              <a:rPr sz="1600" b="1" i="0">
                <a:solidFill>
                  <a:srgbClr val="C02020"/>
                </a:solidFill>
                <a:latin typeface="Impact"/>
              </a:rPr>
              <a:t>Reality Threat</a:t>
            </a:r>
          </a:p>
        </p:txBody>
      </p:sp>
      <p:sp>
        <p:nvSpPr>
          <p:cNvPr id="21" name="TextBox 20"/>
          <p:cNvSpPr txBox="1"/>
          <p:nvPr/>
        </p:nvSpPr>
        <p:spPr>
          <a:xfrm>
            <a:off x="4846320" y="4206240"/>
            <a:ext cx="2926080" cy="1280160"/>
          </a:xfrm>
          <a:prstGeom prst="rect">
            <a:avLst/>
          </a:prstGeom>
          <a:noFill/>
        </p:spPr>
        <p:txBody>
          <a:bodyPr wrap="square">
            <a:spAutoFit/>
          </a:bodyPr>
          <a:lstStyle/>
          <a:p>
            <a:pPr algn="ctr"/>
            <a:r>
              <a:rPr sz="1200" b="0" i="0">
                <a:solidFill>
                  <a:srgbClr val="CCCCCC"/>
                </a:solidFill>
                <a:latin typeface="Calibri"/>
              </a:rPr>
              <a:t>Bends all rules
across universes</a:t>
            </a:r>
          </a:p>
        </p:txBody>
      </p:sp>
      <p:sp>
        <p:nvSpPr>
          <p:cNvPr id="22" name="Rectangle 21"/>
          <p:cNvSpPr/>
          <p:nvPr/>
        </p:nvSpPr>
        <p:spPr>
          <a:xfrm>
            <a:off x="8046720" y="3657600"/>
            <a:ext cx="2926080" cy="1920240"/>
          </a:xfrm>
          <a:prstGeom prst="rect">
            <a:avLst/>
          </a:prstGeom>
          <a:solidFill>
            <a:srgbClr val="300505"/>
          </a:solidFill>
          <a:ln w="19050">
            <a:solidFill>
              <a:srgbClr val="C02020"/>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3749039"/>
            <a:ext cx="2926080" cy="457200"/>
          </a:xfrm>
          <a:prstGeom prst="rect">
            <a:avLst/>
          </a:prstGeom>
          <a:noFill/>
        </p:spPr>
        <p:txBody>
          <a:bodyPr wrap="square">
            <a:spAutoFit/>
          </a:bodyPr>
          <a:lstStyle/>
          <a:p>
            <a:pPr algn="ctr"/>
            <a:r>
              <a:rPr sz="1600" b="1" i="0">
                <a:solidFill>
                  <a:srgbClr val="C02020"/>
                </a:solidFill>
                <a:latin typeface="Impact"/>
              </a:rPr>
              <a:t>Replaced Kang</a:t>
            </a:r>
          </a:p>
        </p:txBody>
      </p:sp>
      <p:sp>
        <p:nvSpPr>
          <p:cNvPr id="24" name="TextBox 23"/>
          <p:cNvSpPr txBox="1"/>
          <p:nvPr/>
        </p:nvSpPr>
        <p:spPr>
          <a:xfrm>
            <a:off x="8046720" y="4206240"/>
            <a:ext cx="2926080" cy="1280160"/>
          </a:xfrm>
          <a:prstGeom prst="rect">
            <a:avLst/>
          </a:prstGeom>
          <a:noFill/>
        </p:spPr>
        <p:txBody>
          <a:bodyPr wrap="square">
            <a:spAutoFit/>
          </a:bodyPr>
          <a:lstStyle/>
          <a:p>
            <a:pPr algn="ctr"/>
            <a:r>
              <a:rPr sz="1200" b="0" i="0">
                <a:solidFill>
                  <a:srgbClr val="CCCCCC"/>
                </a:solidFill>
                <a:latin typeface="Calibri"/>
              </a:rPr>
              <a:t>The true villain
behind the Saga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822960"/>
            <a:ext cx="4572000" cy="5029200"/>
          </a:xfrm>
          <a:prstGeom prst="rect">
            <a:avLst/>
          </a:prstGeom>
          <a:solidFill>
            <a:srgbClr val="151008"/>
          </a:solidFill>
          <a:ln w="2540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1600" y="1051560"/>
            <a:ext cx="2743200" cy="3657600"/>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4023360" cy="914400"/>
          </a:xfrm>
          <a:prstGeom prst="rect">
            <a:avLst/>
          </a:prstGeom>
          <a:noFill/>
        </p:spPr>
        <p:txBody>
          <a:bodyPr wrap="square">
            <a:spAutoFit/>
          </a:bodyPr>
          <a:lstStyle/>
          <a:p>
            <a:pPr algn="ctr"/>
            <a:r>
              <a:rPr sz="4400" b="1" i="0">
                <a:solidFill>
                  <a:srgbClr val="E8923A"/>
                </a:solidFill>
                <a:latin typeface="Impact"/>
              </a:rPr>
              <a:t>[ RDJ ]</a:t>
            </a:r>
          </a:p>
        </p:txBody>
      </p:sp>
      <p:sp>
        <p:nvSpPr>
          <p:cNvPr id="11" name="TextBox 10"/>
          <p:cNvSpPr txBox="1"/>
          <p:nvPr/>
        </p:nvSpPr>
        <p:spPr>
          <a:xfrm>
            <a:off x="822960" y="3108960"/>
            <a:ext cx="4023360" cy="548640"/>
          </a:xfrm>
          <a:prstGeom prst="rect">
            <a:avLst/>
          </a:prstGeom>
          <a:noFill/>
        </p:spPr>
        <p:txBody>
          <a:bodyPr wrap="square">
            <a:spAutoFit/>
          </a:bodyPr>
          <a:lstStyle/>
          <a:p>
            <a:pPr algn="ctr"/>
            <a:r>
              <a:rPr sz="1600" b="0" i="1">
                <a:solidFill>
                  <a:srgbClr val="F5E6D0"/>
                </a:solidFill>
                <a:latin typeface="Trebuchet MS"/>
              </a:rPr>
              <a:t>Tony Stark → Doctor Doom</a:t>
            </a:r>
          </a:p>
        </p:txBody>
      </p:sp>
      <p:sp>
        <p:nvSpPr>
          <p:cNvPr id="12" name="Rectangle 11"/>
          <p:cNvSpPr/>
          <p:nvPr/>
        </p:nvSpPr>
        <p:spPr>
          <a:xfrm>
            <a:off x="5669280" y="822960"/>
            <a:ext cx="5943600" cy="5029200"/>
          </a:xfrm>
          <a:prstGeom prst="rect">
            <a:avLst/>
          </a:prstGeom>
          <a:solidFill>
            <a:srgbClr val="111111"/>
          </a:solidFill>
          <a:ln w="2540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0" y="960120"/>
            <a:ext cx="5577840" cy="1005840"/>
          </a:xfrm>
          <a:prstGeom prst="rect">
            <a:avLst/>
          </a:prstGeom>
          <a:noFill/>
        </p:spPr>
        <p:txBody>
          <a:bodyPr wrap="square">
            <a:spAutoFit/>
          </a:bodyPr>
          <a:lstStyle/>
          <a:p>
            <a:pPr algn="ctr"/>
            <a:r>
              <a:rPr sz="3400" b="1" i="0">
                <a:solidFill>
                  <a:srgbClr val="FFFFFF"/>
                </a:solidFill>
                <a:effectLst>
                  <a:glow rad="101600">
                    <a:srgbClr val="E8923A">
                      <a:alpha val="70000"/>
                    </a:srgbClr>
                  </a:glow>
                </a:effectLst>
                <a:latin typeface="Impact"/>
              </a:rPr>
              <a:t>RDJ: IRON MAN → IRON DOOM</a:t>
            </a:r>
          </a:p>
        </p:txBody>
      </p:sp>
      <p:sp>
        <p:nvSpPr>
          <p:cNvPr id="14" name="Rectangle 13"/>
          <p:cNvSpPr/>
          <p:nvPr/>
        </p:nvSpPr>
        <p:spPr>
          <a:xfrm>
            <a:off x="5852160" y="1965960"/>
            <a:ext cx="557784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2103120"/>
            <a:ext cx="5577840" cy="2377440"/>
          </a:xfrm>
          <a:prstGeom prst="rect">
            <a:avLst/>
          </a:prstGeom>
          <a:noFill/>
        </p:spPr>
        <p:txBody>
          <a:bodyPr wrap="square">
            <a:spAutoFit/>
          </a:bodyPr>
          <a:lstStyle/>
          <a:p>
            <a:pPr algn="l">
              <a:spcBef>
                <a:spcPts val="700"/>
              </a:spcBef>
            </a:pPr>
            <a:r>
              <a:rPr sz="1300">
                <a:solidFill>
                  <a:srgbClr val="E8923A"/>
                </a:solidFill>
                <a:latin typeface="Calibri"/>
              </a:rPr>
              <a:t>◆  </a:t>
            </a:r>
            <a:r>
              <a:rPr sz="1300">
                <a:solidFill>
                  <a:srgbClr val="CCCCCC"/>
                </a:solidFill>
                <a:latin typeface="Calibri"/>
              </a:rPr>
              <a:t>Returns to MCU — but NOT as Tony Stark</a:t>
            </a:r>
          </a:p>
          <a:p>
            <a:pPr algn="l">
              <a:spcBef>
                <a:spcPts val="700"/>
              </a:spcBef>
            </a:pPr>
            <a:r>
              <a:rPr sz="1300">
                <a:solidFill>
                  <a:srgbClr val="E8923A"/>
                </a:solidFill>
                <a:latin typeface="Calibri"/>
              </a:rPr>
              <a:t>◆  </a:t>
            </a:r>
            <a:r>
              <a:rPr sz="1300">
                <a:solidFill>
                  <a:srgbClr val="CCCCCC"/>
                </a:solidFill>
                <a:latin typeface="Calibri"/>
              </a:rPr>
              <a:t>Cast as Victor Von Doom, Marvel's iconic armored tyrant</a:t>
            </a:r>
          </a:p>
          <a:p>
            <a:pPr algn="l">
              <a:spcBef>
                <a:spcPts val="700"/>
              </a:spcBef>
            </a:pPr>
            <a:r>
              <a:rPr sz="1300">
                <a:solidFill>
                  <a:srgbClr val="E8923A"/>
                </a:solidFill>
                <a:latin typeface="Calibri"/>
              </a:rPr>
              <a:t>◆  </a:t>
            </a:r>
            <a:r>
              <a:rPr sz="1300">
                <a:solidFill>
                  <a:srgbClr val="CCCCCC"/>
                </a:solidFill>
                <a:latin typeface="Calibri"/>
              </a:rPr>
              <a:t>Same actor, completely different soul — cold, calculating</a:t>
            </a:r>
          </a:p>
          <a:p>
            <a:pPr algn="l">
              <a:spcBef>
                <a:spcPts val="700"/>
              </a:spcBef>
            </a:pPr>
            <a:r>
              <a:rPr sz="1300">
                <a:solidFill>
                  <a:srgbClr val="E8923A"/>
                </a:solidFill>
                <a:latin typeface="Calibri"/>
              </a:rPr>
              <a:t>◆  </a:t>
            </a:r>
            <a:r>
              <a:rPr sz="1300">
                <a:solidFill>
                  <a:srgbClr val="CCCCCC"/>
                </a:solidFill>
                <a:latin typeface="Calibri"/>
              </a:rPr>
              <a:t>Doom seeks to reshape all of reality across the multiverse</a:t>
            </a:r>
          </a:p>
          <a:p>
            <a:pPr algn="l">
              <a:spcBef>
                <a:spcPts val="700"/>
              </a:spcBef>
            </a:pPr>
            <a:r>
              <a:rPr sz="1300">
                <a:solidFill>
                  <a:srgbClr val="E8923A"/>
                </a:solidFill>
                <a:latin typeface="Calibri"/>
              </a:rPr>
              <a:t>◆  </a:t>
            </a:r>
            <a:r>
              <a:rPr sz="1300">
                <a:solidFill>
                  <a:srgbClr val="CCCCCC"/>
                </a:solidFill>
                <a:latin typeface="Calibri"/>
              </a:rPr>
              <a:t>Return revealed at San Diego Comic-Con 2024</a:t>
            </a:r>
          </a:p>
        </p:txBody>
      </p:sp>
      <p:sp>
        <p:nvSpPr>
          <p:cNvPr id="16" name="TextBox 15"/>
          <p:cNvSpPr txBox="1"/>
          <p:nvPr/>
        </p:nvSpPr>
        <p:spPr>
          <a:xfrm>
            <a:off x="5852160" y="4572000"/>
            <a:ext cx="5577840" cy="914400"/>
          </a:xfrm>
          <a:prstGeom prst="rect">
            <a:avLst/>
          </a:prstGeom>
          <a:noFill/>
        </p:spPr>
        <p:txBody>
          <a:bodyPr wrap="square">
            <a:spAutoFit/>
          </a:bodyPr>
          <a:lstStyle/>
          <a:p>
            <a:pPr algn="ctr"/>
            <a:r>
              <a:rPr sz="1800" b="0" i="1">
                <a:solidFill>
                  <a:srgbClr val="E8923A"/>
                </a:solidFill>
                <a:latin typeface="Trebuchet MS"/>
              </a:rPr>
              <a:t>"He saved us once.
Now he threatens everything."</a:t>
            </a:r>
          </a:p>
        </p:txBody>
      </p:sp>
      <p:sp>
        <p:nvSpPr>
          <p:cNvPr id="17" name="Rectangle 16"/>
          <p:cNvSpPr/>
          <p:nvPr/>
        </p:nvSpPr>
        <p:spPr>
          <a:xfrm>
            <a:off x="548640" y="6291072"/>
            <a:ext cx="1106424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280160" y="6176772"/>
            <a:ext cx="228600" cy="228600"/>
          </a:xfrm>
          <a:prstGeom prst="ellipse">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788152"/>
            <a:ext cx="2743200" cy="457200"/>
          </a:xfrm>
          <a:prstGeom prst="rect">
            <a:avLst/>
          </a:prstGeom>
          <a:noFill/>
        </p:spPr>
        <p:txBody>
          <a:bodyPr wrap="square">
            <a:spAutoFit/>
          </a:bodyPr>
          <a:lstStyle/>
          <a:p>
            <a:pPr algn="ctr"/>
            <a:r>
              <a:rPr sz="1200" b="1" i="0">
                <a:solidFill>
                  <a:srgbClr val="E8923A"/>
                </a:solidFill>
                <a:latin typeface="Calibri"/>
              </a:rPr>
              <a:t>Iron Man  2008</a:t>
            </a:r>
          </a:p>
        </p:txBody>
      </p:sp>
      <p:sp>
        <p:nvSpPr>
          <p:cNvPr id="20" name="Oval 19"/>
          <p:cNvSpPr/>
          <p:nvPr/>
        </p:nvSpPr>
        <p:spPr>
          <a:xfrm>
            <a:off x="5486400" y="6176772"/>
            <a:ext cx="228600" cy="228600"/>
          </a:xfrm>
          <a:prstGeom prst="ellipse">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5788152"/>
            <a:ext cx="2743200" cy="457200"/>
          </a:xfrm>
          <a:prstGeom prst="rect">
            <a:avLst/>
          </a:prstGeom>
          <a:noFill/>
        </p:spPr>
        <p:txBody>
          <a:bodyPr wrap="square">
            <a:spAutoFit/>
          </a:bodyPr>
          <a:lstStyle/>
          <a:p>
            <a:pPr algn="ctr"/>
            <a:r>
              <a:rPr sz="1200" b="1" i="0">
                <a:solidFill>
                  <a:srgbClr val="E8923A"/>
                </a:solidFill>
                <a:latin typeface="Calibri"/>
              </a:rPr>
              <a:t>Endgame  2019</a:t>
            </a:r>
          </a:p>
        </p:txBody>
      </p:sp>
      <p:sp>
        <p:nvSpPr>
          <p:cNvPr id="22" name="Oval 21"/>
          <p:cNvSpPr/>
          <p:nvPr/>
        </p:nvSpPr>
        <p:spPr>
          <a:xfrm>
            <a:off x="9692640" y="6176772"/>
            <a:ext cx="228600" cy="228600"/>
          </a:xfrm>
          <a:prstGeom prst="ellipse">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0" y="5788152"/>
            <a:ext cx="2743200" cy="457200"/>
          </a:xfrm>
          <a:prstGeom prst="rect">
            <a:avLst/>
          </a:prstGeom>
          <a:noFill/>
        </p:spPr>
        <p:txBody>
          <a:bodyPr wrap="square">
            <a:spAutoFit/>
          </a:bodyPr>
          <a:lstStyle/>
          <a:p>
            <a:pPr algn="ctr"/>
            <a:r>
              <a:rPr sz="1200" b="1" i="0">
                <a:solidFill>
                  <a:srgbClr val="E8923A"/>
                </a:solidFill>
                <a:latin typeface="Calibri"/>
              </a:rPr>
              <a:t>Doctor Doom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
            <a:ext cx="10332720" cy="731520"/>
          </a:xfrm>
          <a:prstGeom prst="rect">
            <a:avLst/>
          </a:prstGeom>
          <a:noFill/>
        </p:spPr>
        <p:txBody>
          <a:bodyPr wrap="square">
            <a:spAutoFit/>
          </a:bodyPr>
          <a:lstStyle/>
          <a:p>
            <a:pPr algn="ctr"/>
            <a:r>
              <a:rPr sz="4400" b="1" i="0">
                <a:solidFill>
                  <a:srgbClr val="FFFFFF"/>
                </a:solidFill>
                <a:effectLst>
                  <a:glow rad="101600">
                    <a:srgbClr val="E8923A">
                      <a:alpha val="70000"/>
                    </a:srgbClr>
                  </a:glow>
                </a:effectLst>
                <a:latin typeface="Impact"/>
              </a:rPr>
              <a:t>THE RUSSO BROTHERS</a:t>
            </a:r>
          </a:p>
        </p:txBody>
      </p:sp>
      <p:sp>
        <p:nvSpPr>
          <p:cNvPr id="7" name="Rectangle 6"/>
          <p:cNvSpPr/>
          <p:nvPr/>
        </p:nvSpPr>
        <p:spPr>
          <a:xfrm>
            <a:off x="914400" y="914400"/>
            <a:ext cx="1033272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5303520" cy="4937760"/>
          </a:xfrm>
          <a:prstGeom prst="rect">
            <a:avLst/>
          </a:prstGeom>
          <a:solidFill>
            <a:srgbClr val="151008"/>
          </a:solidFill>
          <a:ln w="2540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08760" y="2194560"/>
            <a:ext cx="3200400" cy="2743200"/>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4754880" cy="1280160"/>
          </a:xfrm>
          <a:prstGeom prst="rect">
            <a:avLst/>
          </a:prstGeom>
          <a:noFill/>
        </p:spPr>
        <p:txBody>
          <a:bodyPr wrap="square">
            <a:spAutoFit/>
          </a:bodyPr>
          <a:lstStyle/>
          <a:p>
            <a:pPr algn="ctr"/>
            <a:r>
              <a:rPr sz="3600" b="1" i="0">
                <a:solidFill>
                  <a:srgbClr val="E8923A"/>
                </a:solidFill>
                <a:latin typeface="Impact"/>
              </a:rPr>
              <a:t>[ Joe &amp; Anthony
Russo ]</a:t>
            </a:r>
          </a:p>
        </p:txBody>
      </p:sp>
      <p:sp>
        <p:nvSpPr>
          <p:cNvPr id="11" name="TextBox 10"/>
          <p:cNvSpPr txBox="1"/>
          <p:nvPr/>
        </p:nvSpPr>
        <p:spPr>
          <a:xfrm>
            <a:off x="731520" y="3749039"/>
            <a:ext cx="4754880" cy="457200"/>
          </a:xfrm>
          <a:prstGeom prst="rect">
            <a:avLst/>
          </a:prstGeom>
          <a:noFill/>
        </p:spPr>
        <p:txBody>
          <a:bodyPr wrap="square">
            <a:spAutoFit/>
          </a:bodyPr>
          <a:lstStyle/>
          <a:p>
            <a:pPr algn="ctr"/>
            <a:r>
              <a:rPr sz="1400" b="0" i="1">
                <a:solidFill>
                  <a:srgbClr val="F5E6D0"/>
                </a:solidFill>
                <a:latin typeface="Calibri"/>
              </a:rPr>
              <a:t>Directors · Producers</a:t>
            </a:r>
          </a:p>
        </p:txBody>
      </p:sp>
      <p:sp>
        <p:nvSpPr>
          <p:cNvPr id="12" name="Rectangle 11"/>
          <p:cNvSpPr/>
          <p:nvPr/>
        </p:nvSpPr>
        <p:spPr>
          <a:xfrm>
            <a:off x="5989320" y="1097280"/>
            <a:ext cx="57150" cy="493776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097280"/>
            <a:ext cx="5486400" cy="4937760"/>
          </a:xfrm>
          <a:prstGeom prst="rect">
            <a:avLst/>
          </a:prstGeom>
          <a:solidFill>
            <a:srgbClr val="111111"/>
          </a:solidFill>
          <a:ln w="2540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280160"/>
            <a:ext cx="2468880" cy="2011680"/>
          </a:xfrm>
          <a:prstGeom prst="rect">
            <a:avLst/>
          </a:prstGeom>
          <a:solidFill>
            <a:srgbClr val="180D02"/>
          </a:solidFill>
          <a:ln w="19050">
            <a:solidFill>
              <a:srgbClr val="C87941"/>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89888"/>
            <a:ext cx="2468880" cy="822960"/>
          </a:xfrm>
          <a:prstGeom prst="rect">
            <a:avLst/>
          </a:prstGeom>
          <a:noFill/>
        </p:spPr>
        <p:txBody>
          <a:bodyPr wrap="square">
            <a:spAutoFit/>
          </a:bodyPr>
          <a:lstStyle/>
          <a:p>
            <a:pPr algn="ctr"/>
            <a:r>
              <a:rPr sz="3400" b="1" i="0">
                <a:solidFill>
                  <a:srgbClr val="E8923A"/>
                </a:solidFill>
                <a:effectLst>
                  <a:glow rad="101600">
                    <a:srgbClr val="E8923A">
                      <a:alpha val="70000"/>
                    </a:srgbClr>
                  </a:glow>
                </a:effectLst>
                <a:latin typeface="Impact"/>
              </a:rPr>
              <a:t>4</a:t>
            </a:r>
          </a:p>
        </p:txBody>
      </p:sp>
      <p:sp>
        <p:nvSpPr>
          <p:cNvPr id="16" name="TextBox 15"/>
          <p:cNvSpPr txBox="1"/>
          <p:nvPr/>
        </p:nvSpPr>
        <p:spPr>
          <a:xfrm>
            <a:off x="6400800" y="2194560"/>
            <a:ext cx="2468880" cy="1005840"/>
          </a:xfrm>
          <a:prstGeom prst="rect">
            <a:avLst/>
          </a:prstGeom>
          <a:noFill/>
        </p:spPr>
        <p:txBody>
          <a:bodyPr wrap="square">
            <a:spAutoFit/>
          </a:bodyPr>
          <a:lstStyle/>
          <a:p>
            <a:pPr algn="ctr"/>
            <a:r>
              <a:rPr sz="1200" b="0" i="0">
                <a:solidFill>
                  <a:srgbClr val="CCCCCC"/>
                </a:solidFill>
                <a:latin typeface="Calibri"/>
              </a:rPr>
              <a:t>MCU Films Directed</a:t>
            </a:r>
          </a:p>
        </p:txBody>
      </p:sp>
      <p:sp>
        <p:nvSpPr>
          <p:cNvPr id="17" name="Rectangle 16"/>
          <p:cNvSpPr/>
          <p:nvPr/>
        </p:nvSpPr>
        <p:spPr>
          <a:xfrm>
            <a:off x="9144000" y="1280160"/>
            <a:ext cx="2468880" cy="2011680"/>
          </a:xfrm>
          <a:prstGeom prst="rect">
            <a:avLst/>
          </a:prstGeom>
          <a:solidFill>
            <a:srgbClr val="180D02"/>
          </a:solidFill>
          <a:ln w="19050">
            <a:solidFill>
              <a:srgbClr val="C87941"/>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1389888"/>
            <a:ext cx="2468880" cy="822960"/>
          </a:xfrm>
          <a:prstGeom prst="rect">
            <a:avLst/>
          </a:prstGeom>
          <a:noFill/>
        </p:spPr>
        <p:txBody>
          <a:bodyPr wrap="square">
            <a:spAutoFit/>
          </a:bodyPr>
          <a:lstStyle/>
          <a:p>
            <a:pPr algn="ctr"/>
            <a:r>
              <a:rPr sz="3400" b="1" i="0">
                <a:solidFill>
                  <a:srgbClr val="E8923A"/>
                </a:solidFill>
                <a:effectLst>
                  <a:glow rad="101600">
                    <a:srgbClr val="E8923A">
                      <a:alpha val="70000"/>
                    </a:srgbClr>
                  </a:glow>
                </a:effectLst>
                <a:latin typeface="Impact"/>
              </a:rPr>
              <a:t>$2.79B</a:t>
            </a:r>
          </a:p>
        </p:txBody>
      </p:sp>
      <p:sp>
        <p:nvSpPr>
          <p:cNvPr id="19" name="TextBox 18"/>
          <p:cNvSpPr txBox="1"/>
          <p:nvPr/>
        </p:nvSpPr>
        <p:spPr>
          <a:xfrm>
            <a:off x="9144000" y="2194560"/>
            <a:ext cx="2468880" cy="1005840"/>
          </a:xfrm>
          <a:prstGeom prst="rect">
            <a:avLst/>
          </a:prstGeom>
          <a:noFill/>
        </p:spPr>
        <p:txBody>
          <a:bodyPr wrap="square">
            <a:spAutoFit/>
          </a:bodyPr>
          <a:lstStyle/>
          <a:p>
            <a:pPr algn="ctr"/>
            <a:r>
              <a:rPr sz="1200" b="0" i="0">
                <a:solidFill>
                  <a:srgbClr val="CCCCCC"/>
                </a:solidFill>
                <a:latin typeface="Calibri"/>
              </a:rPr>
              <a:t>Endgame Box Office</a:t>
            </a:r>
          </a:p>
        </p:txBody>
      </p:sp>
      <p:sp>
        <p:nvSpPr>
          <p:cNvPr id="20" name="Rectangle 19"/>
          <p:cNvSpPr/>
          <p:nvPr/>
        </p:nvSpPr>
        <p:spPr>
          <a:xfrm>
            <a:off x="6400800" y="3566160"/>
            <a:ext cx="2468880" cy="2011680"/>
          </a:xfrm>
          <a:prstGeom prst="rect">
            <a:avLst/>
          </a:prstGeom>
          <a:solidFill>
            <a:srgbClr val="180D02"/>
          </a:solidFill>
          <a:ln w="19050">
            <a:solidFill>
              <a:srgbClr val="C87941"/>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675888"/>
            <a:ext cx="2468880" cy="822960"/>
          </a:xfrm>
          <a:prstGeom prst="rect">
            <a:avLst/>
          </a:prstGeom>
          <a:noFill/>
        </p:spPr>
        <p:txBody>
          <a:bodyPr wrap="square">
            <a:spAutoFit/>
          </a:bodyPr>
          <a:lstStyle/>
          <a:p>
            <a:pPr algn="ctr"/>
            <a:r>
              <a:rPr sz="3400" b="1" i="0">
                <a:solidFill>
                  <a:srgbClr val="E8923A"/>
                </a:solidFill>
                <a:effectLst>
                  <a:glow rad="101600">
                    <a:srgbClr val="E8923A">
                      <a:alpha val="70000"/>
                    </a:srgbClr>
                  </a:glow>
                </a:effectLst>
                <a:latin typeface="Impact"/>
              </a:rPr>
              <a:t>#1</a:t>
            </a:r>
          </a:p>
        </p:txBody>
      </p:sp>
      <p:sp>
        <p:nvSpPr>
          <p:cNvPr id="22" name="TextBox 21"/>
          <p:cNvSpPr txBox="1"/>
          <p:nvPr/>
        </p:nvSpPr>
        <p:spPr>
          <a:xfrm>
            <a:off x="6400800" y="4480560"/>
            <a:ext cx="2468880" cy="1005840"/>
          </a:xfrm>
          <a:prstGeom prst="rect">
            <a:avLst/>
          </a:prstGeom>
          <a:noFill/>
        </p:spPr>
        <p:txBody>
          <a:bodyPr wrap="square">
            <a:spAutoFit/>
          </a:bodyPr>
          <a:lstStyle/>
          <a:p>
            <a:pPr algn="ctr"/>
            <a:r>
              <a:rPr sz="1200" b="0" i="0">
                <a:solidFill>
                  <a:srgbClr val="CCCCCC"/>
                </a:solidFill>
                <a:latin typeface="Calibri"/>
              </a:rPr>
              <a:t>Highest-Grossing
Superhero Film</a:t>
            </a:r>
          </a:p>
        </p:txBody>
      </p:sp>
      <p:sp>
        <p:nvSpPr>
          <p:cNvPr id="23" name="Rectangle 22"/>
          <p:cNvSpPr/>
          <p:nvPr/>
        </p:nvSpPr>
        <p:spPr>
          <a:xfrm>
            <a:off x="9144000" y="3566160"/>
            <a:ext cx="2468880" cy="2011680"/>
          </a:xfrm>
          <a:prstGeom prst="rect">
            <a:avLst/>
          </a:prstGeom>
          <a:solidFill>
            <a:srgbClr val="180D02"/>
          </a:solidFill>
          <a:ln w="19050">
            <a:solidFill>
              <a:srgbClr val="C87941"/>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3675888"/>
            <a:ext cx="2468880" cy="822960"/>
          </a:xfrm>
          <a:prstGeom prst="rect">
            <a:avLst/>
          </a:prstGeom>
          <a:noFill/>
        </p:spPr>
        <p:txBody>
          <a:bodyPr wrap="square">
            <a:spAutoFit/>
          </a:bodyPr>
          <a:lstStyle/>
          <a:p>
            <a:pPr algn="ctr"/>
            <a:r>
              <a:rPr sz="3400" b="1" i="0">
                <a:solidFill>
                  <a:srgbClr val="E8923A"/>
                </a:solidFill>
                <a:effectLst>
                  <a:glow rad="101600">
                    <a:srgbClr val="E8923A">
                      <a:alpha val="70000"/>
                    </a:srgbClr>
                  </a:glow>
                </a:effectLst>
                <a:latin typeface="Impact"/>
              </a:rPr>
              <a:t>2027</a:t>
            </a:r>
          </a:p>
        </p:txBody>
      </p:sp>
      <p:sp>
        <p:nvSpPr>
          <p:cNvPr id="25" name="TextBox 24"/>
          <p:cNvSpPr txBox="1"/>
          <p:nvPr/>
        </p:nvSpPr>
        <p:spPr>
          <a:xfrm>
            <a:off x="9144000" y="4480560"/>
            <a:ext cx="2468880" cy="1005840"/>
          </a:xfrm>
          <a:prstGeom prst="rect">
            <a:avLst/>
          </a:prstGeom>
          <a:noFill/>
        </p:spPr>
        <p:txBody>
          <a:bodyPr wrap="square">
            <a:spAutoFit/>
          </a:bodyPr>
          <a:lstStyle/>
          <a:p>
            <a:pPr algn="ctr"/>
            <a:r>
              <a:rPr sz="1200" b="0" i="0">
                <a:solidFill>
                  <a:srgbClr val="CCCCCC"/>
                </a:solidFill>
                <a:latin typeface="Calibri"/>
              </a:rPr>
              <a:t>Directing
Secret Wars Too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91440"/>
            <a:ext cx="10332720" cy="640080"/>
          </a:xfrm>
          <a:prstGeom prst="rect">
            <a:avLst/>
          </a:prstGeom>
          <a:noFill/>
        </p:spPr>
        <p:txBody>
          <a:bodyPr wrap="square">
            <a:spAutoFit/>
          </a:bodyPr>
          <a:lstStyle/>
          <a:p>
            <a:pPr algn="ctr"/>
            <a:r>
              <a:rPr sz="4000" b="1" i="0">
                <a:solidFill>
                  <a:srgbClr val="FFFFFF"/>
                </a:solidFill>
                <a:effectLst>
                  <a:glow rad="101600">
                    <a:srgbClr val="E8923A">
                      <a:alpha val="70000"/>
                    </a:srgbClr>
                  </a:glow>
                </a:effectLst>
                <a:latin typeface="Impact"/>
              </a:rPr>
              <a:t>THE HEROES</a:t>
            </a:r>
          </a:p>
        </p:txBody>
      </p:sp>
      <p:sp>
        <p:nvSpPr>
          <p:cNvPr id="7" name="Rectangle 6"/>
          <p:cNvSpPr/>
          <p:nvPr/>
        </p:nvSpPr>
        <p:spPr>
          <a:xfrm>
            <a:off x="457200" y="731520"/>
            <a:ext cx="1124712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868680"/>
            <a:ext cx="3749039" cy="192024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868680"/>
            <a:ext cx="3749039" cy="11905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36676" y="1136554"/>
            <a:ext cx="2624327" cy="654801"/>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059228"/>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2136037"/>
            <a:ext cx="3749039" cy="345643"/>
          </a:xfrm>
          <a:prstGeom prst="rect">
            <a:avLst/>
          </a:prstGeom>
          <a:noFill/>
        </p:spPr>
        <p:txBody>
          <a:bodyPr wrap="square">
            <a:spAutoFit/>
          </a:bodyPr>
          <a:lstStyle/>
          <a:p>
            <a:pPr algn="ctr"/>
            <a:r>
              <a:rPr sz="1200" b="1" i="0">
                <a:solidFill>
                  <a:srgbClr val="FFFFFF"/>
                </a:solidFill>
                <a:latin typeface="Calibri"/>
              </a:rPr>
              <a:t>Captain America</a:t>
            </a:r>
          </a:p>
        </p:txBody>
      </p:sp>
      <p:sp>
        <p:nvSpPr>
          <p:cNvPr id="13" name="TextBox 12"/>
          <p:cNvSpPr txBox="1"/>
          <p:nvPr/>
        </p:nvSpPr>
        <p:spPr>
          <a:xfrm>
            <a:off x="274320" y="2558490"/>
            <a:ext cx="3749039" cy="345643"/>
          </a:xfrm>
          <a:prstGeom prst="rect">
            <a:avLst/>
          </a:prstGeom>
          <a:noFill/>
        </p:spPr>
        <p:txBody>
          <a:bodyPr wrap="square">
            <a:spAutoFit/>
          </a:bodyPr>
          <a:lstStyle/>
          <a:p>
            <a:pPr algn="ctr"/>
            <a:r>
              <a:rPr sz="1000" b="0" i="1">
                <a:solidFill>
                  <a:srgbClr val="E8923A"/>
                </a:solidFill>
                <a:latin typeface="Calibri"/>
              </a:rPr>
              <a:t>Anthony Mackie</a:t>
            </a:r>
          </a:p>
        </p:txBody>
      </p:sp>
      <p:sp>
        <p:nvSpPr>
          <p:cNvPr id="14" name="Rectangle 13"/>
          <p:cNvSpPr/>
          <p:nvPr/>
        </p:nvSpPr>
        <p:spPr>
          <a:xfrm>
            <a:off x="4206239" y="868680"/>
            <a:ext cx="3749039" cy="192024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06239" y="868680"/>
            <a:ext cx="3749039" cy="11905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768595" y="1136554"/>
            <a:ext cx="2624327" cy="654801"/>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06239" y="2059228"/>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39" y="2136037"/>
            <a:ext cx="3749039" cy="345643"/>
          </a:xfrm>
          <a:prstGeom prst="rect">
            <a:avLst/>
          </a:prstGeom>
          <a:noFill/>
        </p:spPr>
        <p:txBody>
          <a:bodyPr wrap="square">
            <a:spAutoFit/>
          </a:bodyPr>
          <a:lstStyle/>
          <a:p>
            <a:pPr algn="ctr"/>
            <a:r>
              <a:rPr sz="1200" b="1" i="0">
                <a:solidFill>
                  <a:srgbClr val="FFFFFF"/>
                </a:solidFill>
                <a:latin typeface="Calibri"/>
              </a:rPr>
              <a:t>Thor</a:t>
            </a:r>
          </a:p>
        </p:txBody>
      </p:sp>
      <p:sp>
        <p:nvSpPr>
          <p:cNvPr id="19" name="TextBox 18"/>
          <p:cNvSpPr txBox="1"/>
          <p:nvPr/>
        </p:nvSpPr>
        <p:spPr>
          <a:xfrm>
            <a:off x="4206239" y="2558490"/>
            <a:ext cx="3749039" cy="345643"/>
          </a:xfrm>
          <a:prstGeom prst="rect">
            <a:avLst/>
          </a:prstGeom>
          <a:noFill/>
        </p:spPr>
        <p:txBody>
          <a:bodyPr wrap="square">
            <a:spAutoFit/>
          </a:bodyPr>
          <a:lstStyle/>
          <a:p>
            <a:pPr algn="ctr"/>
            <a:r>
              <a:rPr sz="1000" b="0" i="1">
                <a:solidFill>
                  <a:srgbClr val="E8923A"/>
                </a:solidFill>
                <a:latin typeface="Calibri"/>
              </a:rPr>
              <a:t>Chris Hemsworth</a:t>
            </a:r>
          </a:p>
        </p:txBody>
      </p:sp>
      <p:sp>
        <p:nvSpPr>
          <p:cNvPr id="20" name="Rectangle 19"/>
          <p:cNvSpPr/>
          <p:nvPr/>
        </p:nvSpPr>
        <p:spPr>
          <a:xfrm>
            <a:off x="8138158" y="868680"/>
            <a:ext cx="3749039" cy="192024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58" y="868680"/>
            <a:ext cx="3749039" cy="11905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700514" y="1136554"/>
            <a:ext cx="2624327" cy="654801"/>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38158" y="2059228"/>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58" y="2136037"/>
            <a:ext cx="3749039" cy="345643"/>
          </a:xfrm>
          <a:prstGeom prst="rect">
            <a:avLst/>
          </a:prstGeom>
          <a:noFill/>
        </p:spPr>
        <p:txBody>
          <a:bodyPr wrap="square">
            <a:spAutoFit/>
          </a:bodyPr>
          <a:lstStyle/>
          <a:p>
            <a:pPr algn="ctr"/>
            <a:r>
              <a:rPr sz="1200" b="1" i="0">
                <a:solidFill>
                  <a:srgbClr val="FFFFFF"/>
                </a:solidFill>
                <a:latin typeface="Calibri"/>
              </a:rPr>
              <a:t>Spider-Man</a:t>
            </a:r>
          </a:p>
        </p:txBody>
      </p:sp>
      <p:sp>
        <p:nvSpPr>
          <p:cNvPr id="25" name="TextBox 24"/>
          <p:cNvSpPr txBox="1"/>
          <p:nvPr/>
        </p:nvSpPr>
        <p:spPr>
          <a:xfrm>
            <a:off x="8138158" y="2558490"/>
            <a:ext cx="3749039" cy="345643"/>
          </a:xfrm>
          <a:prstGeom prst="rect">
            <a:avLst/>
          </a:prstGeom>
          <a:noFill/>
        </p:spPr>
        <p:txBody>
          <a:bodyPr wrap="square">
            <a:spAutoFit/>
          </a:bodyPr>
          <a:lstStyle/>
          <a:p>
            <a:pPr algn="ctr"/>
            <a:r>
              <a:rPr sz="1000" b="0" i="1">
                <a:solidFill>
                  <a:srgbClr val="E8923A"/>
                </a:solidFill>
                <a:latin typeface="Calibri"/>
              </a:rPr>
              <a:t>Tom Holland</a:t>
            </a:r>
          </a:p>
        </p:txBody>
      </p:sp>
      <p:sp>
        <p:nvSpPr>
          <p:cNvPr id="26" name="Rectangle 25"/>
          <p:cNvSpPr/>
          <p:nvPr/>
        </p:nvSpPr>
        <p:spPr>
          <a:xfrm>
            <a:off x="274320" y="2971800"/>
            <a:ext cx="3749039" cy="192024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2971800"/>
            <a:ext cx="3749039" cy="11905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36676" y="3239674"/>
            <a:ext cx="2624327" cy="654801"/>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162348"/>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4239157"/>
            <a:ext cx="3749039" cy="345643"/>
          </a:xfrm>
          <a:prstGeom prst="rect">
            <a:avLst/>
          </a:prstGeom>
          <a:noFill/>
        </p:spPr>
        <p:txBody>
          <a:bodyPr wrap="square">
            <a:spAutoFit/>
          </a:bodyPr>
          <a:lstStyle/>
          <a:p>
            <a:pPr algn="ctr"/>
            <a:r>
              <a:rPr sz="1200" b="1" i="0">
                <a:solidFill>
                  <a:srgbClr val="FFFFFF"/>
                </a:solidFill>
                <a:latin typeface="Calibri"/>
              </a:rPr>
              <a:t>Shuri</a:t>
            </a:r>
          </a:p>
        </p:txBody>
      </p:sp>
      <p:sp>
        <p:nvSpPr>
          <p:cNvPr id="31" name="TextBox 30"/>
          <p:cNvSpPr txBox="1"/>
          <p:nvPr/>
        </p:nvSpPr>
        <p:spPr>
          <a:xfrm>
            <a:off x="274320" y="4661610"/>
            <a:ext cx="3749039" cy="345643"/>
          </a:xfrm>
          <a:prstGeom prst="rect">
            <a:avLst/>
          </a:prstGeom>
          <a:noFill/>
        </p:spPr>
        <p:txBody>
          <a:bodyPr wrap="square">
            <a:spAutoFit/>
          </a:bodyPr>
          <a:lstStyle/>
          <a:p>
            <a:pPr algn="ctr"/>
            <a:r>
              <a:rPr sz="1000" b="0" i="1">
                <a:solidFill>
                  <a:srgbClr val="E8923A"/>
                </a:solidFill>
                <a:latin typeface="Calibri"/>
              </a:rPr>
              <a:t>Letitia Wright</a:t>
            </a:r>
          </a:p>
        </p:txBody>
      </p:sp>
      <p:sp>
        <p:nvSpPr>
          <p:cNvPr id="32" name="Rectangle 31"/>
          <p:cNvSpPr/>
          <p:nvPr/>
        </p:nvSpPr>
        <p:spPr>
          <a:xfrm>
            <a:off x="4206239" y="2971800"/>
            <a:ext cx="3749039" cy="192024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06239" y="2971800"/>
            <a:ext cx="3749039" cy="11905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68595" y="3239674"/>
            <a:ext cx="2624327" cy="654801"/>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206239" y="4162348"/>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06239" y="4239157"/>
            <a:ext cx="3749039" cy="345643"/>
          </a:xfrm>
          <a:prstGeom prst="rect">
            <a:avLst/>
          </a:prstGeom>
          <a:noFill/>
        </p:spPr>
        <p:txBody>
          <a:bodyPr wrap="square">
            <a:spAutoFit/>
          </a:bodyPr>
          <a:lstStyle/>
          <a:p>
            <a:pPr algn="ctr"/>
            <a:r>
              <a:rPr sz="1200" b="1" i="0">
                <a:solidFill>
                  <a:srgbClr val="FFFFFF"/>
                </a:solidFill>
                <a:latin typeface="Calibri"/>
              </a:rPr>
              <a:t>Loki</a:t>
            </a:r>
          </a:p>
        </p:txBody>
      </p:sp>
      <p:sp>
        <p:nvSpPr>
          <p:cNvPr id="37" name="TextBox 36"/>
          <p:cNvSpPr txBox="1"/>
          <p:nvPr/>
        </p:nvSpPr>
        <p:spPr>
          <a:xfrm>
            <a:off x="4206239" y="4661610"/>
            <a:ext cx="3749039" cy="345643"/>
          </a:xfrm>
          <a:prstGeom prst="rect">
            <a:avLst/>
          </a:prstGeom>
          <a:noFill/>
        </p:spPr>
        <p:txBody>
          <a:bodyPr wrap="square">
            <a:spAutoFit/>
          </a:bodyPr>
          <a:lstStyle/>
          <a:p>
            <a:pPr algn="ctr"/>
            <a:r>
              <a:rPr sz="1000" b="0" i="1">
                <a:solidFill>
                  <a:srgbClr val="E8923A"/>
                </a:solidFill>
                <a:latin typeface="Calibri"/>
              </a:rPr>
              <a:t>Tom Hiddleston</a:t>
            </a:r>
          </a:p>
        </p:txBody>
      </p:sp>
      <p:sp>
        <p:nvSpPr>
          <p:cNvPr id="38" name="Rectangle 37"/>
          <p:cNvSpPr/>
          <p:nvPr/>
        </p:nvSpPr>
        <p:spPr>
          <a:xfrm>
            <a:off x="8138158" y="2971800"/>
            <a:ext cx="3749039" cy="192024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138158" y="2971800"/>
            <a:ext cx="3749039" cy="11905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700514" y="3239674"/>
            <a:ext cx="2624327" cy="654801"/>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38158" y="4162348"/>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38158" y="4239157"/>
            <a:ext cx="3749039" cy="345643"/>
          </a:xfrm>
          <a:prstGeom prst="rect">
            <a:avLst/>
          </a:prstGeom>
          <a:noFill/>
        </p:spPr>
        <p:txBody>
          <a:bodyPr wrap="square">
            <a:spAutoFit/>
          </a:bodyPr>
          <a:lstStyle/>
          <a:p>
            <a:pPr algn="ctr"/>
            <a:r>
              <a:rPr sz="1200" b="1" i="0">
                <a:solidFill>
                  <a:srgbClr val="FFFFFF"/>
                </a:solidFill>
                <a:latin typeface="Calibri"/>
              </a:rPr>
              <a:t>Ant-Man</a:t>
            </a:r>
          </a:p>
        </p:txBody>
      </p:sp>
      <p:sp>
        <p:nvSpPr>
          <p:cNvPr id="43" name="TextBox 42"/>
          <p:cNvSpPr txBox="1"/>
          <p:nvPr/>
        </p:nvSpPr>
        <p:spPr>
          <a:xfrm>
            <a:off x="8138158" y="4661610"/>
            <a:ext cx="3749039" cy="345643"/>
          </a:xfrm>
          <a:prstGeom prst="rect">
            <a:avLst/>
          </a:prstGeom>
          <a:noFill/>
        </p:spPr>
        <p:txBody>
          <a:bodyPr wrap="square">
            <a:spAutoFit/>
          </a:bodyPr>
          <a:lstStyle/>
          <a:p>
            <a:pPr algn="ctr"/>
            <a:r>
              <a:rPr sz="1000" b="0" i="1">
                <a:solidFill>
                  <a:srgbClr val="E8923A"/>
                </a:solidFill>
                <a:latin typeface="Calibri"/>
              </a:rPr>
              <a:t>Paul Rudd</a:t>
            </a:r>
          </a:p>
        </p:txBody>
      </p:sp>
      <p:sp>
        <p:nvSpPr>
          <p:cNvPr id="44" name="Rectangle 43"/>
          <p:cNvSpPr/>
          <p:nvPr/>
        </p:nvSpPr>
        <p:spPr>
          <a:xfrm>
            <a:off x="274320" y="5074920"/>
            <a:ext cx="3749039" cy="192024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4320" y="5074920"/>
            <a:ext cx="3749039" cy="11905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36676" y="5342794"/>
            <a:ext cx="2624327" cy="654801"/>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74320" y="6265468"/>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4320" y="6342277"/>
            <a:ext cx="3749039" cy="345643"/>
          </a:xfrm>
          <a:prstGeom prst="rect">
            <a:avLst/>
          </a:prstGeom>
          <a:noFill/>
        </p:spPr>
        <p:txBody>
          <a:bodyPr wrap="square">
            <a:spAutoFit/>
          </a:bodyPr>
          <a:lstStyle/>
          <a:p>
            <a:pPr algn="ctr"/>
            <a:r>
              <a:rPr sz="1200" b="1" i="0">
                <a:solidFill>
                  <a:srgbClr val="FFFFFF"/>
                </a:solidFill>
                <a:latin typeface="Calibri"/>
              </a:rPr>
              <a:t>Yelena</a:t>
            </a:r>
          </a:p>
        </p:txBody>
      </p:sp>
      <p:sp>
        <p:nvSpPr>
          <p:cNvPr id="49" name="TextBox 48"/>
          <p:cNvSpPr txBox="1"/>
          <p:nvPr/>
        </p:nvSpPr>
        <p:spPr>
          <a:xfrm>
            <a:off x="274320" y="6764730"/>
            <a:ext cx="3749039" cy="345643"/>
          </a:xfrm>
          <a:prstGeom prst="rect">
            <a:avLst/>
          </a:prstGeom>
          <a:noFill/>
        </p:spPr>
        <p:txBody>
          <a:bodyPr wrap="square">
            <a:spAutoFit/>
          </a:bodyPr>
          <a:lstStyle/>
          <a:p>
            <a:pPr algn="ctr"/>
            <a:r>
              <a:rPr sz="1000" b="0" i="1">
                <a:solidFill>
                  <a:srgbClr val="E8923A"/>
                </a:solidFill>
                <a:latin typeface="Calibri"/>
              </a:rPr>
              <a:t>Florence Pugh</a:t>
            </a:r>
          </a:p>
        </p:txBody>
      </p:sp>
      <p:sp>
        <p:nvSpPr>
          <p:cNvPr id="50" name="Rectangle 49"/>
          <p:cNvSpPr/>
          <p:nvPr/>
        </p:nvSpPr>
        <p:spPr>
          <a:xfrm>
            <a:off x="4206239" y="5074920"/>
            <a:ext cx="3749039" cy="192024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206239" y="5074920"/>
            <a:ext cx="3749039" cy="11905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768595" y="5342794"/>
            <a:ext cx="2624327" cy="654801"/>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206239" y="6265468"/>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206239" y="6342277"/>
            <a:ext cx="3749039" cy="345643"/>
          </a:xfrm>
          <a:prstGeom prst="rect">
            <a:avLst/>
          </a:prstGeom>
          <a:noFill/>
        </p:spPr>
        <p:txBody>
          <a:bodyPr wrap="square">
            <a:spAutoFit/>
          </a:bodyPr>
          <a:lstStyle/>
          <a:p>
            <a:pPr algn="ctr"/>
            <a:r>
              <a:rPr sz="1200" b="1" i="0">
                <a:solidFill>
                  <a:srgbClr val="FFFFFF"/>
                </a:solidFill>
                <a:latin typeface="Calibri"/>
              </a:rPr>
              <a:t>Sentry</a:t>
            </a:r>
          </a:p>
        </p:txBody>
      </p:sp>
      <p:sp>
        <p:nvSpPr>
          <p:cNvPr id="55" name="TextBox 54"/>
          <p:cNvSpPr txBox="1"/>
          <p:nvPr/>
        </p:nvSpPr>
        <p:spPr>
          <a:xfrm>
            <a:off x="4206239" y="6764730"/>
            <a:ext cx="3749039" cy="345643"/>
          </a:xfrm>
          <a:prstGeom prst="rect">
            <a:avLst/>
          </a:prstGeom>
          <a:noFill/>
        </p:spPr>
        <p:txBody>
          <a:bodyPr wrap="square">
            <a:spAutoFit/>
          </a:bodyPr>
          <a:lstStyle/>
          <a:p>
            <a:pPr algn="ctr"/>
            <a:r>
              <a:rPr sz="1000" b="0" i="1">
                <a:solidFill>
                  <a:srgbClr val="E8923A"/>
                </a:solidFill>
                <a:latin typeface="Calibri"/>
              </a:rPr>
              <a:t>Lewis Pullman</a:t>
            </a:r>
          </a:p>
        </p:txBody>
      </p:sp>
      <p:sp>
        <p:nvSpPr>
          <p:cNvPr id="56" name="Rectangle 55"/>
          <p:cNvSpPr/>
          <p:nvPr/>
        </p:nvSpPr>
        <p:spPr>
          <a:xfrm>
            <a:off x="8138158" y="5074920"/>
            <a:ext cx="3749039" cy="192024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138158" y="5074920"/>
            <a:ext cx="3749039" cy="11905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700514" y="5342794"/>
            <a:ext cx="2624327" cy="654801"/>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138158" y="6265468"/>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138158" y="6342277"/>
            <a:ext cx="3749039" cy="345643"/>
          </a:xfrm>
          <a:prstGeom prst="rect">
            <a:avLst/>
          </a:prstGeom>
          <a:noFill/>
        </p:spPr>
        <p:txBody>
          <a:bodyPr wrap="square">
            <a:spAutoFit/>
          </a:bodyPr>
          <a:lstStyle/>
          <a:p>
            <a:pPr algn="ctr"/>
            <a:r>
              <a:rPr sz="1200" b="1" i="0">
                <a:solidFill>
                  <a:srgbClr val="FFFFFF"/>
                </a:solidFill>
                <a:latin typeface="Calibri"/>
              </a:rPr>
              <a:t>Namor</a:t>
            </a:r>
          </a:p>
        </p:txBody>
      </p:sp>
      <p:sp>
        <p:nvSpPr>
          <p:cNvPr id="61" name="TextBox 60"/>
          <p:cNvSpPr txBox="1"/>
          <p:nvPr/>
        </p:nvSpPr>
        <p:spPr>
          <a:xfrm>
            <a:off x="8138158" y="6764730"/>
            <a:ext cx="3749039" cy="345643"/>
          </a:xfrm>
          <a:prstGeom prst="rect">
            <a:avLst/>
          </a:prstGeom>
          <a:noFill/>
        </p:spPr>
        <p:txBody>
          <a:bodyPr wrap="square">
            <a:spAutoFit/>
          </a:bodyPr>
          <a:lstStyle/>
          <a:p>
            <a:pPr algn="ctr"/>
            <a:r>
              <a:rPr sz="1000" b="0" i="1">
                <a:solidFill>
                  <a:srgbClr val="E8923A"/>
                </a:solidFill>
                <a:latin typeface="Calibri"/>
              </a:rPr>
              <a:t>Tenoch Huerta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0A0A0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0A0A0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640080"/>
            <a:ext cx="10332720" cy="3931920"/>
          </a:xfrm>
          <a:prstGeom prst="rect">
            <a:avLst/>
          </a:prstGeom>
          <a:solidFill>
            <a:srgbClr val="121005"/>
          </a:solidFill>
          <a:ln w="31750">
            <a:solidFill>
              <a:srgbClr val="D4AF37"/>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337560" y="891540"/>
            <a:ext cx="5486400" cy="274320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794760" y="4800600"/>
            <a:ext cx="4572000" cy="7315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09160" y="4972050"/>
            <a:ext cx="2743200" cy="36576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777240"/>
            <a:ext cx="9966960" cy="777240"/>
          </a:xfrm>
          <a:prstGeom prst="rect">
            <a:avLst/>
          </a:prstGeom>
          <a:noFill/>
        </p:spPr>
        <p:txBody>
          <a:bodyPr wrap="square">
            <a:spAutoFit/>
          </a:bodyPr>
          <a:lstStyle/>
          <a:p>
            <a:pPr algn="ctr"/>
            <a:r>
              <a:rPr sz="4600" b="1" i="0">
                <a:solidFill>
                  <a:srgbClr val="FFFFFF"/>
                </a:solidFill>
                <a:effectLst>
                  <a:glow rad="101600">
                    <a:srgbClr val="D4AF37">
                      <a:alpha val="70000"/>
                    </a:srgbClr>
                  </a:glow>
                </a:effectLst>
                <a:latin typeface="Impact"/>
              </a:rPr>
              <a:t>THE FANTASTIC FOUR</a:t>
            </a:r>
          </a:p>
        </p:txBody>
      </p:sp>
      <p:sp>
        <p:nvSpPr>
          <p:cNvPr id="13" name="Rectangle 12"/>
          <p:cNvSpPr/>
          <p:nvPr/>
        </p:nvSpPr>
        <p:spPr>
          <a:xfrm>
            <a:off x="1097280" y="1554480"/>
            <a:ext cx="9966960" cy="1905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1645920"/>
            <a:ext cx="9418320" cy="502920"/>
          </a:xfrm>
          <a:prstGeom prst="rect">
            <a:avLst/>
          </a:prstGeom>
          <a:noFill/>
        </p:spPr>
        <p:txBody>
          <a:bodyPr wrap="square">
            <a:spAutoFit/>
          </a:bodyPr>
          <a:lstStyle/>
          <a:p>
            <a:pPr algn="ctr"/>
            <a:r>
              <a:rPr sz="1800" b="0" i="1">
                <a:solidFill>
                  <a:srgbClr val="F5E6D0"/>
                </a:solidFill>
                <a:latin typeface="Trebuchet MS"/>
              </a:rPr>
              <a:t>"Marvel's First Family enters the Multiverse"</a:t>
            </a:r>
          </a:p>
        </p:txBody>
      </p:sp>
      <p:sp>
        <p:nvSpPr>
          <p:cNvPr id="15" name="TextBox 14"/>
          <p:cNvSpPr txBox="1"/>
          <p:nvPr/>
        </p:nvSpPr>
        <p:spPr>
          <a:xfrm>
            <a:off x="3200400" y="2194560"/>
            <a:ext cx="5760720" cy="1828800"/>
          </a:xfrm>
          <a:prstGeom prst="rect">
            <a:avLst/>
          </a:prstGeom>
          <a:noFill/>
        </p:spPr>
        <p:txBody>
          <a:bodyPr wrap="square">
            <a:spAutoFit/>
          </a:bodyPr>
          <a:lstStyle/>
          <a:p>
            <a:pPr algn="ctr"/>
            <a:r>
              <a:rPr sz="2800" b="1" i="0">
                <a:solidFill>
                  <a:srgbClr val="D4AF37"/>
                </a:solidFill>
                <a:latin typeface="Impact"/>
              </a:rPr>
              <a:t>[ FANTASTIC FOUR — PHASE 6 ]</a:t>
            </a:r>
          </a:p>
        </p:txBody>
      </p:sp>
      <p:sp>
        <p:nvSpPr>
          <p:cNvPr id="16" name="Rectangle 15"/>
          <p:cNvSpPr/>
          <p:nvPr/>
        </p:nvSpPr>
        <p:spPr>
          <a:xfrm>
            <a:off x="320040" y="4663440"/>
            <a:ext cx="2743200" cy="1737360"/>
          </a:xfrm>
          <a:prstGeom prst="rect">
            <a:avLst/>
          </a:prstGeom>
          <a:solidFill>
            <a:srgbClr val="111111"/>
          </a:solidFill>
          <a:ln w="19050">
            <a:solidFill>
              <a:srgbClr val="D4AF37"/>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4924044"/>
            <a:ext cx="1645920" cy="121615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5029200"/>
            <a:ext cx="2743200" cy="457200"/>
          </a:xfrm>
          <a:prstGeom prst="rect">
            <a:avLst/>
          </a:prstGeom>
          <a:noFill/>
        </p:spPr>
        <p:txBody>
          <a:bodyPr wrap="square">
            <a:spAutoFit/>
          </a:bodyPr>
          <a:lstStyle/>
          <a:p>
            <a:pPr algn="ctr"/>
            <a:r>
              <a:rPr sz="1300" b="1" i="0">
                <a:solidFill>
                  <a:srgbClr val="FFFFFF"/>
                </a:solidFill>
                <a:latin typeface="Calibri"/>
              </a:rPr>
              <a:t>Reed Richards</a:t>
            </a:r>
          </a:p>
        </p:txBody>
      </p:sp>
      <p:sp>
        <p:nvSpPr>
          <p:cNvPr id="19" name="TextBox 18"/>
          <p:cNvSpPr txBox="1"/>
          <p:nvPr/>
        </p:nvSpPr>
        <p:spPr>
          <a:xfrm>
            <a:off x="320040" y="5486400"/>
            <a:ext cx="2743200" cy="457200"/>
          </a:xfrm>
          <a:prstGeom prst="rect">
            <a:avLst/>
          </a:prstGeom>
          <a:noFill/>
        </p:spPr>
        <p:txBody>
          <a:bodyPr wrap="square">
            <a:spAutoFit/>
          </a:bodyPr>
          <a:lstStyle/>
          <a:p>
            <a:pPr algn="ctr"/>
            <a:r>
              <a:rPr sz="1100" b="0" i="1">
                <a:solidFill>
                  <a:srgbClr val="D4AF37"/>
                </a:solidFill>
                <a:latin typeface="Calibri"/>
              </a:rPr>
              <a:t>Pedro Pascal</a:t>
            </a:r>
          </a:p>
        </p:txBody>
      </p:sp>
      <p:sp>
        <p:nvSpPr>
          <p:cNvPr id="20" name="Rectangle 19"/>
          <p:cNvSpPr/>
          <p:nvPr/>
        </p:nvSpPr>
        <p:spPr>
          <a:xfrm>
            <a:off x="3246120" y="4663440"/>
            <a:ext cx="2743200" cy="1737360"/>
          </a:xfrm>
          <a:prstGeom prst="rect">
            <a:avLst/>
          </a:prstGeom>
          <a:solidFill>
            <a:srgbClr val="111111"/>
          </a:solidFill>
          <a:ln w="19050">
            <a:solidFill>
              <a:srgbClr val="D4AF37"/>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794760" y="4924044"/>
            <a:ext cx="1645920" cy="121615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6120" y="5029200"/>
            <a:ext cx="2743200" cy="457200"/>
          </a:xfrm>
          <a:prstGeom prst="rect">
            <a:avLst/>
          </a:prstGeom>
          <a:noFill/>
        </p:spPr>
        <p:txBody>
          <a:bodyPr wrap="square">
            <a:spAutoFit/>
          </a:bodyPr>
          <a:lstStyle/>
          <a:p>
            <a:pPr algn="ctr"/>
            <a:r>
              <a:rPr sz="1300" b="1" i="0">
                <a:solidFill>
                  <a:srgbClr val="FFFFFF"/>
                </a:solidFill>
                <a:latin typeface="Calibri"/>
              </a:rPr>
              <a:t>Sue Storm</a:t>
            </a:r>
          </a:p>
        </p:txBody>
      </p:sp>
      <p:sp>
        <p:nvSpPr>
          <p:cNvPr id="23" name="TextBox 22"/>
          <p:cNvSpPr txBox="1"/>
          <p:nvPr/>
        </p:nvSpPr>
        <p:spPr>
          <a:xfrm>
            <a:off x="3246120" y="5486400"/>
            <a:ext cx="2743200" cy="457200"/>
          </a:xfrm>
          <a:prstGeom prst="rect">
            <a:avLst/>
          </a:prstGeom>
          <a:noFill/>
        </p:spPr>
        <p:txBody>
          <a:bodyPr wrap="square">
            <a:spAutoFit/>
          </a:bodyPr>
          <a:lstStyle/>
          <a:p>
            <a:pPr algn="ctr"/>
            <a:r>
              <a:rPr sz="1100" b="0" i="1">
                <a:solidFill>
                  <a:srgbClr val="D4AF37"/>
                </a:solidFill>
                <a:latin typeface="Calibri"/>
              </a:rPr>
              <a:t>Vanessa Kirby</a:t>
            </a:r>
          </a:p>
        </p:txBody>
      </p:sp>
      <p:sp>
        <p:nvSpPr>
          <p:cNvPr id="24" name="Rectangle 23"/>
          <p:cNvSpPr/>
          <p:nvPr/>
        </p:nvSpPr>
        <p:spPr>
          <a:xfrm>
            <a:off x="6172200" y="4663440"/>
            <a:ext cx="2743200" cy="1737360"/>
          </a:xfrm>
          <a:prstGeom prst="rect">
            <a:avLst/>
          </a:prstGeom>
          <a:solidFill>
            <a:srgbClr val="111111"/>
          </a:solidFill>
          <a:ln w="19050">
            <a:solidFill>
              <a:srgbClr val="D4AF37"/>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20840" y="4924044"/>
            <a:ext cx="1645920" cy="121615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5029200"/>
            <a:ext cx="2743200" cy="457200"/>
          </a:xfrm>
          <a:prstGeom prst="rect">
            <a:avLst/>
          </a:prstGeom>
          <a:noFill/>
        </p:spPr>
        <p:txBody>
          <a:bodyPr wrap="square">
            <a:spAutoFit/>
          </a:bodyPr>
          <a:lstStyle/>
          <a:p>
            <a:pPr algn="ctr"/>
            <a:r>
              <a:rPr sz="1300" b="1" i="0">
                <a:solidFill>
                  <a:srgbClr val="FFFFFF"/>
                </a:solidFill>
                <a:latin typeface="Calibri"/>
              </a:rPr>
              <a:t>Human Torch</a:t>
            </a:r>
          </a:p>
        </p:txBody>
      </p:sp>
      <p:sp>
        <p:nvSpPr>
          <p:cNvPr id="27" name="TextBox 26"/>
          <p:cNvSpPr txBox="1"/>
          <p:nvPr/>
        </p:nvSpPr>
        <p:spPr>
          <a:xfrm>
            <a:off x="6172200" y="5486400"/>
            <a:ext cx="2743200" cy="457200"/>
          </a:xfrm>
          <a:prstGeom prst="rect">
            <a:avLst/>
          </a:prstGeom>
          <a:noFill/>
        </p:spPr>
        <p:txBody>
          <a:bodyPr wrap="square">
            <a:spAutoFit/>
          </a:bodyPr>
          <a:lstStyle/>
          <a:p>
            <a:pPr algn="ctr"/>
            <a:r>
              <a:rPr sz="1100" b="0" i="1">
                <a:solidFill>
                  <a:srgbClr val="D4AF37"/>
                </a:solidFill>
                <a:latin typeface="Calibri"/>
              </a:rPr>
              <a:t>Joseph Quinn</a:t>
            </a:r>
          </a:p>
        </p:txBody>
      </p:sp>
      <p:sp>
        <p:nvSpPr>
          <p:cNvPr id="28" name="Rectangle 27"/>
          <p:cNvSpPr/>
          <p:nvPr/>
        </p:nvSpPr>
        <p:spPr>
          <a:xfrm>
            <a:off x="9098280" y="4663440"/>
            <a:ext cx="2743200" cy="1737360"/>
          </a:xfrm>
          <a:prstGeom prst="rect">
            <a:avLst/>
          </a:prstGeom>
          <a:solidFill>
            <a:srgbClr val="111111"/>
          </a:solidFill>
          <a:ln w="19050">
            <a:solidFill>
              <a:srgbClr val="D4AF37"/>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46920" y="4924044"/>
            <a:ext cx="1645920" cy="121615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98280" y="5029200"/>
            <a:ext cx="2743200" cy="457200"/>
          </a:xfrm>
          <a:prstGeom prst="rect">
            <a:avLst/>
          </a:prstGeom>
          <a:noFill/>
        </p:spPr>
        <p:txBody>
          <a:bodyPr wrap="square">
            <a:spAutoFit/>
          </a:bodyPr>
          <a:lstStyle/>
          <a:p>
            <a:pPr algn="ctr"/>
            <a:r>
              <a:rPr sz="1300" b="1" i="0">
                <a:solidFill>
                  <a:srgbClr val="FFFFFF"/>
                </a:solidFill>
                <a:latin typeface="Calibri"/>
              </a:rPr>
              <a:t>The Thing</a:t>
            </a:r>
          </a:p>
        </p:txBody>
      </p:sp>
      <p:sp>
        <p:nvSpPr>
          <p:cNvPr id="31" name="TextBox 30"/>
          <p:cNvSpPr txBox="1"/>
          <p:nvPr/>
        </p:nvSpPr>
        <p:spPr>
          <a:xfrm>
            <a:off x="9098280" y="5486400"/>
            <a:ext cx="2743200" cy="457200"/>
          </a:xfrm>
          <a:prstGeom prst="rect">
            <a:avLst/>
          </a:prstGeom>
          <a:noFill/>
        </p:spPr>
        <p:txBody>
          <a:bodyPr wrap="square">
            <a:spAutoFit/>
          </a:bodyPr>
          <a:lstStyle/>
          <a:p>
            <a:pPr algn="ctr"/>
            <a:r>
              <a:rPr sz="1100" b="0" i="1">
                <a:solidFill>
                  <a:srgbClr val="D4AF37"/>
                </a:solidFill>
                <a:latin typeface="Calibri"/>
              </a:rPr>
              <a:t>Ebon Moss-Bachrach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1A0525"/>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1A0525"/>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731520"/>
            <a:ext cx="9418320" cy="5394960"/>
          </a:xfrm>
          <a:prstGeom prst="rect">
            <a:avLst/>
          </a:prstGeom>
          <a:solidFill>
            <a:srgbClr val="111111"/>
          </a:solidFill>
          <a:ln w="25400">
            <a:solidFill>
              <a:srgbClr val="7B1FA2"/>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94760" y="1280160"/>
            <a:ext cx="4572000" cy="3200400"/>
          </a:xfrm>
          <a:prstGeom prst="ellipse">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794760" y="4800600"/>
            <a:ext cx="4572000" cy="731520"/>
          </a:xfrm>
          <a:prstGeom prst="ellipse">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09160" y="4972050"/>
            <a:ext cx="2743200" cy="365760"/>
          </a:xfrm>
          <a:prstGeom prst="ellipse">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868680"/>
            <a:ext cx="2743200" cy="1371600"/>
          </a:xfrm>
          <a:prstGeom prst="rect">
            <a:avLst/>
          </a:prstGeom>
          <a:noFill/>
        </p:spPr>
        <p:txBody>
          <a:bodyPr wrap="square">
            <a:spAutoFit/>
          </a:bodyPr>
          <a:lstStyle/>
          <a:p>
            <a:pPr algn="ctr"/>
            <a:r>
              <a:rPr sz="8000" b="1" i="0">
                <a:solidFill>
                  <a:srgbClr val="AB47BC"/>
                </a:solidFill>
                <a:effectLst>
                  <a:glow rad="152400">
                    <a:srgbClr val="AB47BC">
                      <a:alpha val="70000"/>
                    </a:srgbClr>
                  </a:glow>
                </a:effectLst>
                <a:latin typeface="Impact"/>
              </a:rPr>
              <a:t>X</a:t>
            </a:r>
          </a:p>
        </p:txBody>
      </p:sp>
      <p:sp>
        <p:nvSpPr>
          <p:cNvPr id="13" name="TextBox 12"/>
          <p:cNvSpPr txBox="1"/>
          <p:nvPr/>
        </p:nvSpPr>
        <p:spPr>
          <a:xfrm>
            <a:off x="1097280" y="2194560"/>
            <a:ext cx="9966960" cy="822960"/>
          </a:xfrm>
          <a:prstGeom prst="rect">
            <a:avLst/>
          </a:prstGeom>
          <a:noFill/>
        </p:spPr>
        <p:txBody>
          <a:bodyPr wrap="square">
            <a:spAutoFit/>
          </a:bodyPr>
          <a:lstStyle/>
          <a:p>
            <a:pPr algn="ctr"/>
            <a:r>
              <a:rPr sz="4800" b="1" i="0">
                <a:solidFill>
                  <a:srgbClr val="FFFFFF"/>
                </a:solidFill>
                <a:effectLst>
                  <a:glow rad="101600">
                    <a:srgbClr val="AB47BC">
                      <a:alpha val="70000"/>
                    </a:srgbClr>
                  </a:glow>
                </a:effectLst>
                <a:latin typeface="Impact"/>
              </a:rPr>
              <a:t>THE X-MEN ARRIVE</a:t>
            </a:r>
          </a:p>
        </p:txBody>
      </p:sp>
      <p:sp>
        <p:nvSpPr>
          <p:cNvPr id="14" name="Rectangle 13"/>
          <p:cNvSpPr/>
          <p:nvPr/>
        </p:nvSpPr>
        <p:spPr>
          <a:xfrm>
            <a:off x="1371600" y="3017520"/>
            <a:ext cx="9418320" cy="19050"/>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0" y="3200400"/>
            <a:ext cx="4389120" cy="2011680"/>
          </a:xfrm>
          <a:prstGeom prst="rect">
            <a:avLst/>
          </a:prstGeom>
          <a:solidFill>
            <a:srgbClr val="1A0525"/>
          </a:solidFill>
          <a:ln w="19050">
            <a:solidFill>
              <a:srgbClr val="7B1FA2"/>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66160" y="3520440"/>
            <a:ext cx="1828800" cy="1371600"/>
          </a:xfrm>
          <a:prstGeom prst="ellipse">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3337560"/>
            <a:ext cx="4389120" cy="548640"/>
          </a:xfrm>
          <a:prstGeom prst="rect">
            <a:avLst/>
          </a:prstGeom>
          <a:noFill/>
        </p:spPr>
        <p:txBody>
          <a:bodyPr wrap="square">
            <a:spAutoFit/>
          </a:bodyPr>
          <a:lstStyle/>
          <a:p>
            <a:pPr algn="ctr"/>
            <a:r>
              <a:rPr sz="2200" b="1" i="0">
                <a:solidFill>
                  <a:srgbClr val="FFFFFF"/>
                </a:solidFill>
                <a:latin typeface="Impact"/>
              </a:rPr>
              <a:t>Professor X</a:t>
            </a:r>
          </a:p>
        </p:txBody>
      </p:sp>
      <p:sp>
        <p:nvSpPr>
          <p:cNvPr id="18" name="TextBox 17"/>
          <p:cNvSpPr txBox="1"/>
          <p:nvPr/>
        </p:nvSpPr>
        <p:spPr>
          <a:xfrm>
            <a:off x="2286000" y="3886200"/>
            <a:ext cx="4389120" cy="457200"/>
          </a:xfrm>
          <a:prstGeom prst="rect">
            <a:avLst/>
          </a:prstGeom>
          <a:noFill/>
        </p:spPr>
        <p:txBody>
          <a:bodyPr wrap="square">
            <a:spAutoFit/>
          </a:bodyPr>
          <a:lstStyle/>
          <a:p>
            <a:pPr algn="ctr"/>
            <a:r>
              <a:rPr sz="1600" b="0" i="1">
                <a:solidFill>
                  <a:srgbClr val="AB47BC"/>
                </a:solidFill>
                <a:latin typeface="Calibri"/>
              </a:rPr>
              <a:t>Patrick Stewart</a:t>
            </a:r>
          </a:p>
        </p:txBody>
      </p:sp>
      <p:sp>
        <p:nvSpPr>
          <p:cNvPr id="19" name="Rectangle 18"/>
          <p:cNvSpPr/>
          <p:nvPr/>
        </p:nvSpPr>
        <p:spPr>
          <a:xfrm>
            <a:off x="7315200" y="3200400"/>
            <a:ext cx="4389120" cy="2011680"/>
          </a:xfrm>
          <a:prstGeom prst="rect">
            <a:avLst/>
          </a:prstGeom>
          <a:solidFill>
            <a:srgbClr val="1A0525"/>
          </a:solidFill>
          <a:ln w="19050">
            <a:solidFill>
              <a:srgbClr val="7B1FA2"/>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0" y="3520440"/>
            <a:ext cx="1828800" cy="1371600"/>
          </a:xfrm>
          <a:prstGeom prst="ellipse">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3337560"/>
            <a:ext cx="4389120" cy="548640"/>
          </a:xfrm>
          <a:prstGeom prst="rect">
            <a:avLst/>
          </a:prstGeom>
          <a:noFill/>
        </p:spPr>
        <p:txBody>
          <a:bodyPr wrap="square">
            <a:spAutoFit/>
          </a:bodyPr>
          <a:lstStyle/>
          <a:p>
            <a:pPr algn="ctr"/>
            <a:r>
              <a:rPr sz="2200" b="1" i="0">
                <a:solidFill>
                  <a:srgbClr val="FFFFFF"/>
                </a:solidFill>
                <a:latin typeface="Impact"/>
              </a:rPr>
              <a:t>Beast</a:t>
            </a:r>
          </a:p>
        </p:txBody>
      </p:sp>
      <p:sp>
        <p:nvSpPr>
          <p:cNvPr id="22" name="TextBox 21"/>
          <p:cNvSpPr txBox="1"/>
          <p:nvPr/>
        </p:nvSpPr>
        <p:spPr>
          <a:xfrm>
            <a:off x="7315200" y="3886200"/>
            <a:ext cx="4389120" cy="457200"/>
          </a:xfrm>
          <a:prstGeom prst="rect">
            <a:avLst/>
          </a:prstGeom>
          <a:noFill/>
        </p:spPr>
        <p:txBody>
          <a:bodyPr wrap="square">
            <a:spAutoFit/>
          </a:bodyPr>
          <a:lstStyle/>
          <a:p>
            <a:pPr algn="ctr"/>
            <a:r>
              <a:rPr sz="1600" b="0" i="1">
                <a:solidFill>
                  <a:srgbClr val="AB47BC"/>
                </a:solidFill>
                <a:latin typeface="Calibri"/>
              </a:rPr>
              <a:t>Kelsey Grammer</a:t>
            </a:r>
          </a:p>
        </p:txBody>
      </p:sp>
      <p:sp>
        <p:nvSpPr>
          <p:cNvPr id="23" name="TextBox 22"/>
          <p:cNvSpPr txBox="1"/>
          <p:nvPr/>
        </p:nvSpPr>
        <p:spPr>
          <a:xfrm>
            <a:off x="1371600" y="5394960"/>
            <a:ext cx="9418320" cy="731520"/>
          </a:xfrm>
          <a:prstGeom prst="rect">
            <a:avLst/>
          </a:prstGeom>
          <a:noFill/>
        </p:spPr>
        <p:txBody>
          <a:bodyPr wrap="square">
            <a:spAutoFit/>
          </a:bodyPr>
          <a:lstStyle/>
          <a:p>
            <a:pPr algn="ctr"/>
            <a:r>
              <a:rPr sz="2000" b="0" i="1">
                <a:solidFill>
                  <a:srgbClr val="AB47BC"/>
                </a:solidFill>
                <a:latin typeface="Trebuchet MS"/>
              </a:rPr>
              <a:t>"The Multiverse makes everything possible."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640080"/>
            <a:ext cx="11247120" cy="5394960"/>
          </a:xfrm>
          <a:prstGeom prst="rect">
            <a:avLst/>
          </a:prstGeom>
          <a:solidFill>
            <a:srgbClr val="111111"/>
          </a:solidFill>
          <a:ln w="2540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777240"/>
            <a:ext cx="10881360" cy="731520"/>
          </a:xfrm>
          <a:prstGeom prst="rect">
            <a:avLst/>
          </a:prstGeom>
          <a:noFill/>
        </p:spPr>
        <p:txBody>
          <a:bodyPr wrap="square">
            <a:spAutoFit/>
          </a:bodyPr>
          <a:lstStyle/>
          <a:p>
            <a:pPr algn="ctr"/>
            <a:r>
              <a:rPr sz="4400" b="1" i="0">
                <a:solidFill>
                  <a:srgbClr val="FFFFFF"/>
                </a:solidFill>
                <a:effectLst>
                  <a:glow rad="101600">
                    <a:srgbClr val="E8923A">
                      <a:alpha val="70000"/>
                    </a:srgbClr>
                  </a:glow>
                </a:effectLst>
                <a:latin typeface="Impact"/>
              </a:rPr>
              <a:t>THE PLOT</a:t>
            </a:r>
          </a:p>
        </p:txBody>
      </p:sp>
      <p:sp>
        <p:nvSpPr>
          <p:cNvPr id="10" name="Rectangle 9"/>
          <p:cNvSpPr/>
          <p:nvPr/>
        </p:nvSpPr>
        <p:spPr>
          <a:xfrm>
            <a:off x="640080" y="1508760"/>
            <a:ext cx="1088136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698480" cy="3474720"/>
          </a:xfrm>
          <a:prstGeom prst="rect">
            <a:avLst/>
          </a:prstGeom>
          <a:noFill/>
        </p:spPr>
        <p:txBody>
          <a:bodyPr wrap="square">
            <a:spAutoFit/>
          </a:bodyPr>
          <a:lstStyle/>
          <a:p>
            <a:pPr algn="l"/>
            <a:r>
              <a:rPr sz="1400">
                <a:solidFill>
                  <a:srgbClr val="CCCCCC"/>
                </a:solidFill>
                <a:latin typeface="Calibri"/>
              </a:rPr>
              <a:t>When an unprecedented threat fractures the boundaries between parallel universes, Earth's Mightiest Heroes are forced to unite across dimensions. Victor Von Doom — the brilliant megalomaniacal ruler of Latveria — has discovered a way to harness the energy of collapsed timelines, granting him control over the very fabric of reality.
As Doom's plan to merge all universes under his iron rule accelerates, the Avengers, the Fantastic Four, and allies from across the multiverse must set aside their differences. The fate of every universe — past, present, and future — hangs in the balance, leading to the cataclysmic finale: Avengers: Secret Wars (2027).</a:t>
            </a:r>
          </a:p>
        </p:txBody>
      </p:sp>
      <p:sp>
        <p:nvSpPr>
          <p:cNvPr id="12" name="Rectangle 11"/>
          <p:cNvSpPr/>
          <p:nvPr/>
        </p:nvSpPr>
        <p:spPr>
          <a:xfrm>
            <a:off x="1097280" y="5303520"/>
            <a:ext cx="3108960" cy="548640"/>
          </a:xfrm>
          <a:prstGeom prst="rect">
            <a:avLst/>
          </a:prstGeom>
          <a:solidFill>
            <a:srgbClr val="1A0A00"/>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303520"/>
            <a:ext cx="3108960" cy="548640"/>
          </a:xfrm>
          <a:prstGeom prst="rect">
            <a:avLst/>
          </a:prstGeom>
          <a:noFill/>
        </p:spPr>
        <p:txBody>
          <a:bodyPr wrap="square">
            <a:spAutoFit/>
          </a:bodyPr>
          <a:lstStyle/>
          <a:p>
            <a:pPr algn="ctr"/>
            <a:r>
              <a:rPr sz="2000" b="1" i="0">
                <a:solidFill>
                  <a:srgbClr val="E8923A"/>
                </a:solidFill>
                <a:latin typeface="Impact"/>
              </a:rPr>
              <a:t>3  ◆  Universes</a:t>
            </a:r>
          </a:p>
        </p:txBody>
      </p:sp>
      <p:sp>
        <p:nvSpPr>
          <p:cNvPr id="14" name="Rectangle 13"/>
          <p:cNvSpPr/>
          <p:nvPr/>
        </p:nvSpPr>
        <p:spPr>
          <a:xfrm>
            <a:off x="4572000" y="5303520"/>
            <a:ext cx="3108960" cy="548640"/>
          </a:xfrm>
          <a:prstGeom prst="rect">
            <a:avLst/>
          </a:prstGeom>
          <a:solidFill>
            <a:srgbClr val="1A0A00"/>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5303520"/>
            <a:ext cx="3108960" cy="548640"/>
          </a:xfrm>
          <a:prstGeom prst="rect">
            <a:avLst/>
          </a:prstGeom>
          <a:noFill/>
        </p:spPr>
        <p:txBody>
          <a:bodyPr wrap="square">
            <a:spAutoFit/>
          </a:bodyPr>
          <a:lstStyle/>
          <a:p>
            <a:pPr algn="ctr"/>
            <a:r>
              <a:rPr sz="2000" b="1" i="0">
                <a:solidFill>
                  <a:srgbClr val="E8923A"/>
                </a:solidFill>
                <a:latin typeface="Impact"/>
              </a:rPr>
              <a:t>39  ◆  MCU Films</a:t>
            </a:r>
          </a:p>
        </p:txBody>
      </p:sp>
      <p:sp>
        <p:nvSpPr>
          <p:cNvPr id="16" name="Rectangle 15"/>
          <p:cNvSpPr/>
          <p:nvPr/>
        </p:nvSpPr>
        <p:spPr>
          <a:xfrm>
            <a:off x="8046720" y="5303520"/>
            <a:ext cx="3108960" cy="548640"/>
          </a:xfrm>
          <a:prstGeom prst="rect">
            <a:avLst/>
          </a:prstGeom>
          <a:solidFill>
            <a:srgbClr val="1A0A00"/>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5303520"/>
            <a:ext cx="3108960" cy="548640"/>
          </a:xfrm>
          <a:prstGeom prst="rect">
            <a:avLst/>
          </a:prstGeom>
          <a:noFill/>
        </p:spPr>
        <p:txBody>
          <a:bodyPr wrap="square">
            <a:spAutoFit/>
          </a:bodyPr>
          <a:lstStyle/>
          <a:p>
            <a:pPr algn="ctr"/>
            <a:r>
              <a:rPr sz="2000" b="1" i="0">
                <a:solidFill>
                  <a:srgbClr val="E8923A"/>
                </a:solidFill>
                <a:latin typeface="Impact"/>
              </a:rPr>
              <a:t>1  ◆  Villain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91440"/>
            <a:ext cx="10332720" cy="685800"/>
          </a:xfrm>
          <a:prstGeom prst="rect">
            <a:avLst/>
          </a:prstGeom>
          <a:noFill/>
        </p:spPr>
        <p:txBody>
          <a:bodyPr wrap="square">
            <a:spAutoFit/>
          </a:bodyPr>
          <a:lstStyle/>
          <a:p>
            <a:pPr algn="ctr"/>
            <a:r>
              <a:rPr sz="4200" b="1" i="0">
                <a:solidFill>
                  <a:srgbClr val="FFFFFF"/>
                </a:solidFill>
                <a:effectLst>
                  <a:glow rad="101600">
                    <a:srgbClr val="E8923A">
                      <a:alpha val="70000"/>
                    </a:srgbClr>
                  </a:glow>
                </a:effectLst>
                <a:latin typeface="Impact"/>
              </a:rPr>
              <a:t>THE THUNDERBOLTS</a:t>
            </a:r>
          </a:p>
        </p:txBody>
      </p:sp>
      <p:sp>
        <p:nvSpPr>
          <p:cNvPr id="9" name="Rectangle 8"/>
          <p:cNvSpPr/>
          <p:nvPr/>
        </p:nvSpPr>
        <p:spPr>
          <a:xfrm>
            <a:off x="457200" y="777240"/>
            <a:ext cx="1124712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822960"/>
            <a:ext cx="9418320" cy="502920"/>
          </a:xfrm>
          <a:prstGeom prst="rect">
            <a:avLst/>
          </a:prstGeom>
          <a:noFill/>
        </p:spPr>
        <p:txBody>
          <a:bodyPr wrap="square">
            <a:spAutoFit/>
          </a:bodyPr>
          <a:lstStyle/>
          <a:p>
            <a:pPr algn="ctr"/>
            <a:r>
              <a:rPr sz="1800" b="0" i="1">
                <a:solidFill>
                  <a:srgbClr val="F5E6D0"/>
                </a:solidFill>
                <a:latin typeface="Trebuchet MS"/>
              </a:rPr>
              <a:t>"The Government's Secret Weapon"</a:t>
            </a:r>
          </a:p>
        </p:txBody>
      </p:sp>
      <p:sp>
        <p:nvSpPr>
          <p:cNvPr id="11" name="Rectangle 10"/>
          <p:cNvSpPr/>
          <p:nvPr/>
        </p:nvSpPr>
        <p:spPr>
          <a:xfrm>
            <a:off x="274320" y="1371600"/>
            <a:ext cx="3749039" cy="242316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371600"/>
            <a:ext cx="3749039" cy="1502359"/>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6676" y="1709631"/>
            <a:ext cx="2624327" cy="826297"/>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2873959"/>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2970885"/>
            <a:ext cx="3749039" cy="436168"/>
          </a:xfrm>
          <a:prstGeom prst="rect">
            <a:avLst/>
          </a:prstGeom>
          <a:noFill/>
        </p:spPr>
        <p:txBody>
          <a:bodyPr wrap="square">
            <a:spAutoFit/>
          </a:bodyPr>
          <a:lstStyle/>
          <a:p>
            <a:pPr algn="ctr"/>
            <a:r>
              <a:rPr sz="1200" b="1" i="0">
                <a:solidFill>
                  <a:srgbClr val="FFFFFF"/>
                </a:solidFill>
                <a:latin typeface="Calibri"/>
              </a:rPr>
              <a:t>Yelena Belova</a:t>
            </a:r>
          </a:p>
        </p:txBody>
      </p:sp>
      <p:sp>
        <p:nvSpPr>
          <p:cNvPr id="16" name="TextBox 15"/>
          <p:cNvSpPr txBox="1"/>
          <p:nvPr/>
        </p:nvSpPr>
        <p:spPr>
          <a:xfrm>
            <a:off x="274320" y="3503980"/>
            <a:ext cx="3749039" cy="436168"/>
          </a:xfrm>
          <a:prstGeom prst="rect">
            <a:avLst/>
          </a:prstGeom>
          <a:noFill/>
        </p:spPr>
        <p:txBody>
          <a:bodyPr wrap="square">
            <a:spAutoFit/>
          </a:bodyPr>
          <a:lstStyle/>
          <a:p>
            <a:pPr algn="ctr"/>
            <a:r>
              <a:rPr sz="1000" b="0" i="1">
                <a:solidFill>
                  <a:srgbClr val="E8923A"/>
                </a:solidFill>
                <a:latin typeface="Calibri"/>
              </a:rPr>
              <a:t>Florence Pugh</a:t>
            </a:r>
          </a:p>
        </p:txBody>
      </p:sp>
      <p:sp>
        <p:nvSpPr>
          <p:cNvPr id="17" name="Rectangle 16"/>
          <p:cNvSpPr/>
          <p:nvPr/>
        </p:nvSpPr>
        <p:spPr>
          <a:xfrm>
            <a:off x="4251959" y="1371600"/>
            <a:ext cx="3749039" cy="242316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59" y="1371600"/>
            <a:ext cx="3749039" cy="1502359"/>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14315" y="1709631"/>
            <a:ext cx="2624327" cy="826297"/>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51959" y="2873959"/>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51959" y="2970885"/>
            <a:ext cx="3749039" cy="436168"/>
          </a:xfrm>
          <a:prstGeom prst="rect">
            <a:avLst/>
          </a:prstGeom>
          <a:noFill/>
        </p:spPr>
        <p:txBody>
          <a:bodyPr wrap="square">
            <a:spAutoFit/>
          </a:bodyPr>
          <a:lstStyle/>
          <a:p>
            <a:pPr algn="ctr"/>
            <a:r>
              <a:rPr sz="1200" b="1" i="0">
                <a:solidFill>
                  <a:srgbClr val="FFFFFF"/>
                </a:solidFill>
                <a:latin typeface="Calibri"/>
              </a:rPr>
              <a:t>Red Guardian</a:t>
            </a:r>
          </a:p>
        </p:txBody>
      </p:sp>
      <p:sp>
        <p:nvSpPr>
          <p:cNvPr id="22" name="TextBox 21"/>
          <p:cNvSpPr txBox="1"/>
          <p:nvPr/>
        </p:nvSpPr>
        <p:spPr>
          <a:xfrm>
            <a:off x="4251959" y="3503980"/>
            <a:ext cx="3749039" cy="436168"/>
          </a:xfrm>
          <a:prstGeom prst="rect">
            <a:avLst/>
          </a:prstGeom>
          <a:noFill/>
        </p:spPr>
        <p:txBody>
          <a:bodyPr wrap="square">
            <a:spAutoFit/>
          </a:bodyPr>
          <a:lstStyle/>
          <a:p>
            <a:pPr algn="ctr"/>
            <a:r>
              <a:rPr sz="1000" b="0" i="1">
                <a:solidFill>
                  <a:srgbClr val="E8923A"/>
                </a:solidFill>
                <a:latin typeface="Calibri"/>
              </a:rPr>
              <a:t>David Harbour</a:t>
            </a:r>
          </a:p>
        </p:txBody>
      </p:sp>
      <p:sp>
        <p:nvSpPr>
          <p:cNvPr id="23" name="Rectangle 22"/>
          <p:cNvSpPr/>
          <p:nvPr/>
        </p:nvSpPr>
        <p:spPr>
          <a:xfrm>
            <a:off x="8229598" y="1371600"/>
            <a:ext cx="3749039" cy="242316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598" y="1371600"/>
            <a:ext cx="3749039" cy="1502359"/>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791954" y="1709631"/>
            <a:ext cx="2624327" cy="826297"/>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598" y="2873959"/>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8" y="2970885"/>
            <a:ext cx="3749039" cy="436168"/>
          </a:xfrm>
          <a:prstGeom prst="rect">
            <a:avLst/>
          </a:prstGeom>
          <a:noFill/>
        </p:spPr>
        <p:txBody>
          <a:bodyPr wrap="square">
            <a:spAutoFit/>
          </a:bodyPr>
          <a:lstStyle/>
          <a:p>
            <a:pPr algn="ctr"/>
            <a:r>
              <a:rPr sz="1200" b="1" i="0">
                <a:solidFill>
                  <a:srgbClr val="FFFFFF"/>
                </a:solidFill>
                <a:latin typeface="Calibri"/>
              </a:rPr>
              <a:t>U.S. Agent</a:t>
            </a:r>
          </a:p>
        </p:txBody>
      </p:sp>
      <p:sp>
        <p:nvSpPr>
          <p:cNvPr id="28" name="TextBox 27"/>
          <p:cNvSpPr txBox="1"/>
          <p:nvPr/>
        </p:nvSpPr>
        <p:spPr>
          <a:xfrm>
            <a:off x="8229598" y="3503980"/>
            <a:ext cx="3749039" cy="436168"/>
          </a:xfrm>
          <a:prstGeom prst="rect">
            <a:avLst/>
          </a:prstGeom>
          <a:noFill/>
        </p:spPr>
        <p:txBody>
          <a:bodyPr wrap="square">
            <a:spAutoFit/>
          </a:bodyPr>
          <a:lstStyle/>
          <a:p>
            <a:pPr algn="ctr"/>
            <a:r>
              <a:rPr sz="1000" b="0" i="1">
                <a:solidFill>
                  <a:srgbClr val="E8923A"/>
                </a:solidFill>
                <a:latin typeface="Calibri"/>
              </a:rPr>
              <a:t>Wyatt Russell</a:t>
            </a:r>
          </a:p>
        </p:txBody>
      </p:sp>
      <p:sp>
        <p:nvSpPr>
          <p:cNvPr id="29" name="Rectangle 28"/>
          <p:cNvSpPr/>
          <p:nvPr/>
        </p:nvSpPr>
        <p:spPr>
          <a:xfrm>
            <a:off x="274320" y="3977640"/>
            <a:ext cx="3749039" cy="242316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 y="3977640"/>
            <a:ext cx="3749039" cy="1502359"/>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36676" y="4315671"/>
            <a:ext cx="2624327" cy="826297"/>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5479999"/>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5576925"/>
            <a:ext cx="3749039" cy="436168"/>
          </a:xfrm>
          <a:prstGeom prst="rect">
            <a:avLst/>
          </a:prstGeom>
          <a:noFill/>
        </p:spPr>
        <p:txBody>
          <a:bodyPr wrap="square">
            <a:spAutoFit/>
          </a:bodyPr>
          <a:lstStyle/>
          <a:p>
            <a:pPr algn="ctr"/>
            <a:r>
              <a:rPr sz="1200" b="1" i="0">
                <a:solidFill>
                  <a:srgbClr val="FFFFFF"/>
                </a:solidFill>
                <a:latin typeface="Calibri"/>
              </a:rPr>
              <a:t>Ghost</a:t>
            </a:r>
          </a:p>
        </p:txBody>
      </p:sp>
      <p:sp>
        <p:nvSpPr>
          <p:cNvPr id="34" name="TextBox 33"/>
          <p:cNvSpPr txBox="1"/>
          <p:nvPr/>
        </p:nvSpPr>
        <p:spPr>
          <a:xfrm>
            <a:off x="274320" y="6110020"/>
            <a:ext cx="3749039" cy="436168"/>
          </a:xfrm>
          <a:prstGeom prst="rect">
            <a:avLst/>
          </a:prstGeom>
          <a:noFill/>
        </p:spPr>
        <p:txBody>
          <a:bodyPr wrap="square">
            <a:spAutoFit/>
          </a:bodyPr>
          <a:lstStyle/>
          <a:p>
            <a:pPr algn="ctr"/>
            <a:r>
              <a:rPr sz="1000" b="0" i="1">
                <a:solidFill>
                  <a:srgbClr val="E8923A"/>
                </a:solidFill>
                <a:latin typeface="Calibri"/>
              </a:rPr>
              <a:t>Hannah John-Kamen</a:t>
            </a:r>
          </a:p>
        </p:txBody>
      </p:sp>
      <p:sp>
        <p:nvSpPr>
          <p:cNvPr id="35" name="Rectangle 34"/>
          <p:cNvSpPr/>
          <p:nvPr/>
        </p:nvSpPr>
        <p:spPr>
          <a:xfrm>
            <a:off x="4251959" y="3977640"/>
            <a:ext cx="3749039" cy="242316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51959" y="3977640"/>
            <a:ext cx="3749039" cy="1502359"/>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814315" y="4315671"/>
            <a:ext cx="2624327" cy="826297"/>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51959" y="5479999"/>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51959" y="5576925"/>
            <a:ext cx="3749039" cy="436168"/>
          </a:xfrm>
          <a:prstGeom prst="rect">
            <a:avLst/>
          </a:prstGeom>
          <a:noFill/>
        </p:spPr>
        <p:txBody>
          <a:bodyPr wrap="square">
            <a:spAutoFit/>
          </a:bodyPr>
          <a:lstStyle/>
          <a:p>
            <a:pPr algn="ctr"/>
            <a:r>
              <a:rPr sz="1200" b="1" i="0">
                <a:solidFill>
                  <a:srgbClr val="FFFFFF"/>
                </a:solidFill>
                <a:latin typeface="Calibri"/>
              </a:rPr>
              <a:t>Sentry</a:t>
            </a:r>
          </a:p>
        </p:txBody>
      </p:sp>
      <p:sp>
        <p:nvSpPr>
          <p:cNvPr id="40" name="TextBox 39"/>
          <p:cNvSpPr txBox="1"/>
          <p:nvPr/>
        </p:nvSpPr>
        <p:spPr>
          <a:xfrm>
            <a:off x="4251959" y="6110020"/>
            <a:ext cx="3749039" cy="436168"/>
          </a:xfrm>
          <a:prstGeom prst="rect">
            <a:avLst/>
          </a:prstGeom>
          <a:noFill/>
        </p:spPr>
        <p:txBody>
          <a:bodyPr wrap="square">
            <a:spAutoFit/>
          </a:bodyPr>
          <a:lstStyle/>
          <a:p>
            <a:pPr algn="ctr"/>
            <a:r>
              <a:rPr sz="1000" b="0" i="1">
                <a:solidFill>
                  <a:srgbClr val="E8923A"/>
                </a:solidFill>
                <a:latin typeface="Calibri"/>
              </a:rPr>
              <a:t>Lewis Pullman</a:t>
            </a:r>
          </a:p>
        </p:txBody>
      </p:sp>
      <p:sp>
        <p:nvSpPr>
          <p:cNvPr id="41" name="Rectangle 40"/>
          <p:cNvSpPr/>
          <p:nvPr/>
        </p:nvSpPr>
        <p:spPr>
          <a:xfrm>
            <a:off x="8229598" y="3977640"/>
            <a:ext cx="3749039" cy="242316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29598" y="3977640"/>
            <a:ext cx="3749039" cy="1502359"/>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791954" y="4315671"/>
            <a:ext cx="2624327" cy="826297"/>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29598" y="5479999"/>
            <a:ext cx="3749039" cy="19050"/>
          </a:xfrm>
          <a:prstGeom prst="rect">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8" y="5576925"/>
            <a:ext cx="3749039" cy="436168"/>
          </a:xfrm>
          <a:prstGeom prst="rect">
            <a:avLst/>
          </a:prstGeom>
          <a:noFill/>
        </p:spPr>
        <p:txBody>
          <a:bodyPr wrap="square">
            <a:spAutoFit/>
          </a:bodyPr>
          <a:lstStyle/>
          <a:p>
            <a:pPr algn="ctr"/>
            <a:r>
              <a:rPr sz="1200" b="1" i="0">
                <a:solidFill>
                  <a:srgbClr val="FFFFFF"/>
                </a:solidFill>
                <a:latin typeface="Calibri"/>
              </a:rPr>
              <a:t>Winter Soldier</a:t>
            </a:r>
          </a:p>
        </p:txBody>
      </p:sp>
      <p:sp>
        <p:nvSpPr>
          <p:cNvPr id="46" name="TextBox 45"/>
          <p:cNvSpPr txBox="1"/>
          <p:nvPr/>
        </p:nvSpPr>
        <p:spPr>
          <a:xfrm>
            <a:off x="8229598" y="6110020"/>
            <a:ext cx="3749039" cy="436168"/>
          </a:xfrm>
          <a:prstGeom prst="rect">
            <a:avLst/>
          </a:prstGeom>
          <a:noFill/>
        </p:spPr>
        <p:txBody>
          <a:bodyPr wrap="square">
            <a:spAutoFit/>
          </a:bodyPr>
          <a:lstStyle/>
          <a:p>
            <a:pPr algn="ctr"/>
            <a:r>
              <a:rPr sz="1000" b="0" i="1">
                <a:solidFill>
                  <a:srgbClr val="E8923A"/>
                </a:solidFill>
                <a:latin typeface="Calibri"/>
              </a:rPr>
              <a:t>Sebastian Stan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91440"/>
            <a:ext cx="10332720" cy="640080"/>
          </a:xfrm>
          <a:prstGeom prst="rect">
            <a:avLst/>
          </a:prstGeom>
          <a:noFill/>
        </p:spPr>
        <p:txBody>
          <a:bodyPr wrap="square">
            <a:spAutoFit/>
          </a:bodyPr>
          <a:lstStyle/>
          <a:p>
            <a:pPr algn="ctr"/>
            <a:r>
              <a:rPr sz="4000" b="1" i="0">
                <a:solidFill>
                  <a:srgbClr val="FFFFFF"/>
                </a:solidFill>
                <a:effectLst>
                  <a:glow rad="101600">
                    <a:srgbClr val="E8923A">
                      <a:alpha val="70000"/>
                    </a:srgbClr>
                  </a:glow>
                </a:effectLst>
                <a:latin typeface="Impact"/>
              </a:rPr>
              <a:t>RELEASE DATE</a:t>
            </a:r>
          </a:p>
        </p:txBody>
      </p:sp>
      <p:sp>
        <p:nvSpPr>
          <p:cNvPr id="7" name="Rectangle 6"/>
          <p:cNvSpPr/>
          <p:nvPr/>
        </p:nvSpPr>
        <p:spPr>
          <a:xfrm>
            <a:off x="457200" y="731520"/>
            <a:ext cx="1124712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880360" y="1691640"/>
            <a:ext cx="6400800" cy="1828800"/>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005840"/>
            <a:ext cx="10698480" cy="1554480"/>
          </a:xfrm>
          <a:prstGeom prst="rect">
            <a:avLst/>
          </a:prstGeom>
          <a:noFill/>
        </p:spPr>
        <p:txBody>
          <a:bodyPr wrap="square">
            <a:spAutoFit/>
          </a:bodyPr>
          <a:lstStyle/>
          <a:p>
            <a:pPr algn="ctr"/>
            <a:r>
              <a:rPr sz="6000" b="1" i="0">
                <a:solidFill>
                  <a:srgbClr val="E8923A"/>
                </a:solidFill>
                <a:effectLst>
                  <a:glow rad="152400">
                    <a:srgbClr val="E8923A">
                      <a:alpha val="70000"/>
                    </a:srgbClr>
                  </a:glow>
                </a:effectLst>
                <a:latin typeface="Impact"/>
              </a:rPr>
              <a:t>DECEMBER 18, 2026</a:t>
            </a:r>
          </a:p>
        </p:txBody>
      </p:sp>
      <p:sp>
        <p:nvSpPr>
          <p:cNvPr id="10" name="Rectangle 9"/>
          <p:cNvSpPr/>
          <p:nvPr/>
        </p:nvSpPr>
        <p:spPr>
          <a:xfrm>
            <a:off x="457200" y="2651760"/>
            <a:ext cx="5303520" cy="3200400"/>
          </a:xfrm>
          <a:prstGeom prst="rect">
            <a:avLst/>
          </a:prstGeom>
          <a:solidFill>
            <a:srgbClr val="111111"/>
          </a:solidFill>
          <a:ln w="2540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737360" y="3337560"/>
            <a:ext cx="2743200" cy="1828800"/>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834640"/>
            <a:ext cx="4937760" cy="1097280"/>
          </a:xfrm>
          <a:prstGeom prst="rect">
            <a:avLst/>
          </a:prstGeom>
          <a:noFill/>
        </p:spPr>
        <p:txBody>
          <a:bodyPr wrap="square">
            <a:spAutoFit/>
          </a:bodyPr>
          <a:lstStyle/>
          <a:p>
            <a:pPr algn="ctr"/>
            <a:r>
              <a:rPr sz="2800" b="1" i="0">
                <a:solidFill>
                  <a:srgbClr val="FFFFFF"/>
                </a:solidFill>
                <a:latin typeface="Impact"/>
              </a:rPr>
              <a:t>AVENGERS:
DOOMSDAY</a:t>
            </a:r>
          </a:p>
        </p:txBody>
      </p:sp>
      <p:sp>
        <p:nvSpPr>
          <p:cNvPr id="13" name="TextBox 12"/>
          <p:cNvSpPr txBox="1"/>
          <p:nvPr/>
        </p:nvSpPr>
        <p:spPr>
          <a:xfrm>
            <a:off x="640080" y="4023360"/>
            <a:ext cx="4937760" cy="457200"/>
          </a:xfrm>
          <a:prstGeom prst="rect">
            <a:avLst/>
          </a:prstGeom>
          <a:noFill/>
        </p:spPr>
        <p:txBody>
          <a:bodyPr wrap="square">
            <a:spAutoFit/>
          </a:bodyPr>
          <a:lstStyle/>
          <a:p>
            <a:pPr algn="ctr"/>
            <a:r>
              <a:rPr sz="1300" b="1" i="0">
                <a:solidFill>
                  <a:srgbClr val="CCCCCC"/>
                </a:solidFill>
                <a:latin typeface="Calibri"/>
              </a:rPr>
              <a:t>Marvel Studios · Phase 6 · MCU #39</a:t>
            </a:r>
          </a:p>
        </p:txBody>
      </p:sp>
      <p:sp>
        <p:nvSpPr>
          <p:cNvPr id="14" name="TextBox 13"/>
          <p:cNvSpPr txBox="1"/>
          <p:nvPr/>
        </p:nvSpPr>
        <p:spPr>
          <a:xfrm>
            <a:off x="5577840" y="3566160"/>
            <a:ext cx="1005840" cy="731520"/>
          </a:xfrm>
          <a:prstGeom prst="rect">
            <a:avLst/>
          </a:prstGeom>
          <a:noFill/>
        </p:spPr>
        <p:txBody>
          <a:bodyPr wrap="square">
            <a:spAutoFit/>
          </a:bodyPr>
          <a:lstStyle/>
          <a:p>
            <a:pPr algn="ctr"/>
            <a:r>
              <a:rPr sz="3200" b="1" i="0">
                <a:solidFill>
                  <a:srgbClr val="E8923A"/>
                </a:solidFill>
                <a:latin typeface="Impact"/>
              </a:rPr>
              <a:t>VS</a:t>
            </a:r>
          </a:p>
        </p:txBody>
      </p:sp>
      <p:sp>
        <p:nvSpPr>
          <p:cNvPr id="15" name="Rectangle 14"/>
          <p:cNvSpPr/>
          <p:nvPr/>
        </p:nvSpPr>
        <p:spPr>
          <a:xfrm>
            <a:off x="6400800" y="2651760"/>
            <a:ext cx="5303520" cy="3200400"/>
          </a:xfrm>
          <a:prstGeom prst="rect">
            <a:avLst/>
          </a:prstGeom>
          <a:solidFill>
            <a:srgbClr val="0F0F0F"/>
          </a:solidFill>
          <a:ln w="19050">
            <a:solidFill>
              <a:srgbClr val="707070"/>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834640"/>
            <a:ext cx="4937760" cy="1097280"/>
          </a:xfrm>
          <a:prstGeom prst="rect">
            <a:avLst/>
          </a:prstGeom>
          <a:noFill/>
        </p:spPr>
        <p:txBody>
          <a:bodyPr wrap="square">
            <a:spAutoFit/>
          </a:bodyPr>
          <a:lstStyle/>
          <a:p>
            <a:pPr algn="ctr"/>
            <a:r>
              <a:rPr sz="2800" b="1" i="0">
                <a:solidFill>
                  <a:srgbClr val="707070"/>
                </a:solidFill>
                <a:latin typeface="Impact"/>
              </a:rPr>
              <a:t>DUNE:
PART THREE</a:t>
            </a:r>
          </a:p>
        </p:txBody>
      </p:sp>
      <p:sp>
        <p:nvSpPr>
          <p:cNvPr id="17" name="TextBox 16"/>
          <p:cNvSpPr txBox="1"/>
          <p:nvPr/>
        </p:nvSpPr>
        <p:spPr>
          <a:xfrm>
            <a:off x="6583680" y="4023360"/>
            <a:ext cx="4937760" cy="457200"/>
          </a:xfrm>
          <a:prstGeom prst="rect">
            <a:avLst/>
          </a:prstGeom>
          <a:noFill/>
        </p:spPr>
        <p:txBody>
          <a:bodyPr wrap="square">
            <a:spAutoFit/>
          </a:bodyPr>
          <a:lstStyle/>
          <a:p>
            <a:pPr algn="ctr"/>
            <a:r>
              <a:rPr sz="1300" b="0" i="0">
                <a:solidFill>
                  <a:srgbClr val="707070"/>
                </a:solidFill>
                <a:latin typeface="Calibri"/>
              </a:rPr>
              <a:t>Warner Bros. · Epic Sci-Fi</a:t>
            </a:r>
          </a:p>
        </p:txBody>
      </p:sp>
      <p:sp>
        <p:nvSpPr>
          <p:cNvPr id="18" name="Rectangle 17"/>
          <p:cNvSpPr/>
          <p:nvPr/>
        </p:nvSpPr>
        <p:spPr>
          <a:xfrm>
            <a:off x="457200" y="5943600"/>
            <a:ext cx="11247120" cy="658368"/>
          </a:xfrm>
          <a:prstGeom prst="rect">
            <a:avLst/>
          </a:prstGeom>
          <a:solidFill>
            <a:srgbClr val="301800"/>
          </a:solidFill>
          <a:ln w="12700">
            <a:solidFill>
              <a:srgbClr val="E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5943600"/>
            <a:ext cx="11247120" cy="658368"/>
          </a:xfrm>
          <a:prstGeom prst="rect">
            <a:avLst/>
          </a:prstGeom>
          <a:noFill/>
        </p:spPr>
        <p:txBody>
          <a:bodyPr wrap="square">
            <a:spAutoFit/>
          </a:bodyPr>
          <a:lstStyle/>
          <a:p>
            <a:pPr algn="ctr"/>
            <a:r>
              <a:rPr sz="2200" b="1" i="0">
                <a:solidFill>
                  <a:srgbClr val="E8923A"/>
                </a:solidFill>
                <a:latin typeface="Impact"/>
              </a:rPr>
              <a:t>⚠  DOOMSDAY 2026 — BATTLE FOR IMAX SCREENS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91440"/>
            <a:ext cx="10332720" cy="685800"/>
          </a:xfrm>
          <a:prstGeom prst="rect">
            <a:avLst/>
          </a:prstGeom>
          <a:noFill/>
        </p:spPr>
        <p:txBody>
          <a:bodyPr wrap="square">
            <a:spAutoFit/>
          </a:bodyPr>
          <a:lstStyle/>
          <a:p>
            <a:pPr algn="ctr"/>
            <a:r>
              <a:rPr sz="4200" b="1" i="0">
                <a:solidFill>
                  <a:srgbClr val="FFFFFF"/>
                </a:solidFill>
                <a:effectLst>
                  <a:glow rad="101600">
                    <a:srgbClr val="E8923A">
                      <a:alpha val="70000"/>
                    </a:srgbClr>
                  </a:glow>
                </a:effectLst>
                <a:latin typeface="Impact"/>
              </a:rPr>
              <a:t>PHASE 6 TIMELINE</a:t>
            </a:r>
          </a:p>
        </p:txBody>
      </p:sp>
      <p:sp>
        <p:nvSpPr>
          <p:cNvPr id="7" name="Rectangle 6"/>
          <p:cNvSpPr/>
          <p:nvPr/>
        </p:nvSpPr>
        <p:spPr>
          <a:xfrm>
            <a:off x="457200" y="777240"/>
            <a:ext cx="1124712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446145"/>
            <a:ext cx="11247120" cy="571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36270" y="3379470"/>
            <a:ext cx="190500" cy="190500"/>
          </a:xfrm>
          <a:prstGeom prst="ellipse">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1645920"/>
            <a:ext cx="1828800" cy="914400"/>
          </a:xfrm>
          <a:prstGeom prst="rect">
            <a:avLst/>
          </a:prstGeom>
          <a:noFill/>
        </p:spPr>
        <p:txBody>
          <a:bodyPr wrap="square">
            <a:spAutoFit/>
          </a:bodyPr>
          <a:lstStyle/>
          <a:p>
            <a:pPr algn="ctr"/>
            <a:r>
              <a:rPr sz="1300" b="1" i="0">
                <a:solidFill>
                  <a:srgbClr val="FFFFFF"/>
                </a:solidFill>
                <a:latin typeface="Impact"/>
              </a:rPr>
              <a:t>Brave New
World</a:t>
            </a:r>
          </a:p>
        </p:txBody>
      </p:sp>
      <p:sp>
        <p:nvSpPr>
          <p:cNvPr id="11" name="TextBox 10"/>
          <p:cNvSpPr txBox="1"/>
          <p:nvPr/>
        </p:nvSpPr>
        <p:spPr>
          <a:xfrm>
            <a:off x="-182880" y="1188720"/>
            <a:ext cx="1828800" cy="411480"/>
          </a:xfrm>
          <a:prstGeom prst="rect">
            <a:avLst/>
          </a:prstGeom>
          <a:noFill/>
        </p:spPr>
        <p:txBody>
          <a:bodyPr wrap="square">
            <a:spAutoFit/>
          </a:bodyPr>
          <a:lstStyle/>
          <a:p>
            <a:pPr algn="ctr"/>
            <a:r>
              <a:rPr sz="1200" b="1" i="0">
                <a:solidFill>
                  <a:srgbClr val="C87941"/>
                </a:solidFill>
                <a:latin typeface="Calibri"/>
              </a:rPr>
              <a:t>2025</a:t>
            </a:r>
          </a:p>
        </p:txBody>
      </p:sp>
      <p:sp>
        <p:nvSpPr>
          <p:cNvPr id="12" name="Oval 11"/>
          <p:cNvSpPr/>
          <p:nvPr/>
        </p:nvSpPr>
        <p:spPr>
          <a:xfrm>
            <a:off x="2775966" y="3379470"/>
            <a:ext cx="190500" cy="190500"/>
          </a:xfrm>
          <a:prstGeom prst="ellipse">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56816" y="4023360"/>
            <a:ext cx="1828800" cy="914400"/>
          </a:xfrm>
          <a:prstGeom prst="rect">
            <a:avLst/>
          </a:prstGeom>
          <a:noFill/>
        </p:spPr>
        <p:txBody>
          <a:bodyPr wrap="square">
            <a:spAutoFit/>
          </a:bodyPr>
          <a:lstStyle/>
          <a:p>
            <a:pPr algn="ctr"/>
            <a:r>
              <a:rPr sz="1300" b="1" i="0">
                <a:solidFill>
                  <a:srgbClr val="FFFFFF"/>
                </a:solidFill>
                <a:latin typeface="Impact"/>
              </a:rPr>
              <a:t>Thunderbolts*</a:t>
            </a:r>
          </a:p>
        </p:txBody>
      </p:sp>
      <p:sp>
        <p:nvSpPr>
          <p:cNvPr id="14" name="TextBox 13"/>
          <p:cNvSpPr txBox="1"/>
          <p:nvPr/>
        </p:nvSpPr>
        <p:spPr>
          <a:xfrm>
            <a:off x="1956816" y="4754880"/>
            <a:ext cx="1828800" cy="411480"/>
          </a:xfrm>
          <a:prstGeom prst="rect">
            <a:avLst/>
          </a:prstGeom>
          <a:noFill/>
        </p:spPr>
        <p:txBody>
          <a:bodyPr wrap="square">
            <a:spAutoFit/>
          </a:bodyPr>
          <a:lstStyle/>
          <a:p>
            <a:pPr algn="ctr"/>
            <a:r>
              <a:rPr sz="1200" b="1" i="0">
                <a:solidFill>
                  <a:srgbClr val="C87941"/>
                </a:solidFill>
                <a:latin typeface="Calibri"/>
              </a:rPr>
              <a:t>2025</a:t>
            </a:r>
          </a:p>
        </p:txBody>
      </p:sp>
      <p:sp>
        <p:nvSpPr>
          <p:cNvPr id="15" name="Oval 14"/>
          <p:cNvSpPr/>
          <p:nvPr/>
        </p:nvSpPr>
        <p:spPr>
          <a:xfrm>
            <a:off x="4915662" y="3379470"/>
            <a:ext cx="190500" cy="190500"/>
          </a:xfrm>
          <a:prstGeom prst="ellipse">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6512" y="1645920"/>
            <a:ext cx="1828800" cy="914400"/>
          </a:xfrm>
          <a:prstGeom prst="rect">
            <a:avLst/>
          </a:prstGeom>
          <a:noFill/>
        </p:spPr>
        <p:txBody>
          <a:bodyPr wrap="square">
            <a:spAutoFit/>
          </a:bodyPr>
          <a:lstStyle/>
          <a:p>
            <a:pPr algn="ctr"/>
            <a:r>
              <a:rPr sz="1300" b="1" i="0">
                <a:solidFill>
                  <a:srgbClr val="FFFFFF"/>
                </a:solidFill>
                <a:latin typeface="Impact"/>
              </a:rPr>
              <a:t>Fantastic
Four</a:t>
            </a:r>
          </a:p>
        </p:txBody>
      </p:sp>
      <p:sp>
        <p:nvSpPr>
          <p:cNvPr id="17" name="TextBox 16"/>
          <p:cNvSpPr txBox="1"/>
          <p:nvPr/>
        </p:nvSpPr>
        <p:spPr>
          <a:xfrm>
            <a:off x="4096512" y="1188720"/>
            <a:ext cx="1828800" cy="411480"/>
          </a:xfrm>
          <a:prstGeom prst="rect">
            <a:avLst/>
          </a:prstGeom>
          <a:noFill/>
        </p:spPr>
        <p:txBody>
          <a:bodyPr wrap="square">
            <a:spAutoFit/>
          </a:bodyPr>
          <a:lstStyle/>
          <a:p>
            <a:pPr algn="ctr"/>
            <a:r>
              <a:rPr sz="1200" b="1" i="0">
                <a:solidFill>
                  <a:srgbClr val="C87941"/>
                </a:solidFill>
                <a:latin typeface="Calibri"/>
              </a:rPr>
              <a:t>2025</a:t>
            </a:r>
          </a:p>
        </p:txBody>
      </p:sp>
      <p:sp>
        <p:nvSpPr>
          <p:cNvPr id="18" name="Oval 17"/>
          <p:cNvSpPr/>
          <p:nvPr/>
        </p:nvSpPr>
        <p:spPr>
          <a:xfrm>
            <a:off x="7055358" y="3379470"/>
            <a:ext cx="190500" cy="190500"/>
          </a:xfrm>
          <a:prstGeom prst="ellipse">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6208" y="4023360"/>
            <a:ext cx="1828800" cy="914400"/>
          </a:xfrm>
          <a:prstGeom prst="rect">
            <a:avLst/>
          </a:prstGeom>
          <a:noFill/>
        </p:spPr>
        <p:txBody>
          <a:bodyPr wrap="square">
            <a:spAutoFit/>
          </a:bodyPr>
          <a:lstStyle/>
          <a:p>
            <a:pPr algn="ctr"/>
            <a:r>
              <a:rPr sz="1300" b="1" i="0">
                <a:solidFill>
                  <a:srgbClr val="FFFFFF"/>
                </a:solidFill>
                <a:latin typeface="Impact"/>
              </a:rPr>
              <a:t>Spider-Man:
Brand New Day</a:t>
            </a:r>
          </a:p>
        </p:txBody>
      </p:sp>
      <p:sp>
        <p:nvSpPr>
          <p:cNvPr id="20" name="TextBox 19"/>
          <p:cNvSpPr txBox="1"/>
          <p:nvPr/>
        </p:nvSpPr>
        <p:spPr>
          <a:xfrm>
            <a:off x="6236208" y="4754880"/>
            <a:ext cx="1828800" cy="411480"/>
          </a:xfrm>
          <a:prstGeom prst="rect">
            <a:avLst/>
          </a:prstGeom>
          <a:noFill/>
        </p:spPr>
        <p:txBody>
          <a:bodyPr wrap="square">
            <a:spAutoFit/>
          </a:bodyPr>
          <a:lstStyle/>
          <a:p>
            <a:pPr algn="ctr"/>
            <a:r>
              <a:rPr sz="1200" b="1" i="0">
                <a:solidFill>
                  <a:srgbClr val="C87941"/>
                </a:solidFill>
                <a:latin typeface="Calibri"/>
              </a:rPr>
              <a:t>2026</a:t>
            </a:r>
          </a:p>
        </p:txBody>
      </p:sp>
      <p:sp>
        <p:nvSpPr>
          <p:cNvPr id="21" name="Oval 20"/>
          <p:cNvSpPr/>
          <p:nvPr/>
        </p:nvSpPr>
        <p:spPr>
          <a:xfrm>
            <a:off x="8604504" y="2788920"/>
            <a:ext cx="1371600" cy="1371600"/>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37904" y="3322320"/>
            <a:ext cx="304800" cy="304800"/>
          </a:xfrm>
          <a:prstGeom prst="ellipse">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5904" y="1645920"/>
            <a:ext cx="1828800" cy="914400"/>
          </a:xfrm>
          <a:prstGeom prst="rect">
            <a:avLst/>
          </a:prstGeom>
          <a:noFill/>
        </p:spPr>
        <p:txBody>
          <a:bodyPr wrap="square">
            <a:spAutoFit/>
          </a:bodyPr>
          <a:lstStyle/>
          <a:p>
            <a:pPr algn="ctr"/>
            <a:r>
              <a:rPr sz="1600" b="1" i="0">
                <a:solidFill>
                  <a:srgbClr val="E8923A"/>
                </a:solidFill>
                <a:effectLst>
                  <a:glow rad="101600">
                    <a:srgbClr val="E8923A">
                      <a:alpha val="70000"/>
                    </a:srgbClr>
                  </a:glow>
                </a:effectLst>
                <a:latin typeface="Impact"/>
              </a:rPr>
              <a:t>AVENGERS:
DOOMSDAY ★</a:t>
            </a:r>
          </a:p>
        </p:txBody>
      </p:sp>
      <p:sp>
        <p:nvSpPr>
          <p:cNvPr id="24" name="TextBox 23"/>
          <p:cNvSpPr txBox="1"/>
          <p:nvPr/>
        </p:nvSpPr>
        <p:spPr>
          <a:xfrm>
            <a:off x="8375904" y="1188720"/>
            <a:ext cx="1828800" cy="411480"/>
          </a:xfrm>
          <a:prstGeom prst="rect">
            <a:avLst/>
          </a:prstGeom>
          <a:noFill/>
        </p:spPr>
        <p:txBody>
          <a:bodyPr wrap="square">
            <a:spAutoFit/>
          </a:bodyPr>
          <a:lstStyle/>
          <a:p>
            <a:pPr algn="ctr"/>
            <a:r>
              <a:rPr sz="1200" b="1" i="0">
                <a:solidFill>
                  <a:srgbClr val="C87941"/>
                </a:solidFill>
                <a:latin typeface="Calibri"/>
              </a:rPr>
              <a:t>Dec 2026</a:t>
            </a:r>
          </a:p>
        </p:txBody>
      </p:sp>
      <p:sp>
        <p:nvSpPr>
          <p:cNvPr id="25" name="Oval 24"/>
          <p:cNvSpPr/>
          <p:nvPr/>
        </p:nvSpPr>
        <p:spPr>
          <a:xfrm>
            <a:off x="11334750" y="3379470"/>
            <a:ext cx="190500" cy="190500"/>
          </a:xfrm>
          <a:prstGeom prst="ellipse">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0" y="4023360"/>
            <a:ext cx="1828800" cy="914400"/>
          </a:xfrm>
          <a:prstGeom prst="rect">
            <a:avLst/>
          </a:prstGeom>
          <a:noFill/>
        </p:spPr>
        <p:txBody>
          <a:bodyPr wrap="square">
            <a:spAutoFit/>
          </a:bodyPr>
          <a:lstStyle/>
          <a:p>
            <a:pPr algn="ctr"/>
            <a:r>
              <a:rPr sz="1300" b="1" i="0">
                <a:solidFill>
                  <a:srgbClr val="FFFFFF"/>
                </a:solidFill>
                <a:latin typeface="Impact"/>
              </a:rPr>
              <a:t>Secret
Wars</a:t>
            </a:r>
          </a:p>
        </p:txBody>
      </p:sp>
      <p:sp>
        <p:nvSpPr>
          <p:cNvPr id="27" name="TextBox 26"/>
          <p:cNvSpPr txBox="1"/>
          <p:nvPr/>
        </p:nvSpPr>
        <p:spPr>
          <a:xfrm>
            <a:off x="10515600" y="4754880"/>
            <a:ext cx="1828800" cy="411480"/>
          </a:xfrm>
          <a:prstGeom prst="rect">
            <a:avLst/>
          </a:prstGeom>
          <a:noFill/>
        </p:spPr>
        <p:txBody>
          <a:bodyPr wrap="square">
            <a:spAutoFit/>
          </a:bodyPr>
          <a:lstStyle/>
          <a:p>
            <a:pPr algn="ctr"/>
            <a:r>
              <a:rPr sz="1200" b="1" i="0">
                <a:solidFill>
                  <a:srgbClr val="C87941"/>
                </a:solidFill>
                <a:latin typeface="Calibri"/>
              </a:rPr>
              <a:t>2027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91440"/>
            <a:ext cx="10332720" cy="685800"/>
          </a:xfrm>
          <a:prstGeom prst="rect">
            <a:avLst/>
          </a:prstGeom>
          <a:noFill/>
        </p:spPr>
        <p:txBody>
          <a:bodyPr wrap="square">
            <a:spAutoFit/>
          </a:bodyPr>
          <a:lstStyle/>
          <a:p>
            <a:pPr algn="ctr"/>
            <a:r>
              <a:rPr sz="4200" b="1" i="0">
                <a:solidFill>
                  <a:srgbClr val="FFFFFF"/>
                </a:solidFill>
                <a:effectLst>
                  <a:glow rad="101600">
                    <a:srgbClr val="E8923A">
                      <a:alpha val="70000"/>
                    </a:srgbClr>
                  </a:glow>
                </a:effectLst>
                <a:latin typeface="Impact"/>
              </a:rPr>
              <a:t>BY THE NUMBERS</a:t>
            </a:r>
          </a:p>
        </p:txBody>
      </p:sp>
      <p:sp>
        <p:nvSpPr>
          <p:cNvPr id="9" name="Rectangle 8"/>
          <p:cNvSpPr/>
          <p:nvPr/>
        </p:nvSpPr>
        <p:spPr>
          <a:xfrm>
            <a:off x="457200" y="777240"/>
            <a:ext cx="1124712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914400"/>
            <a:ext cx="3657600" cy="246888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111910"/>
            <a:ext cx="3657600" cy="1283817"/>
          </a:xfrm>
          <a:prstGeom prst="rect">
            <a:avLst/>
          </a:prstGeom>
          <a:noFill/>
        </p:spPr>
        <p:txBody>
          <a:bodyPr wrap="square">
            <a:spAutoFit/>
          </a:bodyPr>
          <a:lstStyle/>
          <a:p>
            <a:pPr algn="ctr"/>
            <a:r>
              <a:rPr sz="4800" b="1" i="0">
                <a:solidFill>
                  <a:srgbClr val="E8923A"/>
                </a:solidFill>
                <a:effectLst>
                  <a:glow rad="101600">
                    <a:srgbClr val="E8923A">
                      <a:alpha val="70000"/>
                    </a:srgbClr>
                  </a:glow>
                </a:effectLst>
                <a:latin typeface="Impact"/>
              </a:rPr>
              <a:t>39</a:t>
            </a:r>
          </a:p>
        </p:txBody>
      </p:sp>
      <p:sp>
        <p:nvSpPr>
          <p:cNvPr id="12" name="TextBox 11"/>
          <p:cNvSpPr txBox="1"/>
          <p:nvPr/>
        </p:nvSpPr>
        <p:spPr>
          <a:xfrm>
            <a:off x="274320" y="2395728"/>
            <a:ext cx="3657600" cy="938174"/>
          </a:xfrm>
          <a:prstGeom prst="rect">
            <a:avLst/>
          </a:prstGeom>
          <a:noFill/>
        </p:spPr>
        <p:txBody>
          <a:bodyPr wrap="square">
            <a:spAutoFit/>
          </a:bodyPr>
          <a:lstStyle/>
          <a:p>
            <a:pPr algn="ctr"/>
            <a:r>
              <a:rPr sz="1200" b="0" i="0">
                <a:solidFill>
                  <a:srgbClr val="FFFFFF"/>
                </a:solidFill>
                <a:latin typeface="Calibri"/>
              </a:rPr>
              <a:t>MCU Film
Number</a:t>
            </a:r>
          </a:p>
        </p:txBody>
      </p:sp>
      <p:sp>
        <p:nvSpPr>
          <p:cNvPr id="13" name="Rectangle 12"/>
          <p:cNvSpPr/>
          <p:nvPr/>
        </p:nvSpPr>
        <p:spPr>
          <a:xfrm>
            <a:off x="4160520" y="914400"/>
            <a:ext cx="3657600" cy="246888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1111910"/>
            <a:ext cx="3657600" cy="1283817"/>
          </a:xfrm>
          <a:prstGeom prst="rect">
            <a:avLst/>
          </a:prstGeom>
          <a:noFill/>
        </p:spPr>
        <p:txBody>
          <a:bodyPr wrap="square">
            <a:spAutoFit/>
          </a:bodyPr>
          <a:lstStyle/>
          <a:p>
            <a:pPr algn="ctr"/>
            <a:r>
              <a:rPr sz="4800" b="1" i="0">
                <a:solidFill>
                  <a:srgbClr val="E8923A"/>
                </a:solidFill>
                <a:effectLst>
                  <a:glow rad="101600">
                    <a:srgbClr val="E8923A">
                      <a:alpha val="70000"/>
                    </a:srgbClr>
                  </a:glow>
                </a:effectLst>
                <a:latin typeface="Impact"/>
              </a:rPr>
              <a:t>$2.79B</a:t>
            </a:r>
          </a:p>
        </p:txBody>
      </p:sp>
      <p:sp>
        <p:nvSpPr>
          <p:cNvPr id="15" name="TextBox 14"/>
          <p:cNvSpPr txBox="1"/>
          <p:nvPr/>
        </p:nvSpPr>
        <p:spPr>
          <a:xfrm>
            <a:off x="4160520" y="2395728"/>
            <a:ext cx="3657600" cy="938174"/>
          </a:xfrm>
          <a:prstGeom prst="rect">
            <a:avLst/>
          </a:prstGeom>
          <a:noFill/>
        </p:spPr>
        <p:txBody>
          <a:bodyPr wrap="square">
            <a:spAutoFit/>
          </a:bodyPr>
          <a:lstStyle/>
          <a:p>
            <a:pPr algn="ctr"/>
            <a:r>
              <a:rPr sz="1200" b="0" i="0">
                <a:solidFill>
                  <a:srgbClr val="FFFFFF"/>
                </a:solidFill>
                <a:latin typeface="Calibri"/>
              </a:rPr>
              <a:t>Endgame
Benchmark</a:t>
            </a:r>
          </a:p>
        </p:txBody>
      </p:sp>
      <p:sp>
        <p:nvSpPr>
          <p:cNvPr id="16" name="Rectangle 15"/>
          <p:cNvSpPr/>
          <p:nvPr/>
        </p:nvSpPr>
        <p:spPr>
          <a:xfrm>
            <a:off x="8046720" y="914400"/>
            <a:ext cx="3657600" cy="246888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1111910"/>
            <a:ext cx="3657600" cy="1283817"/>
          </a:xfrm>
          <a:prstGeom prst="rect">
            <a:avLst/>
          </a:prstGeom>
          <a:noFill/>
        </p:spPr>
        <p:txBody>
          <a:bodyPr wrap="square">
            <a:spAutoFit/>
          </a:bodyPr>
          <a:lstStyle/>
          <a:p>
            <a:pPr algn="ctr"/>
            <a:r>
              <a:rPr sz="4800" b="1" i="0">
                <a:solidFill>
                  <a:srgbClr val="E8923A"/>
                </a:solidFill>
                <a:effectLst>
                  <a:glow rad="101600">
                    <a:srgbClr val="E8923A">
                      <a:alpha val="70000"/>
                    </a:srgbClr>
                  </a:glow>
                </a:effectLst>
                <a:latin typeface="Impact"/>
              </a:rPr>
              <a:t>4</a:t>
            </a:r>
          </a:p>
        </p:txBody>
      </p:sp>
      <p:sp>
        <p:nvSpPr>
          <p:cNvPr id="18" name="TextBox 17"/>
          <p:cNvSpPr txBox="1"/>
          <p:nvPr/>
        </p:nvSpPr>
        <p:spPr>
          <a:xfrm>
            <a:off x="8046720" y="2395728"/>
            <a:ext cx="3657600" cy="938174"/>
          </a:xfrm>
          <a:prstGeom prst="rect">
            <a:avLst/>
          </a:prstGeom>
          <a:noFill/>
        </p:spPr>
        <p:txBody>
          <a:bodyPr wrap="square">
            <a:spAutoFit/>
          </a:bodyPr>
          <a:lstStyle/>
          <a:p>
            <a:pPr algn="ctr"/>
            <a:r>
              <a:rPr sz="1200" b="0" i="0">
                <a:solidFill>
                  <a:srgbClr val="FFFFFF"/>
                </a:solidFill>
                <a:latin typeface="Calibri"/>
              </a:rPr>
              <a:t>Russo Bros
Films</a:t>
            </a:r>
          </a:p>
        </p:txBody>
      </p:sp>
      <p:sp>
        <p:nvSpPr>
          <p:cNvPr id="19" name="Rectangle 18"/>
          <p:cNvSpPr/>
          <p:nvPr/>
        </p:nvSpPr>
        <p:spPr>
          <a:xfrm>
            <a:off x="274320" y="3566160"/>
            <a:ext cx="3657600" cy="246888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3763670"/>
            <a:ext cx="3657600" cy="1283817"/>
          </a:xfrm>
          <a:prstGeom prst="rect">
            <a:avLst/>
          </a:prstGeom>
          <a:noFill/>
        </p:spPr>
        <p:txBody>
          <a:bodyPr wrap="square">
            <a:spAutoFit/>
          </a:bodyPr>
          <a:lstStyle/>
          <a:p>
            <a:pPr algn="ctr"/>
            <a:r>
              <a:rPr sz="4800" b="1" i="0">
                <a:solidFill>
                  <a:srgbClr val="E8923A"/>
                </a:solidFill>
                <a:effectLst>
                  <a:glow rad="101600">
                    <a:srgbClr val="E8923A">
                      <a:alpha val="70000"/>
                    </a:srgbClr>
                  </a:glow>
                </a:effectLst>
                <a:latin typeface="Impact"/>
              </a:rPr>
              <a:t>3</a:t>
            </a:r>
          </a:p>
        </p:txBody>
      </p:sp>
      <p:sp>
        <p:nvSpPr>
          <p:cNvPr id="21" name="TextBox 20"/>
          <p:cNvSpPr txBox="1"/>
          <p:nvPr/>
        </p:nvSpPr>
        <p:spPr>
          <a:xfrm>
            <a:off x="274320" y="5047488"/>
            <a:ext cx="3657600" cy="938174"/>
          </a:xfrm>
          <a:prstGeom prst="rect">
            <a:avLst/>
          </a:prstGeom>
          <a:noFill/>
        </p:spPr>
        <p:txBody>
          <a:bodyPr wrap="square">
            <a:spAutoFit/>
          </a:bodyPr>
          <a:lstStyle/>
          <a:p>
            <a:pPr algn="ctr"/>
            <a:r>
              <a:rPr sz="1200" b="0" i="0">
                <a:solidFill>
                  <a:srgbClr val="FFFFFF"/>
                </a:solidFill>
                <a:latin typeface="Calibri"/>
              </a:rPr>
              <a:t>Universes
Collide</a:t>
            </a:r>
          </a:p>
        </p:txBody>
      </p:sp>
      <p:sp>
        <p:nvSpPr>
          <p:cNvPr id="22" name="Rectangle 21"/>
          <p:cNvSpPr/>
          <p:nvPr/>
        </p:nvSpPr>
        <p:spPr>
          <a:xfrm>
            <a:off x="4160520" y="3566160"/>
            <a:ext cx="3657600" cy="246888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60520" y="3763670"/>
            <a:ext cx="3657600" cy="1283817"/>
          </a:xfrm>
          <a:prstGeom prst="rect">
            <a:avLst/>
          </a:prstGeom>
          <a:noFill/>
        </p:spPr>
        <p:txBody>
          <a:bodyPr wrap="square">
            <a:spAutoFit/>
          </a:bodyPr>
          <a:lstStyle/>
          <a:p>
            <a:pPr algn="ctr"/>
            <a:r>
              <a:rPr sz="4800" b="1" i="0">
                <a:solidFill>
                  <a:srgbClr val="E8923A"/>
                </a:solidFill>
                <a:effectLst>
                  <a:glow rad="101600">
                    <a:srgbClr val="E8923A">
                      <a:alpha val="70000"/>
                    </a:srgbClr>
                  </a:glow>
                </a:effectLst>
                <a:latin typeface="Impact"/>
              </a:rPr>
              <a:t>2026</a:t>
            </a:r>
          </a:p>
        </p:txBody>
      </p:sp>
      <p:sp>
        <p:nvSpPr>
          <p:cNvPr id="24" name="TextBox 23"/>
          <p:cNvSpPr txBox="1"/>
          <p:nvPr/>
        </p:nvSpPr>
        <p:spPr>
          <a:xfrm>
            <a:off x="4160520" y="5047488"/>
            <a:ext cx="3657600" cy="938174"/>
          </a:xfrm>
          <a:prstGeom prst="rect">
            <a:avLst/>
          </a:prstGeom>
          <a:noFill/>
        </p:spPr>
        <p:txBody>
          <a:bodyPr wrap="square">
            <a:spAutoFit/>
          </a:bodyPr>
          <a:lstStyle/>
          <a:p>
            <a:pPr algn="ctr"/>
            <a:r>
              <a:rPr sz="1200" b="0" i="0">
                <a:solidFill>
                  <a:srgbClr val="FFFFFF"/>
                </a:solidFill>
                <a:latin typeface="Calibri"/>
              </a:rPr>
              <a:t>Release
Year</a:t>
            </a:r>
          </a:p>
        </p:txBody>
      </p:sp>
      <p:sp>
        <p:nvSpPr>
          <p:cNvPr id="25" name="Rectangle 24"/>
          <p:cNvSpPr/>
          <p:nvPr/>
        </p:nvSpPr>
        <p:spPr>
          <a:xfrm>
            <a:off x="8046720" y="3566160"/>
            <a:ext cx="3657600" cy="2468880"/>
          </a:xfrm>
          <a:prstGeom prst="rect">
            <a:avLst/>
          </a:prstGeom>
          <a:solidFill>
            <a:srgbClr val="111111"/>
          </a:solidFill>
          <a:ln w="1905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3763670"/>
            <a:ext cx="3657600" cy="1283817"/>
          </a:xfrm>
          <a:prstGeom prst="rect">
            <a:avLst/>
          </a:prstGeom>
          <a:noFill/>
        </p:spPr>
        <p:txBody>
          <a:bodyPr wrap="square">
            <a:spAutoFit/>
          </a:bodyPr>
          <a:lstStyle/>
          <a:p>
            <a:pPr algn="ctr"/>
            <a:r>
              <a:rPr sz="4800" b="1" i="0">
                <a:solidFill>
                  <a:srgbClr val="E8923A"/>
                </a:solidFill>
                <a:effectLst>
                  <a:glow rad="101600">
                    <a:srgbClr val="E8923A">
                      <a:alpha val="70000"/>
                    </a:srgbClr>
                  </a:glow>
                </a:effectLst>
                <a:latin typeface="Impact"/>
              </a:rPr>
              <a:t>1</a:t>
            </a:r>
          </a:p>
        </p:txBody>
      </p:sp>
      <p:sp>
        <p:nvSpPr>
          <p:cNvPr id="27" name="TextBox 26"/>
          <p:cNvSpPr txBox="1"/>
          <p:nvPr/>
        </p:nvSpPr>
        <p:spPr>
          <a:xfrm>
            <a:off x="8046720" y="5047488"/>
            <a:ext cx="3657600" cy="938174"/>
          </a:xfrm>
          <a:prstGeom prst="rect">
            <a:avLst/>
          </a:prstGeom>
          <a:noFill/>
        </p:spPr>
        <p:txBody>
          <a:bodyPr wrap="square">
            <a:spAutoFit/>
          </a:bodyPr>
          <a:lstStyle/>
          <a:p>
            <a:pPr algn="ctr"/>
            <a:r>
              <a:rPr sz="1200" b="0" i="0">
                <a:solidFill>
                  <a:srgbClr val="FFFFFF"/>
                </a:solidFill>
                <a:latin typeface="Calibri"/>
              </a:rPr>
              <a:t>Victor
Von Doom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3200400" cy="457200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0" y="1097280"/>
            <a:ext cx="3200400" cy="4389120"/>
          </a:xfrm>
          <a:prstGeom prst="rect">
            <a:avLst/>
          </a:prstGeom>
          <a:solidFill>
            <a:srgbClr val="0A0A0A"/>
          </a:solidFill>
          <a:ln w="12700">
            <a:solidFill>
              <a:srgbClr val="C87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40080"/>
            <a:ext cx="11064240" cy="4572000"/>
          </a:xfrm>
          <a:prstGeom prst="rect">
            <a:avLst/>
          </a:prstGeom>
          <a:solidFill>
            <a:srgbClr val="111111"/>
          </a:solidFill>
          <a:ln w="25400">
            <a:solidFill>
              <a:srgbClr val="E8923A"/>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777240"/>
            <a:ext cx="10698480" cy="777240"/>
          </a:xfrm>
          <a:prstGeom prst="rect">
            <a:avLst/>
          </a:prstGeom>
          <a:noFill/>
        </p:spPr>
        <p:txBody>
          <a:bodyPr wrap="square">
            <a:spAutoFit/>
          </a:bodyPr>
          <a:lstStyle/>
          <a:p>
            <a:pPr algn="ctr"/>
            <a:r>
              <a:rPr sz="4400" b="1" i="0">
                <a:solidFill>
                  <a:srgbClr val="FFFFFF"/>
                </a:solidFill>
                <a:effectLst>
                  <a:glow rad="101600">
                    <a:srgbClr val="E8923A">
                      <a:alpha val="70000"/>
                    </a:srgbClr>
                  </a:glow>
                </a:effectLst>
                <a:latin typeface="Impact"/>
              </a:rPr>
              <a:t>WHY IT MATTERS</a:t>
            </a:r>
          </a:p>
        </p:txBody>
      </p:sp>
      <p:sp>
        <p:nvSpPr>
          <p:cNvPr id="10" name="Rectangle 9"/>
          <p:cNvSpPr/>
          <p:nvPr/>
        </p:nvSpPr>
        <p:spPr>
          <a:xfrm>
            <a:off x="731520" y="1554480"/>
            <a:ext cx="10698480" cy="1905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10515600" cy="2651760"/>
          </a:xfrm>
          <a:prstGeom prst="rect">
            <a:avLst/>
          </a:prstGeom>
          <a:noFill/>
        </p:spPr>
        <p:txBody>
          <a:bodyPr wrap="square">
            <a:spAutoFit/>
          </a:bodyPr>
          <a:lstStyle/>
          <a:p>
            <a:r>
              <a:rPr sz="1400">
                <a:solidFill>
                  <a:srgbClr val="CCCCCC"/>
                </a:solidFill>
                <a:latin typeface="Calibri"/>
              </a:rPr>
              <a:t>Avengers: Doomsday is not merely a sequel — it is a culmination. After 15 years and 38 films, the Marvel Cinematic Universe converges here. Every thread, every sacrifice, every choice leads to this confrontation.
The decision to bring Robert Downey Jr. back as Victor Von Doom is Marvel's boldest creative gamble yet. The Russo Brothers return to deliver what promises to eclipse even Endgame in scope and emotional weight. This is where the Multiverse Saga ends — and everything changes.</a:t>
            </a:r>
          </a:p>
        </p:txBody>
      </p:sp>
      <p:sp>
        <p:nvSpPr>
          <p:cNvPr id="12" name="Rectangle 11"/>
          <p:cNvSpPr/>
          <p:nvPr/>
        </p:nvSpPr>
        <p:spPr>
          <a:xfrm>
            <a:off x="640080" y="5349240"/>
            <a:ext cx="3383280" cy="1234440"/>
          </a:xfrm>
          <a:prstGeom prst="rect">
            <a:avLst/>
          </a:prstGeom>
          <a:solidFill>
            <a:srgbClr val="1A0A00"/>
          </a:solidFill>
          <a:ln w="19050">
            <a:solidFill>
              <a:srgbClr val="C87941"/>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394960"/>
            <a:ext cx="822960" cy="914400"/>
          </a:xfrm>
          <a:prstGeom prst="rect">
            <a:avLst/>
          </a:prstGeom>
          <a:noFill/>
        </p:spPr>
        <p:txBody>
          <a:bodyPr wrap="square">
            <a:spAutoFit/>
          </a:bodyPr>
          <a:lstStyle/>
          <a:p>
            <a:pPr algn="ctr"/>
            <a:r>
              <a:rPr sz="2800" b="1" i="0">
                <a:solidFill>
                  <a:srgbClr val="E8923A"/>
                </a:solidFill>
                <a:latin typeface="Impact"/>
              </a:rPr>
              <a:t>★</a:t>
            </a:r>
          </a:p>
        </p:txBody>
      </p:sp>
      <p:sp>
        <p:nvSpPr>
          <p:cNvPr id="14" name="TextBox 13"/>
          <p:cNvSpPr txBox="1"/>
          <p:nvPr/>
        </p:nvSpPr>
        <p:spPr>
          <a:xfrm>
            <a:off x="1417320" y="5440680"/>
            <a:ext cx="2468880" cy="1005840"/>
          </a:xfrm>
          <a:prstGeom prst="rect">
            <a:avLst/>
          </a:prstGeom>
          <a:noFill/>
        </p:spPr>
        <p:txBody>
          <a:bodyPr wrap="square">
            <a:spAutoFit/>
          </a:bodyPr>
          <a:lstStyle/>
          <a:p>
            <a:pPr algn="l"/>
            <a:r>
              <a:rPr sz="1200" b="0" i="0">
                <a:solidFill>
                  <a:srgbClr val="CCCCCC"/>
                </a:solidFill>
                <a:latin typeface="Calibri"/>
              </a:rPr>
              <a:t>MCU Veterans
+ New Heroes</a:t>
            </a:r>
          </a:p>
        </p:txBody>
      </p:sp>
      <p:sp>
        <p:nvSpPr>
          <p:cNvPr id="15" name="Rectangle 14"/>
          <p:cNvSpPr/>
          <p:nvPr/>
        </p:nvSpPr>
        <p:spPr>
          <a:xfrm>
            <a:off x="4297680" y="5349240"/>
            <a:ext cx="3383280" cy="1234440"/>
          </a:xfrm>
          <a:prstGeom prst="rect">
            <a:avLst/>
          </a:prstGeom>
          <a:solidFill>
            <a:srgbClr val="1A0A00"/>
          </a:solidFill>
          <a:ln w="19050">
            <a:solidFill>
              <a:srgbClr val="C87941"/>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5394960"/>
            <a:ext cx="822960" cy="914400"/>
          </a:xfrm>
          <a:prstGeom prst="rect">
            <a:avLst/>
          </a:prstGeom>
          <a:noFill/>
        </p:spPr>
        <p:txBody>
          <a:bodyPr wrap="square">
            <a:spAutoFit/>
          </a:bodyPr>
          <a:lstStyle/>
          <a:p>
            <a:pPr algn="ctr"/>
            <a:r>
              <a:rPr sz="2800" b="1" i="0">
                <a:solidFill>
                  <a:srgbClr val="E8923A"/>
                </a:solidFill>
                <a:latin typeface="Impact"/>
              </a:rPr>
              <a:t>◈</a:t>
            </a:r>
          </a:p>
        </p:txBody>
      </p:sp>
      <p:sp>
        <p:nvSpPr>
          <p:cNvPr id="17" name="TextBox 16"/>
          <p:cNvSpPr txBox="1"/>
          <p:nvPr/>
        </p:nvSpPr>
        <p:spPr>
          <a:xfrm>
            <a:off x="5074920" y="5440680"/>
            <a:ext cx="2468880" cy="1005840"/>
          </a:xfrm>
          <a:prstGeom prst="rect">
            <a:avLst/>
          </a:prstGeom>
          <a:noFill/>
        </p:spPr>
        <p:txBody>
          <a:bodyPr wrap="square">
            <a:spAutoFit/>
          </a:bodyPr>
          <a:lstStyle/>
          <a:p>
            <a:pPr algn="l"/>
            <a:r>
              <a:rPr sz="1200" b="0" i="0">
                <a:solidFill>
                  <a:srgbClr val="CCCCCC"/>
                </a:solidFill>
                <a:latin typeface="Calibri"/>
              </a:rPr>
              <a:t>Multiverse Saga
Endgame</a:t>
            </a:r>
          </a:p>
        </p:txBody>
      </p:sp>
      <p:sp>
        <p:nvSpPr>
          <p:cNvPr id="18" name="Rectangle 17"/>
          <p:cNvSpPr/>
          <p:nvPr/>
        </p:nvSpPr>
        <p:spPr>
          <a:xfrm>
            <a:off x="7955280" y="5349240"/>
            <a:ext cx="3383280" cy="1234440"/>
          </a:xfrm>
          <a:prstGeom prst="rect">
            <a:avLst/>
          </a:prstGeom>
          <a:solidFill>
            <a:srgbClr val="1A0A00"/>
          </a:solidFill>
          <a:ln w="19050">
            <a:solidFill>
              <a:srgbClr val="C87941"/>
            </a:solidFill>
          </a:ln>
          <a:effectLst>
            <a:outerShdw blurRad="355600" dist="63500" dir="81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0" y="5394960"/>
            <a:ext cx="822960" cy="914400"/>
          </a:xfrm>
          <a:prstGeom prst="rect">
            <a:avLst/>
          </a:prstGeom>
          <a:noFill/>
        </p:spPr>
        <p:txBody>
          <a:bodyPr wrap="square">
            <a:spAutoFit/>
          </a:bodyPr>
          <a:lstStyle/>
          <a:p>
            <a:pPr algn="ctr"/>
            <a:r>
              <a:rPr sz="2800" b="1" i="0">
                <a:solidFill>
                  <a:srgbClr val="E8923A"/>
                </a:solidFill>
                <a:latin typeface="Impact"/>
              </a:rPr>
              <a:t>◎</a:t>
            </a:r>
          </a:p>
        </p:txBody>
      </p:sp>
      <p:sp>
        <p:nvSpPr>
          <p:cNvPr id="20" name="TextBox 19"/>
          <p:cNvSpPr txBox="1"/>
          <p:nvPr/>
        </p:nvSpPr>
        <p:spPr>
          <a:xfrm>
            <a:off x="8732520" y="5440680"/>
            <a:ext cx="2468880" cy="1005840"/>
          </a:xfrm>
          <a:prstGeom prst="rect">
            <a:avLst/>
          </a:prstGeom>
          <a:noFill/>
        </p:spPr>
        <p:txBody>
          <a:bodyPr wrap="square">
            <a:spAutoFit/>
          </a:bodyPr>
          <a:lstStyle/>
          <a:p>
            <a:pPr algn="l"/>
            <a:r>
              <a:rPr sz="1200" b="0" i="0">
                <a:solidFill>
                  <a:srgbClr val="CCCCCC"/>
                </a:solidFill>
                <a:latin typeface="Calibri"/>
              </a:rPr>
              <a:t>RDJ's Most
Complex Role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5143500"/>
            <a:ext cx="12161520" cy="1714500"/>
          </a:xfrm>
          <a:prstGeom prst="rect">
            <a:avLst/>
          </a:prstGeom>
          <a:gradFill>
            <a:gsLst>
              <a:gs pos="0">
                <a:srgbClr val="251200"/>
              </a:gs>
              <a:gs pos="50000">
                <a:srgbClr val="100700">
                  <a:alpha val="8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43500"/>
            <a:ext cx="12161520" cy="381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6567220" y="-1028700"/>
            <a:ext cx="267553"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00000">
            <a:off x="8999524" y="-1028700"/>
            <a:ext cx="170261" cy="9601200"/>
          </a:xfrm>
          <a:prstGeom prst="rect">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794760" y="4800600"/>
            <a:ext cx="4572000" cy="731520"/>
          </a:xfrm>
          <a:prstGeom prst="ellipse">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709160" y="4972050"/>
            <a:ext cx="2743200" cy="365760"/>
          </a:xfrm>
          <a:prstGeom prst="ellipse">
            <a:avLst/>
          </a:prstGeom>
          <a:solidFill>
            <a:srgbClr val="C87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423160" y="662940"/>
            <a:ext cx="7315200" cy="4572000"/>
          </a:xfrm>
          <a:prstGeom prst="ellipse">
            <a:avLst/>
          </a:prstGeom>
          <a:solidFill>
            <a:srgbClr val="FF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94760" y="1577340"/>
            <a:ext cx="4572000" cy="2743200"/>
          </a:xfrm>
          <a:prstGeom prst="ellipse">
            <a:avLst/>
          </a:prstGeom>
          <a:solidFill>
            <a:srgbClr val="E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554480"/>
            <a:ext cx="11612880" cy="2377440"/>
          </a:xfrm>
          <a:prstGeom prst="rect">
            <a:avLst/>
          </a:prstGeom>
          <a:noFill/>
        </p:spPr>
        <p:txBody>
          <a:bodyPr wrap="square">
            <a:spAutoFit/>
          </a:bodyPr>
          <a:lstStyle/>
          <a:p>
            <a:pPr algn="ctr"/>
            <a:r>
              <a:rPr sz="8800" b="1" i="0">
                <a:solidFill>
                  <a:srgbClr val="FFFFFF"/>
                </a:solidFill>
                <a:effectLst>
                  <a:glow rad="177800">
                    <a:srgbClr val="E8923A">
                      <a:alpha val="70000"/>
                    </a:srgbClr>
                  </a:glow>
                </a:effectLst>
                <a:latin typeface="Impact"/>
              </a:rPr>
              <a:t>DOOM IS COMING.</a:t>
            </a:r>
          </a:p>
        </p:txBody>
      </p:sp>
      <p:sp>
        <p:nvSpPr>
          <p:cNvPr id="11" name="TextBox 10"/>
          <p:cNvSpPr txBox="1"/>
          <p:nvPr/>
        </p:nvSpPr>
        <p:spPr>
          <a:xfrm>
            <a:off x="1828800" y="4114800"/>
            <a:ext cx="8503920" cy="594360"/>
          </a:xfrm>
          <a:prstGeom prst="rect">
            <a:avLst/>
          </a:prstGeom>
          <a:noFill/>
        </p:spPr>
        <p:txBody>
          <a:bodyPr wrap="square">
            <a:spAutoFit/>
          </a:bodyPr>
          <a:lstStyle/>
          <a:p>
            <a:pPr algn="ctr"/>
            <a:r>
              <a:rPr sz="1800" b="0" i="0">
                <a:solidFill>
                  <a:srgbClr val="C87941"/>
                </a:solidFill>
                <a:latin typeface="Calibri"/>
              </a:rPr>
              <a:t>December 18, 2026  ·  Marvel Studios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