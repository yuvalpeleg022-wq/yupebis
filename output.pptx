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0" y="0"/>
            <a:ext cx="3474720" cy="6858000"/>
          </a:xfrm>
          <a:prstGeom prst="rect">
            <a:avLst/>
          </a:prstGeom>
          <a:solidFill>
            <a:srgbClr val="112244"/>
          </a:solidFill>
          <a:ln/>
        </p:spPr>
      </p:sp>
      <p:sp>
        <p:nvSpPr>
          <p:cNvPr id="5" name="Shape 3"/>
          <p:cNvSpPr/>
          <p:nvPr/>
        </p:nvSpPr>
        <p:spPr>
          <a:xfrm>
            <a:off x="5394960" y="0"/>
            <a:ext cx="73152" cy="6858000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71600"/>
            <a:ext cx="3108960" cy="292608"/>
          </a:xfrm>
          <a:prstGeom prst="roundRect">
            <a:avLst>
              <a:gd name="adj" fmla="val 18750"/>
            </a:avLst>
          </a:prstGeom>
          <a:solidFill>
            <a:srgbClr val="1A3560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9EFF"/>
                </a:solidFill>
              </a:rPr>
              <a:t>ANNUAL TRENDS REPORT  · 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47548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</a:rPr>
              <a:t>Technology</a:t>
            </a:r>
            <a:endParaRPr lang="en-US" sz="4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</a:rPr>
              <a:t>Trends 2026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457200" y="416052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7A9CC0"/>
                </a:solidFill>
              </a:rPr>
              <a:t>Artificial Intelligence · Quantum Computing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7A9CC0"/>
                </a:solidFill>
              </a:rPr>
              <a:t>Cybersecurity · Sustainable Tech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5303520"/>
            <a:ext cx="4754880" cy="27432"/>
          </a:xfrm>
          <a:prstGeom prst="rect">
            <a:avLst/>
          </a:prstGeom>
          <a:solidFill>
            <a:srgbClr val="1A3560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5394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CC0"/>
                </a:solidFill>
              </a:rPr>
              <a:t>Prepared by Strategy &amp; Innovation · May 2026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0" y="164592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4A9EFF"/>
                </a:solidFill>
              </a:rPr>
              <a:t>◈</a:t>
            </a:r>
            <a:endParaRPr lang="en-US" sz="7200" dirty="0"/>
          </a:p>
        </p:txBody>
      </p:sp>
      <p:sp>
        <p:nvSpPr>
          <p:cNvPr id="13" name="Text 11"/>
          <p:cNvSpPr/>
          <p:nvPr/>
        </p:nvSpPr>
        <p:spPr>
          <a:xfrm>
            <a:off x="5943600" y="3200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CC0"/>
                </a:solidFill>
              </a:rPr>
              <a:t>Innovation  ·  Insight  ·  Impact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502920"/>
            <a:ext cx="64008" cy="548640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Agenda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8229600" cy="27432"/>
          </a:xfrm>
          <a:prstGeom prst="rect">
            <a:avLst/>
          </a:prstGeom>
          <a:solidFill>
            <a:srgbClr val="1A3560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280160"/>
            <a:ext cx="502920" cy="502920"/>
          </a:xfrm>
          <a:prstGeom prst="rect">
            <a:avLst/>
          </a:prstGeom>
          <a:solidFill>
            <a:srgbClr val="1A3560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9EFF"/>
                </a:solidFill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131673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Executive Summary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155448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CC0"/>
                </a:solidFill>
              </a:rPr>
              <a:t>Key takeaways from this year's landscape scan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029968"/>
            <a:ext cx="502920" cy="502920"/>
          </a:xfrm>
          <a:prstGeom prst="rect">
            <a:avLst/>
          </a:prstGeom>
          <a:solidFill>
            <a:srgbClr val="1A3560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0299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9EFF"/>
                </a:solidFill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97280" y="206654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AI &amp; Generative Models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2304288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CC0"/>
                </a:solidFill>
              </a:rPr>
              <a:t>From assistants to autonomous agents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779776"/>
            <a:ext cx="502920" cy="502920"/>
          </a:xfrm>
          <a:prstGeom prst="rect">
            <a:avLst/>
          </a:prstGeom>
          <a:solidFill>
            <a:srgbClr val="1A3560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7797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9EFF"/>
                </a:solidFill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97280" y="281635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Quantum Computing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3054096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CC0"/>
                </a:solidFill>
              </a:rPr>
              <a:t>Practical milestones and enterprise readiness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529584"/>
            <a:ext cx="502920" cy="502920"/>
          </a:xfrm>
          <a:prstGeom prst="rect">
            <a:avLst/>
          </a:prstGeom>
          <a:solidFill>
            <a:srgbClr val="1A3560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5295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9EFF"/>
                </a:solidFill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97280" y="356616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Cybersecurity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3803904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CC0"/>
                </a:solidFill>
              </a:rPr>
              <a:t>Threat vectors and zero-trust adoption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4279392"/>
            <a:ext cx="502920" cy="502920"/>
          </a:xfrm>
          <a:prstGeom prst="rect">
            <a:avLst/>
          </a:prstGeom>
          <a:solidFill>
            <a:srgbClr val="1A3560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2793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9EFF"/>
                </a:solidFill>
              </a:rPr>
              <a:t>05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97280" y="431596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Sustainable Technology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97280" y="4553712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CC0"/>
                </a:solidFill>
              </a:rPr>
              <a:t>Green datacenters and energy-efficient chips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5029200"/>
            <a:ext cx="502920" cy="502920"/>
          </a:xfrm>
          <a:prstGeom prst="rect">
            <a:avLst/>
          </a:prstGeom>
          <a:solidFill>
            <a:srgbClr val="1A3560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5029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9EFF"/>
                </a:solidFill>
              </a:rPr>
              <a:t>06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97280" y="506577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Edge &amp; 5G Convergence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97280" y="530352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CC0"/>
                </a:solidFill>
              </a:rPr>
              <a:t>Latency, bandwidth, and new use-cases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" y="5779008"/>
            <a:ext cx="502920" cy="502920"/>
          </a:xfrm>
          <a:prstGeom prst="rect">
            <a:avLst/>
          </a:prstGeom>
          <a:solidFill>
            <a:srgbClr val="1A3560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57790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9EFF"/>
                </a:solidFill>
              </a:rPr>
              <a:t>07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97280" y="581558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Strategic Recommendations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097280" y="6053328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CC0"/>
                </a:solidFill>
              </a:rPr>
              <a:t>Prioritized action plan for 2026–2027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502920"/>
            <a:ext cx="64008" cy="548640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Executive Summary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498080" y="502920"/>
            <a:ext cx="2743200" cy="292608"/>
          </a:xfrm>
          <a:prstGeom prst="roundRect">
            <a:avLst>
              <a:gd name="adj" fmla="val 18750"/>
            </a:avLst>
          </a:prstGeom>
          <a:solidFill>
            <a:srgbClr val="1A3560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50292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9EFF"/>
                </a:solidFill>
              </a:rPr>
              <a:t>SLIDE 02 OF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1920240" cy="1645920"/>
          </a:xfrm>
          <a:prstGeom prst="rect">
            <a:avLst/>
          </a:prstGeom>
          <a:solidFill>
            <a:srgbClr val="112244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280160"/>
            <a:ext cx="1920240" cy="64008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41732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$4.8T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57200" y="21488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D8F0"/>
                </a:solidFill>
              </a:rPr>
              <a:t>Global tech spending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8D8F0"/>
                </a:solidFill>
              </a:rPr>
              <a:t>projected in 2026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606040" y="1280160"/>
            <a:ext cx="1920240" cy="1645920"/>
          </a:xfrm>
          <a:prstGeom prst="rect">
            <a:avLst/>
          </a:prstGeom>
          <a:solidFill>
            <a:srgbClr val="112244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06040" y="1280160"/>
            <a:ext cx="1920240" cy="64008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4" name="Text 12"/>
          <p:cNvSpPr/>
          <p:nvPr/>
        </p:nvSpPr>
        <p:spPr>
          <a:xfrm>
            <a:off x="2606040" y="141732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68%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2606040" y="21488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D8F0"/>
                </a:solidFill>
              </a:rPr>
              <a:t>Enterprises deploying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8D8F0"/>
                </a:solidFill>
              </a:rPr>
              <a:t>AI in production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54880" y="1280160"/>
            <a:ext cx="1920240" cy="1645920"/>
          </a:xfrm>
          <a:prstGeom prst="rect">
            <a:avLst/>
          </a:prstGeom>
          <a:solidFill>
            <a:srgbClr val="112244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1280160"/>
            <a:ext cx="1920240" cy="64008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141732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3.5×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4754880" y="21488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D8F0"/>
                </a:solidFill>
              </a:rPr>
              <a:t>ROI on cybersecurity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8D8F0"/>
                </a:solidFill>
              </a:rPr>
              <a:t>investment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903720" y="1280160"/>
            <a:ext cx="1920240" cy="1645920"/>
          </a:xfrm>
          <a:prstGeom prst="rect">
            <a:avLst/>
          </a:prstGeom>
          <a:solidFill>
            <a:srgbClr val="112244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03720" y="1280160"/>
            <a:ext cx="1920240" cy="64008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22" name="Text 20"/>
          <p:cNvSpPr/>
          <p:nvPr/>
        </p:nvSpPr>
        <p:spPr>
          <a:xfrm>
            <a:off x="6903720" y="141732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42 ZB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6903720" y="21488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D8F0"/>
                </a:solidFill>
              </a:rPr>
              <a:t>Global data generated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8D8F0"/>
                </a:solidFill>
              </a:rPr>
              <a:t>by year end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" y="3154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</a:rPr>
              <a:t>Key Insight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347472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C8D8F0"/>
                </a:solidFill>
              </a:rPr>
              <a:t>2026 marks an inflection point where AI transitions from a competitive advantage to a baseline expectation. Organizations that delay adoption risk structural disadvantages that compound year-over-year. The window for first-mover gains is narrowing rapidly across all technology domains.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7200" y="3383280"/>
            <a:ext cx="8229600" cy="27432"/>
          </a:xfrm>
          <a:prstGeom prst="rect">
            <a:avLst/>
          </a:prstGeom>
          <a:solidFill>
            <a:srgbClr val="1A3560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502920"/>
            <a:ext cx="64008" cy="548640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45720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AI &amp; Generative Models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498080" y="502920"/>
            <a:ext cx="2743200" cy="292608"/>
          </a:xfrm>
          <a:prstGeom prst="roundRect">
            <a:avLst>
              <a:gd name="adj" fmla="val 18750"/>
            </a:avLst>
          </a:prstGeom>
          <a:solidFill>
            <a:srgbClr val="1A3560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50292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9EFF"/>
                </a:solidFill>
              </a:rPr>
              <a:t>SLIDE 03 OF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5029200" cy="1143000"/>
          </a:xfrm>
          <a:prstGeom prst="rect">
            <a:avLst/>
          </a:prstGeom>
          <a:solidFill>
            <a:srgbClr val="112244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325880"/>
            <a:ext cx="54864" cy="1143000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43560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Autonomous Agents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173736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8D8F0"/>
                </a:solidFill>
              </a:rPr>
              <a:t>Multi-step reasoning agents handle end-to-end workflows without human intervention, reducing task completion time by up to 70%.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651760"/>
            <a:ext cx="5029200" cy="1143000"/>
          </a:xfrm>
          <a:prstGeom prst="rect">
            <a:avLst/>
          </a:prstGeom>
          <a:solidFill>
            <a:srgbClr val="112244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651760"/>
            <a:ext cx="54864" cy="114300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76148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Multimodal Fusion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06324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8D8F0"/>
                </a:solidFill>
              </a:rPr>
              <a:t>Models now seamlessly process text, image, audio, and video simultaneously, enabling richer and more contextual applications.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3977640"/>
            <a:ext cx="5029200" cy="1143000"/>
          </a:xfrm>
          <a:prstGeom prst="rect">
            <a:avLst/>
          </a:prstGeom>
          <a:solidFill>
            <a:srgbClr val="112244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977640"/>
            <a:ext cx="54864" cy="1143000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08736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On-Device Inference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438912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8D8F0"/>
                </a:solidFill>
              </a:rPr>
              <a:t>Compact models running on edge hardware eliminate latency and privacy concerns associated with cloud-based inference.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5303520"/>
            <a:ext cx="5029200" cy="1143000"/>
          </a:xfrm>
          <a:prstGeom prst="rect">
            <a:avLst/>
          </a:prstGeom>
          <a:solidFill>
            <a:srgbClr val="112244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5303520"/>
            <a:ext cx="54864" cy="114300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541324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Regulation Horizon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571500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8D8F0"/>
                </a:solidFill>
              </a:rPr>
              <a:t>The EU AI Act and similar frameworks require explainability logs, bias audits, and incident reporting from 2026 onwards.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669280" y="1325880"/>
            <a:ext cx="3017520" cy="5120640"/>
          </a:xfrm>
          <a:prstGeom prst="rect">
            <a:avLst/>
          </a:prstGeom>
          <a:solidFill>
            <a:srgbClr val="112244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60720" y="14630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9EFF"/>
                </a:solidFill>
              </a:rPr>
              <a:t>By the Numbers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52160" y="1965960"/>
            <a:ext cx="2651760" cy="1188720"/>
          </a:xfrm>
          <a:prstGeom prst="rect">
            <a:avLst/>
          </a:prstGeom>
          <a:solidFill>
            <a:srgbClr val="1A3560"/>
          </a:solidFill>
          <a:ln/>
        </p:spPr>
      </p:sp>
      <p:sp>
        <p:nvSpPr>
          <p:cNvPr id="27" name="Text 25"/>
          <p:cNvSpPr/>
          <p:nvPr/>
        </p:nvSpPr>
        <p:spPr>
          <a:xfrm>
            <a:off x="5852160" y="201168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A9EFF"/>
                </a:solidFill>
              </a:rPr>
              <a:t>$1.3T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5852160" y="25603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D8F0"/>
                </a:solidFill>
              </a:rPr>
              <a:t>AI market size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8D8F0"/>
                </a:solidFill>
              </a:rPr>
              <a:t>by 2028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852160" y="3429000"/>
            <a:ext cx="2651760" cy="1188720"/>
          </a:xfrm>
          <a:prstGeom prst="rect">
            <a:avLst/>
          </a:prstGeom>
          <a:solidFill>
            <a:srgbClr val="1A3560"/>
          </a:solidFill>
          <a:ln/>
        </p:spPr>
      </p:sp>
      <p:sp>
        <p:nvSpPr>
          <p:cNvPr id="30" name="Text 28"/>
          <p:cNvSpPr/>
          <p:nvPr/>
        </p:nvSpPr>
        <p:spPr>
          <a:xfrm>
            <a:off x="5852160" y="347472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A9EFF"/>
                </a:solidFill>
              </a:rPr>
              <a:t>340M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5852160" y="40233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D8F0"/>
                </a:solidFill>
              </a:rPr>
              <a:t>Knowledge workers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8D8F0"/>
                </a:solidFill>
              </a:rPr>
              <a:t>augmented by AI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852160" y="4892040"/>
            <a:ext cx="2651760" cy="1188720"/>
          </a:xfrm>
          <a:prstGeom prst="rect">
            <a:avLst/>
          </a:prstGeom>
          <a:solidFill>
            <a:srgbClr val="1A3560"/>
          </a:solidFill>
          <a:ln/>
        </p:spPr>
      </p:sp>
      <p:sp>
        <p:nvSpPr>
          <p:cNvPr id="33" name="Text 31"/>
          <p:cNvSpPr/>
          <p:nvPr/>
        </p:nvSpPr>
        <p:spPr>
          <a:xfrm>
            <a:off x="5852160" y="493776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A9EFF"/>
                </a:solidFill>
              </a:rPr>
              <a:t>89%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5852160" y="54864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D8F0"/>
                </a:solidFill>
              </a:rPr>
              <a:t>Developers using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8D8F0"/>
                </a:solidFill>
              </a:rPr>
              <a:t>AI coding tools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502920"/>
            <a:ext cx="64008" cy="54864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45720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Quantum Computing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498080" y="502920"/>
            <a:ext cx="2743200" cy="292608"/>
          </a:xfrm>
          <a:prstGeom prst="roundRect">
            <a:avLst>
              <a:gd name="adj" fmla="val 18750"/>
            </a:avLst>
          </a:prstGeom>
          <a:solidFill>
            <a:srgbClr val="1A3560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50292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9EFF"/>
                </a:solidFill>
              </a:rPr>
              <a:t>SLIDE 04 OF 10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D8F0"/>
                </a:solidFill>
              </a:rPr>
              <a:t>Adoption Timeline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8229600" cy="36576"/>
          </a:xfrm>
          <a:prstGeom prst="rect">
            <a:avLst/>
          </a:prstGeom>
          <a:solidFill>
            <a:srgbClr val="1A3560"/>
          </a:solidFill>
          <a:ln/>
        </p:spPr>
      </p:sp>
      <p:sp>
        <p:nvSpPr>
          <p:cNvPr id="10" name="Shape 8"/>
          <p:cNvSpPr/>
          <p:nvPr/>
        </p:nvSpPr>
        <p:spPr>
          <a:xfrm>
            <a:off x="1024128" y="1975104"/>
            <a:ext cx="182880" cy="182880"/>
          </a:xfrm>
          <a:prstGeom prst="ellipse">
            <a:avLst/>
          </a:prstGeom>
          <a:solidFill>
            <a:srgbClr val="7A9CC0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6459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9CC0"/>
                </a:solidFill>
              </a:rPr>
              <a:t>2024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2402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8F0"/>
                </a:solidFill>
              </a:rPr>
              <a:t>1000+ qubit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8D8F0"/>
                </a:solidFill>
              </a:rPr>
              <a:t>processors debut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670048" y="1975104"/>
            <a:ext cx="182880" cy="182880"/>
          </a:xfrm>
          <a:prstGeom prst="ellipse">
            <a:avLst/>
          </a:prstGeom>
          <a:solidFill>
            <a:srgbClr val="7A9CC0"/>
          </a:solidFill>
          <a:ln/>
        </p:spPr>
      </p:sp>
      <p:sp>
        <p:nvSpPr>
          <p:cNvPr id="14" name="Text 12"/>
          <p:cNvSpPr/>
          <p:nvPr/>
        </p:nvSpPr>
        <p:spPr>
          <a:xfrm>
            <a:off x="2103120" y="16459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9CC0"/>
                </a:solidFill>
              </a:rPr>
              <a:t>2025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03120" y="22402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8F0"/>
                </a:solidFill>
              </a:rPr>
              <a:t>Error correction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8D8F0"/>
                </a:solidFill>
              </a:rPr>
              <a:t>breakthroughs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315968" y="1975104"/>
            <a:ext cx="182880" cy="182880"/>
          </a:xfrm>
          <a:prstGeom prst="ellipse">
            <a:avLst/>
          </a:prstGeom>
          <a:solidFill>
            <a:srgbClr val="4A9EFF"/>
          </a:solidFill>
          <a:ln/>
        </p:spPr>
      </p:sp>
      <p:sp>
        <p:nvSpPr>
          <p:cNvPr id="17" name="Text 15"/>
          <p:cNvSpPr/>
          <p:nvPr/>
        </p:nvSpPr>
        <p:spPr>
          <a:xfrm>
            <a:off x="3749040" y="16459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9EFF"/>
                </a:solidFill>
              </a:rPr>
              <a:t>2026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49040" y="22402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8F0"/>
                </a:solidFill>
              </a:rPr>
              <a:t>Cloud QC APIs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8D8F0"/>
                </a:solidFill>
              </a:rPr>
              <a:t>widely available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961888" y="1975104"/>
            <a:ext cx="182880" cy="182880"/>
          </a:xfrm>
          <a:prstGeom prst="ellipse">
            <a:avLst/>
          </a:prstGeom>
          <a:solidFill>
            <a:srgbClr val="00C8FF"/>
          </a:solidFill>
          <a:ln/>
        </p:spPr>
      </p:sp>
      <p:sp>
        <p:nvSpPr>
          <p:cNvPr id="20" name="Text 18"/>
          <p:cNvSpPr/>
          <p:nvPr/>
        </p:nvSpPr>
        <p:spPr>
          <a:xfrm>
            <a:off x="5394960" y="16459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FF"/>
                </a:solidFill>
              </a:rPr>
              <a:t>2027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94960" y="22402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8F0"/>
                </a:solidFill>
              </a:rPr>
              <a:t>Hybrid classical-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8D8F0"/>
                </a:solidFill>
              </a:rPr>
              <a:t>quantum pipelines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607808" y="1975104"/>
            <a:ext cx="182880" cy="182880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23" name="Text 21"/>
          <p:cNvSpPr/>
          <p:nvPr/>
        </p:nvSpPr>
        <p:spPr>
          <a:xfrm>
            <a:off x="7040880" y="16459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166"/>
                </a:solidFill>
              </a:rPr>
              <a:t>2028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040880" y="22402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8F0"/>
                </a:solidFill>
              </a:rPr>
              <a:t>Pharmaceutical &amp;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8D8F0"/>
                </a:solidFill>
              </a:rPr>
              <a:t>finance use-cases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3108960"/>
            <a:ext cx="4023360" cy="1234440"/>
          </a:xfrm>
          <a:prstGeom prst="rect">
            <a:avLst/>
          </a:prstGeom>
          <a:solidFill>
            <a:srgbClr val="112244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32004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</a:rPr>
              <a:t>Cryptography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4360" y="3493008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8D8F0"/>
                </a:solidFill>
              </a:rPr>
              <a:t>Post-quantum encryption standards (NIST PQC) are becoming mandatory for government and financial systems.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54880" y="3108960"/>
            <a:ext cx="4023360" cy="1234440"/>
          </a:xfrm>
          <a:prstGeom prst="rect">
            <a:avLst/>
          </a:prstGeom>
          <a:solidFill>
            <a:srgbClr val="112244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32004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</a:rPr>
              <a:t>Drug Discovery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92040" y="3493008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8D8F0"/>
                </a:solidFill>
              </a:rPr>
              <a:t>Quantum simulations cut molecular modeling time from years to hours, accelerating pipeline timelines.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" y="4526280"/>
            <a:ext cx="4023360" cy="1234440"/>
          </a:xfrm>
          <a:prstGeom prst="rect">
            <a:avLst/>
          </a:prstGeom>
          <a:solidFill>
            <a:srgbClr val="112244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46177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</a:rPr>
              <a:t>Optimization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94360" y="4910328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8D8F0"/>
                </a:solidFill>
              </a:rPr>
              <a:t>Logistics, supply chain, and portfolio optimization problems yield 1000× speed-up on quantum hardware.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54880" y="4526280"/>
            <a:ext cx="4023360" cy="1234440"/>
          </a:xfrm>
          <a:prstGeom prst="rect">
            <a:avLst/>
          </a:prstGeom>
          <a:solidFill>
            <a:srgbClr val="112244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46177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</a:rPr>
              <a:t>Materials Science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92040" y="4910328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8D8F0"/>
                </a:solidFill>
              </a:rPr>
              <a:t>Discovery of room-temperature superconductors and novel battery chemistries accelerated by quantum models.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502920"/>
            <a:ext cx="64008" cy="54864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45720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Cybersecurity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498080" y="502920"/>
            <a:ext cx="2743200" cy="292608"/>
          </a:xfrm>
          <a:prstGeom prst="roundRect">
            <a:avLst>
              <a:gd name="adj" fmla="val 18750"/>
            </a:avLst>
          </a:prstGeom>
          <a:solidFill>
            <a:srgbClr val="1A3560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50292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9EFF"/>
                </a:solidFill>
              </a:rPr>
              <a:t>SLIDE 05 OF 10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234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D8F0"/>
                </a:solidFill>
              </a:rPr>
              <a:t>Top Threat Vectors in 2026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7373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F0"/>
                </a:solidFill>
              </a:rPr>
              <a:t>AI-Powered Phishing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83280" y="1783080"/>
            <a:ext cx="4754880" cy="228600"/>
          </a:xfrm>
          <a:prstGeom prst="rect">
            <a:avLst/>
          </a:prstGeom>
          <a:solidFill>
            <a:srgbClr val="1A3560"/>
          </a:solidFill>
          <a:ln/>
        </p:spPr>
      </p:sp>
      <p:sp>
        <p:nvSpPr>
          <p:cNvPr id="11" name="Shape 9"/>
          <p:cNvSpPr/>
          <p:nvPr/>
        </p:nvSpPr>
        <p:spPr>
          <a:xfrm>
            <a:off x="3383280" y="1783080"/>
            <a:ext cx="4041648" cy="22860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0" y="17373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6B6B"/>
                </a:solidFill>
              </a:rPr>
              <a:t>85%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5146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F0"/>
                </a:solidFill>
              </a:rPr>
              <a:t>Supply Chain Attacks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383280" y="2560320"/>
            <a:ext cx="4754880" cy="228600"/>
          </a:xfrm>
          <a:prstGeom prst="rect">
            <a:avLst/>
          </a:prstGeom>
          <a:solidFill>
            <a:srgbClr val="1A3560"/>
          </a:solidFill>
          <a:ln/>
        </p:spPr>
      </p:sp>
      <p:sp>
        <p:nvSpPr>
          <p:cNvPr id="15" name="Shape 13"/>
          <p:cNvSpPr/>
          <p:nvPr/>
        </p:nvSpPr>
        <p:spPr>
          <a:xfrm>
            <a:off x="3383280" y="2560320"/>
            <a:ext cx="3423514" cy="228600"/>
          </a:xfrm>
          <a:prstGeom prst="rect">
            <a:avLst/>
          </a:prstGeom>
          <a:solidFill>
            <a:srgbClr val="FF9F43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0" y="25146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9F43"/>
                </a:solidFill>
              </a:rPr>
              <a:t>72%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32918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F0"/>
                </a:solidFill>
              </a:rPr>
              <a:t>Ransomware-as-a-Service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383280" y="3337560"/>
            <a:ext cx="4754880" cy="228600"/>
          </a:xfrm>
          <a:prstGeom prst="rect">
            <a:avLst/>
          </a:prstGeom>
          <a:solidFill>
            <a:srgbClr val="1A3560"/>
          </a:solidFill>
          <a:ln/>
        </p:spPr>
      </p:sp>
      <p:sp>
        <p:nvSpPr>
          <p:cNvPr id="19" name="Shape 17"/>
          <p:cNvSpPr/>
          <p:nvPr/>
        </p:nvSpPr>
        <p:spPr>
          <a:xfrm>
            <a:off x="3383280" y="3337560"/>
            <a:ext cx="3233318" cy="22860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0" y="329184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6B6B"/>
                </a:solidFill>
              </a:rPr>
              <a:t>68%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0690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F0"/>
                </a:solidFill>
              </a:rPr>
              <a:t>Deepfake Social Eng.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383280" y="4114800"/>
            <a:ext cx="4754880" cy="228600"/>
          </a:xfrm>
          <a:prstGeom prst="rect">
            <a:avLst/>
          </a:prstGeom>
          <a:solidFill>
            <a:srgbClr val="1A3560"/>
          </a:solidFill>
          <a:ln/>
        </p:spPr>
      </p:sp>
      <p:sp>
        <p:nvSpPr>
          <p:cNvPr id="23" name="Shape 21"/>
          <p:cNvSpPr/>
          <p:nvPr/>
        </p:nvSpPr>
        <p:spPr>
          <a:xfrm>
            <a:off x="3383280" y="4114800"/>
            <a:ext cx="2900477" cy="228600"/>
          </a:xfrm>
          <a:prstGeom prst="rect">
            <a:avLst/>
          </a:prstGeom>
          <a:solidFill>
            <a:srgbClr val="FF9F43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0" y="4069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9F43"/>
                </a:solidFill>
              </a:rPr>
              <a:t>61%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48463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F0"/>
                </a:solidFill>
              </a:rPr>
              <a:t>Zero-Day Exploits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383280" y="4892040"/>
            <a:ext cx="4754880" cy="228600"/>
          </a:xfrm>
          <a:prstGeom prst="rect">
            <a:avLst/>
          </a:prstGeom>
          <a:solidFill>
            <a:srgbClr val="1A3560"/>
          </a:solidFill>
          <a:ln/>
        </p:spPr>
      </p:sp>
      <p:sp>
        <p:nvSpPr>
          <p:cNvPr id="27" name="Shape 25"/>
          <p:cNvSpPr/>
          <p:nvPr/>
        </p:nvSpPr>
        <p:spPr>
          <a:xfrm>
            <a:off x="3383280" y="4892040"/>
            <a:ext cx="2567635" cy="228600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0" y="48463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A9EFF"/>
                </a:solidFill>
              </a:rPr>
              <a:t>54%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5669280"/>
            <a:ext cx="8229600" cy="27432"/>
          </a:xfrm>
          <a:prstGeom prst="rect">
            <a:avLst/>
          </a:prstGeom>
          <a:solidFill>
            <a:srgbClr val="1A3560"/>
          </a:solidFill>
          <a:ln/>
        </p:spPr>
      </p:sp>
      <p:sp>
        <p:nvSpPr>
          <p:cNvPr id="30" name="Shape 28"/>
          <p:cNvSpPr/>
          <p:nvPr/>
        </p:nvSpPr>
        <p:spPr>
          <a:xfrm>
            <a:off x="457200" y="5760720"/>
            <a:ext cx="1920240" cy="731520"/>
          </a:xfrm>
          <a:prstGeom prst="rect">
            <a:avLst/>
          </a:prstGeom>
          <a:solidFill>
            <a:srgbClr val="112244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576072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A9EFF"/>
                </a:solidFill>
              </a:rPr>
              <a:t>Zero Trust Architecture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560320" y="5760720"/>
            <a:ext cx="1920240" cy="731520"/>
          </a:xfrm>
          <a:prstGeom prst="rect">
            <a:avLst/>
          </a:prstGeom>
          <a:solidFill>
            <a:srgbClr val="112244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60320" y="576072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A9EFF"/>
                </a:solidFill>
              </a:rPr>
              <a:t>AI-Driven SOC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663440" y="5760720"/>
            <a:ext cx="1920240" cy="731520"/>
          </a:xfrm>
          <a:prstGeom prst="rect">
            <a:avLst/>
          </a:prstGeom>
          <a:solidFill>
            <a:srgbClr val="112244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576072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A9EFF"/>
                </a:solidFill>
              </a:rPr>
              <a:t>Quantum-Safe Crypto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766560" y="5760720"/>
            <a:ext cx="1920240" cy="731520"/>
          </a:xfrm>
          <a:prstGeom prst="rect">
            <a:avLst/>
          </a:prstGeom>
          <a:solidFill>
            <a:srgbClr val="112244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66560" y="576072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A9EFF"/>
                </a:solidFill>
              </a:rPr>
              <a:t>Supply Chain SBOM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502920"/>
            <a:ext cx="64008" cy="54864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45720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Sustainable Technology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498080" y="502920"/>
            <a:ext cx="2743200" cy="292608"/>
          </a:xfrm>
          <a:prstGeom prst="roundRect">
            <a:avLst>
              <a:gd name="adj" fmla="val 18750"/>
            </a:avLst>
          </a:prstGeom>
          <a:solidFill>
            <a:srgbClr val="1A3560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50292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9EFF"/>
                </a:solidFill>
              </a:rPr>
              <a:t>SLIDE 06 OF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2651760" cy="2331720"/>
          </a:xfrm>
          <a:prstGeom prst="rect">
            <a:avLst/>
          </a:prstGeom>
          <a:solidFill>
            <a:srgbClr val="112244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325880"/>
            <a:ext cx="2651760" cy="5486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146304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Green Datacenters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1874520"/>
            <a:ext cx="2423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C8D8F0"/>
                </a:solidFill>
              </a:rPr>
              <a:t>Hyperscalers commit to 100% renewable energy by 2025; liquid cooling cuts PUE to below 1.1 in next-gen facilities.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91840" y="1325880"/>
            <a:ext cx="2651760" cy="2331720"/>
          </a:xfrm>
          <a:prstGeom prst="rect">
            <a:avLst/>
          </a:prstGeom>
          <a:solidFill>
            <a:srgbClr val="112244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91840" y="1325880"/>
            <a:ext cx="2651760" cy="5486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4" name="Text 12"/>
          <p:cNvSpPr/>
          <p:nvPr/>
        </p:nvSpPr>
        <p:spPr>
          <a:xfrm>
            <a:off x="3401568" y="146304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Energy-Efficient AI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01568" y="1874520"/>
            <a:ext cx="2423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C8D8F0"/>
                </a:solidFill>
              </a:rPr>
              <a:t>Neuromorphic chips and sparse model architectures reduce inference energy by 10–100× vs. traditional GPUs.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26480" y="1325880"/>
            <a:ext cx="2651760" cy="2331720"/>
          </a:xfrm>
          <a:prstGeom prst="rect">
            <a:avLst/>
          </a:prstGeom>
          <a:solidFill>
            <a:srgbClr val="112244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1325880"/>
            <a:ext cx="2651760" cy="5486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8" name="Text 16"/>
          <p:cNvSpPr/>
          <p:nvPr/>
        </p:nvSpPr>
        <p:spPr>
          <a:xfrm>
            <a:off x="6236208" y="146304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Circular Electronics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36208" y="1874520"/>
            <a:ext cx="2423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C8D8F0"/>
                </a:solidFill>
              </a:rPr>
              <a:t>Right-to-repair legislation and modular hardware design extend device lifespans and reduce e-waste by 35%.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886200"/>
            <a:ext cx="2651760" cy="2331720"/>
          </a:xfrm>
          <a:prstGeom prst="rect">
            <a:avLst/>
          </a:prstGeom>
          <a:solidFill>
            <a:srgbClr val="112244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886200"/>
            <a:ext cx="2651760" cy="5486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" y="40233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Carbon-Aware Compute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66928" y="4434840"/>
            <a:ext cx="2423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C8D8F0"/>
                </a:solidFill>
              </a:rPr>
              <a:t>Workload schedulers shift batch processing to regions and times with the lowest grid carbon intensity automatically.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91840" y="3886200"/>
            <a:ext cx="2651760" cy="2331720"/>
          </a:xfrm>
          <a:prstGeom prst="rect">
            <a:avLst/>
          </a:prstGeom>
          <a:solidFill>
            <a:srgbClr val="112244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91840" y="3886200"/>
            <a:ext cx="2651760" cy="5486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6" name="Text 24"/>
          <p:cNvSpPr/>
          <p:nvPr/>
        </p:nvSpPr>
        <p:spPr>
          <a:xfrm>
            <a:off x="3401568" y="40233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Sustainable Software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01568" y="4434840"/>
            <a:ext cx="2423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C8D8F0"/>
                </a:solidFill>
              </a:rPr>
              <a:t>Green coding standards measure software carbon footprint; CarbonOps becomes a new DevOps discipline.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126480" y="3886200"/>
            <a:ext cx="2651760" cy="2331720"/>
          </a:xfrm>
          <a:prstGeom prst="rect">
            <a:avLst/>
          </a:prstGeom>
          <a:solidFill>
            <a:srgbClr val="112244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26480" y="3886200"/>
            <a:ext cx="2651760" cy="5486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30" name="Text 28"/>
          <p:cNvSpPr/>
          <p:nvPr/>
        </p:nvSpPr>
        <p:spPr>
          <a:xfrm>
            <a:off x="6236208" y="40233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Water-Neutral Cooling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36208" y="4434840"/>
            <a:ext cx="2423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C8D8F0"/>
                </a:solidFill>
              </a:rPr>
              <a:t>Closed-loop immersion cooling eliminates evaporative water use in datacenters located in water-stressed regions.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502920"/>
            <a:ext cx="64008" cy="54864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45720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Edge &amp; 5G Convergence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498080" y="502920"/>
            <a:ext cx="2743200" cy="292608"/>
          </a:xfrm>
          <a:prstGeom prst="roundRect">
            <a:avLst>
              <a:gd name="adj" fmla="val 18750"/>
            </a:avLst>
          </a:prstGeom>
          <a:solidFill>
            <a:srgbClr val="1A3560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50292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9EFF"/>
                </a:solidFill>
              </a:rPr>
              <a:t>SLIDE 07 OF 10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0" y="1234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D8F0"/>
                </a:solidFill>
              </a:rPr>
              <a:t>Connected Ecosystem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66160" y="2743200"/>
            <a:ext cx="2011680" cy="1371600"/>
          </a:xfrm>
          <a:prstGeom prst="ellipse">
            <a:avLst/>
          </a:prstGeom>
          <a:solidFill>
            <a:srgbClr val="1A3560"/>
          </a:solidFill>
          <a:ln w="25400">
            <a:solidFill>
              <a:srgbClr val="4A9E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274320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9EFF"/>
                </a:solidFill>
              </a:rPr>
              <a:t>5G + Edge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4A9EFF"/>
                </a:solidFill>
              </a:rPr>
              <a:t>Infrastructure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011680"/>
            <a:ext cx="1645920" cy="914400"/>
          </a:xfrm>
          <a:prstGeom prst="roundRect">
            <a:avLst>
              <a:gd name="adj" fmla="val 10000"/>
            </a:avLst>
          </a:prstGeom>
          <a:solidFill>
            <a:srgbClr val="112244"/>
          </a:solidFill>
          <a:ln w="19050">
            <a:solidFill>
              <a:srgbClr val="00C8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01168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C8FF"/>
                </a:solidFill>
              </a:rPr>
              <a:t>Industrial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0C8FF"/>
                </a:solidFill>
              </a:rPr>
              <a:t>IoT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749040" y="1737360"/>
            <a:ext cx="1645920" cy="914400"/>
          </a:xfrm>
          <a:prstGeom prst="roundRect">
            <a:avLst>
              <a:gd name="adj" fmla="val 10000"/>
            </a:avLst>
          </a:prstGeom>
          <a:solidFill>
            <a:srgbClr val="112244"/>
          </a:solidFill>
          <a:ln w="19050">
            <a:solidFill>
              <a:srgbClr val="00C8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49040" y="173736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C8FF"/>
                </a:solidFill>
              </a:rPr>
              <a:t>Smart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0C8FF"/>
                </a:solidFill>
              </a:rPr>
              <a:t>Cities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858000" y="2011680"/>
            <a:ext cx="1645920" cy="914400"/>
          </a:xfrm>
          <a:prstGeom prst="roundRect">
            <a:avLst>
              <a:gd name="adj" fmla="val 10000"/>
            </a:avLst>
          </a:prstGeom>
          <a:solidFill>
            <a:srgbClr val="112244"/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0" y="201168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D166"/>
                </a:solidFill>
              </a:rPr>
              <a:t>Autonomous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D166"/>
                </a:solidFill>
              </a:rPr>
              <a:t>Vehicles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4389120"/>
            <a:ext cx="1645920" cy="914400"/>
          </a:xfrm>
          <a:prstGeom prst="roundRect">
            <a:avLst>
              <a:gd name="adj" fmla="val 10000"/>
            </a:avLst>
          </a:prstGeom>
          <a:solidFill>
            <a:srgbClr val="112244"/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38912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D166"/>
                </a:solidFill>
              </a:rPr>
              <a:t>AR / XR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749040" y="4663440"/>
            <a:ext cx="1645920" cy="914400"/>
          </a:xfrm>
          <a:prstGeom prst="roundRect">
            <a:avLst>
              <a:gd name="adj" fmla="val 10000"/>
            </a:avLst>
          </a:prstGeom>
          <a:solidFill>
            <a:srgbClr val="112244"/>
          </a:solidFill>
          <a:ln w="19050">
            <a:solidFill>
              <a:srgbClr val="4A9E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49040" y="466344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A9EFF"/>
                </a:solidFill>
              </a:rPr>
              <a:t>Edge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4A9EFF"/>
                </a:solidFill>
              </a:rPr>
              <a:t>AI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858000" y="4389120"/>
            <a:ext cx="1645920" cy="914400"/>
          </a:xfrm>
          <a:prstGeom prst="roundRect">
            <a:avLst>
              <a:gd name="adj" fmla="val 10000"/>
            </a:avLst>
          </a:prstGeom>
          <a:solidFill>
            <a:srgbClr val="112244"/>
          </a:solidFill>
          <a:ln w="19050">
            <a:solidFill>
              <a:srgbClr val="FF6B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0" y="438912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6B6B"/>
                </a:solidFill>
              </a:rPr>
              <a:t>Remote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6B6B"/>
                </a:solidFill>
              </a:rPr>
              <a:t>Surgery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" y="5669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7A9CC0"/>
                </a:solidFill>
              </a:rPr>
              <a:t>5G standalone networks paired with distributed edge compute reduce round-trip latency to under 1 ms, enabling a new generation of real-time, mission-critical applications across every industry vertical.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502920"/>
            <a:ext cx="64008" cy="548640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45720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Data &amp; Analytics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498080" y="502920"/>
            <a:ext cx="2743200" cy="292608"/>
          </a:xfrm>
          <a:prstGeom prst="roundRect">
            <a:avLst>
              <a:gd name="adj" fmla="val 18750"/>
            </a:avLst>
          </a:prstGeom>
          <a:solidFill>
            <a:srgbClr val="1A3560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50292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9EFF"/>
                </a:solidFill>
              </a:rPr>
              <a:t>SLIDE 08 OF 10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D8F0"/>
                </a:solidFill>
              </a:rPr>
              <a:t>Enterprise Data Maturity Distribution (2026)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F0"/>
                </a:solidFill>
              </a:rPr>
              <a:t>Predictive Analytics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865376"/>
            <a:ext cx="5029200" cy="201168"/>
          </a:xfrm>
          <a:prstGeom prst="rect">
            <a:avLst/>
          </a:prstGeom>
          <a:solidFill>
            <a:srgbClr val="1A3560"/>
          </a:solidFill>
          <a:ln/>
        </p:spPr>
      </p:sp>
      <p:sp>
        <p:nvSpPr>
          <p:cNvPr id="11" name="Shape 9"/>
          <p:cNvSpPr/>
          <p:nvPr/>
        </p:nvSpPr>
        <p:spPr>
          <a:xfrm>
            <a:off x="3291840" y="1865376"/>
            <a:ext cx="3118104" cy="201168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0" y="1828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4A9EFF"/>
                </a:solidFill>
              </a:rPr>
              <a:t>62%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253288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F0"/>
                </a:solidFill>
              </a:rPr>
              <a:t>Real-Time Streaming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91840" y="2569464"/>
            <a:ext cx="5029200" cy="201168"/>
          </a:xfrm>
          <a:prstGeom prst="rect">
            <a:avLst/>
          </a:prstGeom>
          <a:solidFill>
            <a:srgbClr val="1A3560"/>
          </a:solidFill>
          <a:ln/>
        </p:spPr>
      </p:sp>
      <p:sp>
        <p:nvSpPr>
          <p:cNvPr id="15" name="Shape 13"/>
          <p:cNvSpPr/>
          <p:nvPr/>
        </p:nvSpPr>
        <p:spPr>
          <a:xfrm>
            <a:off x="3291840" y="2569464"/>
            <a:ext cx="2414016" cy="201168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25328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C8FF"/>
                </a:solidFill>
              </a:rPr>
              <a:t>48%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323697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F0"/>
                </a:solidFill>
              </a:rPr>
              <a:t>Data Mesh Architecture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91840" y="3273552"/>
            <a:ext cx="5029200" cy="201168"/>
          </a:xfrm>
          <a:prstGeom prst="rect">
            <a:avLst/>
          </a:prstGeom>
          <a:solidFill>
            <a:srgbClr val="1A3560"/>
          </a:solidFill>
          <a:ln/>
        </p:spPr>
      </p:sp>
      <p:sp>
        <p:nvSpPr>
          <p:cNvPr id="19" name="Shape 17"/>
          <p:cNvSpPr/>
          <p:nvPr/>
        </p:nvSpPr>
        <p:spPr>
          <a:xfrm>
            <a:off x="3291840" y="3273552"/>
            <a:ext cx="1709928" cy="201168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20" name="Text 18"/>
          <p:cNvSpPr/>
          <p:nvPr/>
        </p:nvSpPr>
        <p:spPr>
          <a:xfrm>
            <a:off x="8412480" y="32369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D166"/>
                </a:solidFill>
              </a:rPr>
              <a:t>34%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7200" y="394106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F0"/>
                </a:solidFill>
              </a:rPr>
              <a:t>AI-Augmented BI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91840" y="3977640"/>
            <a:ext cx="5029200" cy="201168"/>
          </a:xfrm>
          <a:prstGeom prst="rect">
            <a:avLst/>
          </a:prstGeom>
          <a:solidFill>
            <a:srgbClr val="1A3560"/>
          </a:solidFill>
          <a:ln/>
        </p:spPr>
      </p:sp>
      <p:sp>
        <p:nvSpPr>
          <p:cNvPr id="23" name="Shape 21"/>
          <p:cNvSpPr/>
          <p:nvPr/>
        </p:nvSpPr>
        <p:spPr>
          <a:xfrm>
            <a:off x="3291840" y="3977640"/>
            <a:ext cx="3570732" cy="201168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24" name="Text 22"/>
          <p:cNvSpPr/>
          <p:nvPr/>
        </p:nvSpPr>
        <p:spPr>
          <a:xfrm>
            <a:off x="8412480" y="39410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4A9EFF"/>
                </a:solidFill>
              </a:rPr>
              <a:t>71%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7200" y="46451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F0"/>
                </a:solidFill>
              </a:rPr>
              <a:t>Federated Learning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91840" y="4681728"/>
            <a:ext cx="5029200" cy="201168"/>
          </a:xfrm>
          <a:prstGeom prst="rect">
            <a:avLst/>
          </a:prstGeom>
          <a:solidFill>
            <a:srgbClr val="1A3560"/>
          </a:solidFill>
          <a:ln/>
        </p:spPr>
      </p:sp>
      <p:sp>
        <p:nvSpPr>
          <p:cNvPr id="27" name="Shape 25"/>
          <p:cNvSpPr/>
          <p:nvPr/>
        </p:nvSpPr>
        <p:spPr>
          <a:xfrm>
            <a:off x="3291840" y="4681728"/>
            <a:ext cx="1106424" cy="201168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8" name="Text 26"/>
          <p:cNvSpPr/>
          <p:nvPr/>
        </p:nvSpPr>
        <p:spPr>
          <a:xfrm>
            <a:off x="8412480" y="46451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6D6A0"/>
                </a:solidFill>
              </a:rPr>
              <a:t>22%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57200" y="5349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F0"/>
                </a:solidFill>
              </a:rPr>
              <a:t>Synthetic Data Gen.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91840" y="5385816"/>
            <a:ext cx="5029200" cy="201168"/>
          </a:xfrm>
          <a:prstGeom prst="rect">
            <a:avLst/>
          </a:prstGeom>
          <a:solidFill>
            <a:srgbClr val="1A3560"/>
          </a:solidFill>
          <a:ln/>
        </p:spPr>
      </p:sp>
      <p:sp>
        <p:nvSpPr>
          <p:cNvPr id="31" name="Shape 29"/>
          <p:cNvSpPr/>
          <p:nvPr/>
        </p:nvSpPr>
        <p:spPr>
          <a:xfrm>
            <a:off x="3291840" y="5385816"/>
            <a:ext cx="1961388" cy="201168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32" name="Text 30"/>
          <p:cNvSpPr/>
          <p:nvPr/>
        </p:nvSpPr>
        <p:spPr>
          <a:xfrm>
            <a:off x="8412480" y="5349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C8FF"/>
                </a:solidFill>
              </a:rPr>
              <a:t>39%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200" y="6126480"/>
            <a:ext cx="8229600" cy="36576"/>
          </a:xfrm>
          <a:prstGeom prst="rect">
            <a:avLst/>
          </a:prstGeom>
          <a:solidFill>
            <a:srgbClr val="1A3560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6217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CC0"/>
                </a:solidFill>
              </a:rPr>
              <a:t>Source: Global CIO Survey 2026, n = 4,200 enterprises across 38 countries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502920"/>
            <a:ext cx="64008" cy="54864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Strategic Recommendations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498080" y="502920"/>
            <a:ext cx="2743200" cy="292608"/>
          </a:xfrm>
          <a:prstGeom prst="roundRect">
            <a:avLst>
              <a:gd name="adj" fmla="val 18750"/>
            </a:avLst>
          </a:prstGeom>
          <a:solidFill>
            <a:srgbClr val="1A3560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50292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9EFF"/>
                </a:solidFill>
              </a:rPr>
              <a:t>SLIDE 09 OF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8229600" cy="960120"/>
          </a:xfrm>
          <a:prstGeom prst="rect">
            <a:avLst/>
          </a:prstGeom>
          <a:solidFill>
            <a:srgbClr val="112244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325880"/>
            <a:ext cx="54864" cy="96012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417320"/>
            <a:ext cx="1234440" cy="256032"/>
          </a:xfrm>
          <a:prstGeom prst="roundRect">
            <a:avLst>
              <a:gd name="adj" fmla="val 17857"/>
            </a:avLst>
          </a:prstGeom>
          <a:solidFill>
            <a:srgbClr val="1A3560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417320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6B6B"/>
                </a:solidFill>
              </a:rPr>
              <a:t>IMMEDIATE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920240" y="1399032"/>
            <a:ext cx="6583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Establish an AI Governance Framework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920240" y="1709928"/>
            <a:ext cx="6583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8D8F0"/>
                </a:solidFill>
              </a:rPr>
              <a:t>Form a cross-functional AI council with clear ownership of ethics, compliance, and deployment standards before scaling AI initiatives.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395728"/>
            <a:ext cx="8229600" cy="960120"/>
          </a:xfrm>
          <a:prstGeom prst="rect">
            <a:avLst/>
          </a:prstGeom>
          <a:solidFill>
            <a:srgbClr val="112244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395728"/>
            <a:ext cx="54864" cy="96012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" y="2487168"/>
            <a:ext cx="1234440" cy="256032"/>
          </a:xfrm>
          <a:prstGeom prst="roundRect">
            <a:avLst>
              <a:gd name="adj" fmla="val 17857"/>
            </a:avLst>
          </a:prstGeom>
          <a:solidFill>
            <a:srgbClr val="1A3560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487168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D166"/>
                </a:solidFill>
              </a:rPr>
              <a:t>SHORT-TERM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920240" y="2468880"/>
            <a:ext cx="6583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Invest in Post-Quantum Cryptography Migration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920240" y="2779776"/>
            <a:ext cx="6583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8D8F0"/>
                </a:solidFill>
              </a:rPr>
              <a:t>Audit all encryption in use and begin migrating critical systems to NIST-approved PQC algorithms; target completion by end of 2027.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465576"/>
            <a:ext cx="8229600" cy="960120"/>
          </a:xfrm>
          <a:prstGeom prst="rect">
            <a:avLst/>
          </a:prstGeom>
          <a:solidFill>
            <a:srgbClr val="112244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465576"/>
            <a:ext cx="54864" cy="96012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22" name="Shape 20"/>
          <p:cNvSpPr/>
          <p:nvPr/>
        </p:nvSpPr>
        <p:spPr>
          <a:xfrm>
            <a:off x="594360" y="3557016"/>
            <a:ext cx="1234440" cy="256032"/>
          </a:xfrm>
          <a:prstGeom prst="roundRect">
            <a:avLst>
              <a:gd name="adj" fmla="val 17857"/>
            </a:avLst>
          </a:prstGeom>
          <a:solidFill>
            <a:srgbClr val="1A3560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557016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D166"/>
                </a:solidFill>
              </a:rPr>
              <a:t>SHORT-TERM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920240" y="3538728"/>
            <a:ext cx="6583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Build Edge Computing Infrastructure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920240" y="3849624"/>
            <a:ext cx="6583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8D8F0"/>
                </a:solidFill>
              </a:rPr>
              <a:t>Partner with telecom providers to co-locate edge nodes and reduce application latency for customer-facing products.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4535424"/>
            <a:ext cx="8229600" cy="960120"/>
          </a:xfrm>
          <a:prstGeom prst="rect">
            <a:avLst/>
          </a:prstGeom>
          <a:solidFill>
            <a:srgbClr val="112244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4535424"/>
            <a:ext cx="54864" cy="960120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28" name="Shape 26"/>
          <p:cNvSpPr/>
          <p:nvPr/>
        </p:nvSpPr>
        <p:spPr>
          <a:xfrm>
            <a:off x="594360" y="4626864"/>
            <a:ext cx="1234440" cy="256032"/>
          </a:xfrm>
          <a:prstGeom prst="roundRect">
            <a:avLst>
              <a:gd name="adj" fmla="val 17857"/>
            </a:avLst>
          </a:prstGeom>
          <a:solidFill>
            <a:srgbClr val="1A3560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4626864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A9EFF"/>
                </a:solidFill>
              </a:rPr>
              <a:t>MEDIUM-TERM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920240" y="4608576"/>
            <a:ext cx="6583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Adopt Carbon-Aware Engineering Practices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920240" y="4919472"/>
            <a:ext cx="6583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8D8F0"/>
                </a:solidFill>
              </a:rPr>
              <a:t>Integrate carbon intensity APIs into CI/CD pipelines and shift non-urgent compute to greener time windows.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57200" y="5605272"/>
            <a:ext cx="8229600" cy="960120"/>
          </a:xfrm>
          <a:prstGeom prst="rect">
            <a:avLst/>
          </a:prstGeom>
          <a:solidFill>
            <a:srgbClr val="112244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5605272"/>
            <a:ext cx="54864" cy="96012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34" name="Shape 32"/>
          <p:cNvSpPr/>
          <p:nvPr/>
        </p:nvSpPr>
        <p:spPr>
          <a:xfrm>
            <a:off x="594360" y="5696712"/>
            <a:ext cx="1234440" cy="256032"/>
          </a:xfrm>
          <a:prstGeom prst="roundRect">
            <a:avLst>
              <a:gd name="adj" fmla="val 17857"/>
            </a:avLst>
          </a:prstGeom>
          <a:solidFill>
            <a:srgbClr val="1A356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" y="5696712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D6A0"/>
                </a:solidFill>
              </a:rPr>
              <a:t>ONGOING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920240" y="5678424"/>
            <a:ext cx="6583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Upskill Workforce in AI &amp; Data Literacy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1920240" y="5989320"/>
            <a:ext cx="6583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8D8F0"/>
                </a:solidFill>
              </a:rPr>
              <a:t>Launch company-wide AI fluency training; target 80% of knowledge workers completing foundations curriculum within 12 months.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502920"/>
            <a:ext cx="64008" cy="548640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45720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Key Takeaways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498080" y="502920"/>
            <a:ext cx="2743200" cy="292608"/>
          </a:xfrm>
          <a:prstGeom prst="roundRect">
            <a:avLst>
              <a:gd name="adj" fmla="val 18750"/>
            </a:avLst>
          </a:prstGeom>
          <a:solidFill>
            <a:srgbClr val="1A3560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50292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9EFF"/>
                </a:solidFill>
              </a:rPr>
              <a:t>SLIDE 10 OF 10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3560"/>
                </a:solidFill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97280" y="13441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 is Infrastructure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1655064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8D8F0"/>
                </a:solidFill>
              </a:rPr>
              <a:t>By 2026, AI is no longer a feature — it is the foundation. Treat it with the same rigor as cloud and security.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097280" y="2221992"/>
            <a:ext cx="7315200" cy="18288"/>
          </a:xfrm>
          <a:prstGeom prst="rect">
            <a:avLst/>
          </a:prstGeom>
          <a:solidFill>
            <a:srgbClr val="1A3560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33172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3560"/>
                </a:solidFill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97280" y="23500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Quantum Risk is Real Now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7280" y="2660904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8D8F0"/>
                </a:solidFill>
              </a:rPr>
              <a:t>Harvest-now-decrypt-later attacks demand cryptographic migration today, even before quantum hardware matures.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097280" y="3227832"/>
            <a:ext cx="7315200" cy="18288"/>
          </a:xfrm>
          <a:prstGeom prst="rect">
            <a:avLst/>
          </a:prstGeom>
          <a:solidFill>
            <a:srgbClr val="1A3560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33756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3560"/>
                </a:solidFill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97280" y="33558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Sustainability = Efficiency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" y="3666744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8D8F0"/>
                </a:solidFill>
              </a:rPr>
              <a:t>Green technology reduces operating costs while meeting regulatory and ESG obligations. It is a business win.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097280" y="4233672"/>
            <a:ext cx="7315200" cy="18288"/>
          </a:xfrm>
          <a:prstGeom prst="rect">
            <a:avLst/>
          </a:prstGeom>
          <a:solidFill>
            <a:srgbClr val="1A3560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34340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3560"/>
                </a:solidFill>
              </a:rPr>
              <a:t>04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097280" y="43616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Edge Enables New Markets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" y="4672584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8D8F0"/>
                </a:solidFill>
              </a:rPr>
              <a:t>Sub-millisecond compute unlocks product categories that simply did not exist in a cloud-only architecture.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097280" y="5239512"/>
            <a:ext cx="7315200" cy="18288"/>
          </a:xfrm>
          <a:prstGeom prst="rect">
            <a:avLst/>
          </a:prstGeom>
          <a:solidFill>
            <a:srgbClr val="1A3560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534924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3560"/>
                </a:solidFill>
              </a:rPr>
              <a:t>05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097280" y="5367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Talent is the Bottleneck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97280" y="5678424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8D8F0"/>
                </a:solidFill>
              </a:rPr>
              <a:t>Technology is ready. The limiting factor is human capital — hire, train, and retain aggressively.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0" y="0"/>
            <a:ext cx="3474720" cy="6858000"/>
          </a:xfrm>
          <a:prstGeom prst="rect">
            <a:avLst/>
          </a:prstGeom>
          <a:solidFill>
            <a:srgbClr val="112244"/>
          </a:solidFill>
          <a:ln/>
        </p:spPr>
      </p:sp>
      <p:sp>
        <p:nvSpPr>
          <p:cNvPr id="5" name="Shape 3"/>
          <p:cNvSpPr/>
          <p:nvPr/>
        </p:nvSpPr>
        <p:spPr>
          <a:xfrm>
            <a:off x="5394960" y="0"/>
            <a:ext cx="73152" cy="6858000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64592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Thank You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457200" y="2788920"/>
            <a:ext cx="3200400" cy="45720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97180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8D8F0"/>
                </a:solidFill>
              </a:rPr>
              <a:t>Strategy &amp; Innovation Group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8D8F0"/>
                </a:solidFill>
              </a:rPr>
              <a:t>Global Technology Report · May 2026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9319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9EFF"/>
                </a:solidFill>
              </a:rPr>
              <a:t>Questions &amp; Discussion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52628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7A9CC0"/>
                </a:solidFill>
              </a:rPr>
              <a:t>For follow-up: strategy@company.com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7A9CC0"/>
                </a:solidFill>
              </a:rPr>
              <a:t>Visit our knowledge hub at insights.company.com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0" y="164592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4A9EFF"/>
                </a:solidFill>
              </a:rPr>
              <a:t>◈</a:t>
            </a:r>
            <a:endParaRPr lang="en-US" sz="7200" dirty="0"/>
          </a:p>
        </p:txBody>
      </p:sp>
      <p:sp>
        <p:nvSpPr>
          <p:cNvPr id="12" name="Text 10"/>
          <p:cNvSpPr/>
          <p:nvPr/>
        </p:nvSpPr>
        <p:spPr>
          <a:xfrm>
            <a:off x="5943600" y="320040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D8F0"/>
                </a:solidFill>
              </a:rPr>
              <a:t>Technology Trends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C8D8F0"/>
                </a:solidFill>
              </a:rPr>
              <a:t>2026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0" y="4160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CC0"/>
                </a:solidFill>
              </a:rPr>
              <a:t>Strategy &amp; Innovation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2026-05-17T19:56:50Z</dcterms:created>
  <dcterms:modified xsi:type="dcterms:W3CDTF">2026-05-17T19:56:50Z</dcterms:modified>
</cp:coreProperties>
</file>